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好，我们是第十二组。今天要汇报的题目是『基于机器视觉的农产品品质分级与缺陷检测系统』。我们把它落到一个非常具体的方向上——面向肇庆本地的柑橘，做一个能够给出等级、框出表面缺陷、并提供量化依据的 Web 系统，我们给它取名叫 CitrusVision。接下来由我代表小组，用大约十分钟，把我们的整体方案讲清楚。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正式展开之前，先用一页交代今天的讲解路线。我们会按六步推进：先讲为什么做，包括项目背景和选题论证；再讲做什么，也就是定位、用户、需求和功能；然后是怎么做，涵盖技术、架构、算法、流程和数据库；接着是怎么推进，包括实施计划和团队分工；之后是如何验证，也就是测试和验收；最后落到预期结果，包括创新、风险和交付物。这条主线刻意对齐了软件工程的完整过程，方便老师对照评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出发点是一个真实的痛点。肇庆的四会、德庆是重要的柑橘产区，但目前的品质分级主要还靠人工目检，主观性强、标准不统一、效率也低，表面的裂纹和病斑容易漏检，更谈不上溯源。机器视觉恰好能补上这一块——把分级做得客观、可量化、还可追溯。所以我们把要解决的问题定义得很清楚：让一张照片，在几秒钟内就得到等级、缺陷和量化依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为什么偏偏选柑橘？我们在五个候选品类里做了一次横向比较，从地方特色、缺陷维度、形态分割难度、分级直观性、数据可得性这五个维度逐一打分。柑橘的综合表现最好：它紧扣题目给的第一个示例，又有肇庆的地方特色，缺陷类型清晰、果形规整便于分割、分级标准也直观。相比之下，叶菜形态太复杂、香蕉的缺陷维度偏单一，所以我们最终锁定柑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选题确定之后，再来说定位。我们把系统定位成一个『教学演示加产地初分』的、工程完整的四层 Web 应用——不追求工业级精度，但要求整条工程链路是完整的。围绕这个定位，我们设了几个可量化的目标：单张检测三秒以内返回，缺陷检测的平均精度均值不低于零点六，分级结果与人工的一致率达到八成以上，支持一次至少十张的批量处理，结果能生成带二维码的报告，并且全套 UML 文档齐备。这每一条，都是可以在答辩现场逐项核验的。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些目标最终都要落到具体的人身上。我们的系统服务三类角色：普通用户，也就是分拣员和合作社质检员，他们的主场景是微信扫码、拍照分级；管理员负责维护分级标准、价格和模型；还有答辩现场的评委，属于间接用户。最典型的使用旅程是这样的——质检员扫码进入手机页面，拍照或批量上传，秒级看到等级和缺陷红框，按等级做统计并关联参考价，最后一键导出当批报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基于这些场景，我们做了完整的需求分析。左边是用例图，两类参与者，普通用户和管理员，围绕上传、检测、分级、溯源、导出和后台管理这几个核心用例展开。功能性需求我们一共梳理了十四项并做了分组；非功能性需求也定得很具体，比如单张三秒、批量三十秒以内、至少支持五个并发，再加上可用性和兼容性。同时我们没有忘记课程设计本身的交付要求——UML 文档、代码注释、还有不超过五十兆的演示视频。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功能虽然多，但不能一把抓，所以我们用同心圈做了优先级划分。最内核是必做的 P0，是必须先跑通的闭环：登录、上传、预处理、缺陷检测、分级、可视化、入库和统计。中间一圈 P1 是加分项，比如溯源二维码、价格、报告导出和样本日志。最外圈 P2 是有余力再做的扩展，像模型切换、人工复核、多品类和缺陷热力图。我们的取舍原则很简单——先保闭环，再做加分。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核心业务流程是怎么串起来的。用户登录后上传图片，后端先做校验、存图、建立检测任务，然后调用独立的算法服务做推理；算法服务内部走预处理、果实分割、缺陷检测、特征计算、规则分级这一串，再把结果回写、关联价格和溯源，最后由前端渲染、支持导出。这里有一个关键设计——后端只做编排、不做推理，算法独立成一个服务，这样职责清晰、解耦，也方便我们四个人并行开发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技术栈的每一项，我们都有明确的理由。前端用 Vue3 加 ECharts，出活快、图表好，一套响应式同时覆盖电脑和手机；后端用 FastAPI，和算法同语言便于集成，还自带接口文档；算法服务用 OpenCV 加 YOLOv8，独立部署、用 CPU 也能推理；数据库用 MySQL 8，便于画 E-R 图、表达关系；训练则放在 Colab 或者 AI Studio 的免费 GPU 上，正好规避了我们本地没有 GPU 的现实问题。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把这些技术组织起来，就是这张四层架构图。从上到下分别是前端层、后端 API 层、算法服务层和数据层：前端覆盖电脑端和微信手机页；后端用 FastAPI 做登录鉴权和业务编排；算法层是独立进程，对外只暴露一个推理接口；数据层包含数据库、文件存储和模型权重。各层之间用 HTTP 和 JSON 通信。这样分层的依据是职责单一、四个人能够并行，而且每一层都能对应到我们的包图。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算法是这个项目的难点，我们的方案是双引擎、可解释、可兜底。一条引擎是传统计算机视觉，负责量化分级；另一条是 YOLOv8，负责缺陷检测，两者融合。整个管线分五步：预处理、果实分割、缺陷检测、特征计算、规则分级。我们会算出三个量化指标——果径、着色率、缺陷占比，再用规则评定一级、二级还是等外品。万一深度学习模型表现不稳定，传统视觉可以兜底，保证系统始终是可用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算法和业务产生的数据，落到数据库就是这张 E-R 图。我们用 MySQL 8 设计了十张核心表，主线是『一次检测任务对应多条结果，每条结果又对应多个缺陷框』。围绕这条主线，用户、样本、任务、结果、缺陷是核心实体；而分级标准、价格、溯源、模型、日志，都拆成了独立可维护的表。这样的好处是，管理员能在线调整阈值而不用动代码。所有表的主键统一用 BIGINT，并且都带创建和更新时间。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有了方案，再看我们怎么按软件工程的节奏推进。我们按四周来规划，每一周对应一个阶段，阶段的产出就是里程碑：第一周立项与需求，产出 M1；第二周设计与原型，产出 M2；第三周编码实现，跑通 MVP 闭环，是 M3；第四周联调、测试、交付和答辩排练，是 M4。这里我要特别强调关键路径——数据采集、模型训练、系统联调这条链最长，所以数据采集我们第一周就并行启动，绝不会等到训练前才去找数据。如果实际课程周数不同，我们准备了三周的压缩版，但 UML 文档不会删减。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好的计划要靠合理的分工来落地。我是组长陈绍杰，负责总体架构、后端、数据库和集成联调，同时统稿报告、组织答辩；黄权达是算法负责人，主攻 YOLOv8 的训练调优和部署；张嘉豪是算法副手兼数据工程，负责数据集构建、传统视觉分级和需求分析；黄浩然负责前端、测试和文档。我们的考量是——算法是难点，所以配了双人攻坚；后端是集成枢纽，由我来把控；前端、测试、文档由一个人贯通，保证演示和交付。协作上我们接口契约先行，用 Git 分支并行开发，再由我合并，文档分阶段统稿。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质量怎么保证？我们设计了五层测试：功能测试用用例表，接口测试用 Postman 加 pytest 自动验证，算法评估用 mAP 和混淆矩阵，系统联调做端到端和并发，再加上多浏览器和手机的兼容测试。我们还准备了一批典型用例，比如上传非图片要被拒绝、裂纹果要判等外品并框出、批量十张要全部返回且统计正确、未登录调接口要返回四零一。在这个基础上，我们给系统下了明确的『完成定义』：基础要求是 MVP 闭环没有致命 bug，算法要求 mAP 不低于零点六、一致率八成以上，加分功能可演示、文档齐全、按时按规范提交。每一条都能逐项核验。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说我们的差异化亮点和风险预案。创新上主推三点：第一，双引擎可解释分级，分级是有量化依据的、不是黑盒；第二，分级标准可配置、模板化，内置了砂糖橘和贡柑的模板，管理员能在线调阈值；第三，溯源二维码和参考价格联动，结果能一键生成可扫码的溯源报告。第四点多品类扩展，作为有余力时的扩展项。风险方面我们也想在前面：数据不足，就用公开数据集打底、Roboflow 加速标注；模型不稳，就用传统视觉兜底；没有 GPU，就上免费云 GPU 和轻量模型；现场出故障，就用预录视频做双保险。我们把每一个风险都提前降到了中低等级。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最后做个收束。我们的交付物包括含任务书的课程设计报告、不超过五十兆的演示视频、带注释的源码包、源代码文档、数据库脚本和测试材料。文档上，用例图、数据流图、数据字典、软件结构图、E-R 图、类图、时序图、活动图、状态图，九类 UML 齐备；系统上，是一个可运行的四层 Web 应用，完成从上传到分级、缺陷、溯源、报表的完整闭环。我们这一组的打法很明确：把分析和设计这四十八分的完整性吃满，算法做到能演示、有兜底。以规范的软件工程过程，交出一个完整、可演示、可追溯的柑橘品质分级系统。谢谢各位老师和同学的聆听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E7C66">
                    <a:alpha val="10000"/>
                  </a:srgbClr>
                </a:gs>
                <a:gs pos="100000">
                  <a:srgbClr val="0E7C6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gradFill>
              <a:gsLst>
                <a:gs pos="0">
                  <a:srgbClr val="0E7C66"/>
                </a:gs>
                <a:gs pos="100000">
                  <a:srgbClr val="0A5A4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143750" y="1162050"/>
              <a:ext cx="4762500" cy="4762500"/>
            </a:xfrm>
            <a:prstGeom prst="ellipse">
              <a:avLst/>
            </a:prstGeom>
            <a:solidFill>
              <a:srgbClr val="F4F7F6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7505700" y="1822450"/>
            <a:ext cx="4000517" cy="3530600"/>
            <a:chOff x="7505700" y="1822450"/>
            <a:chExt cx="4000517" cy="3530600"/>
          </a:xfrm>
        </p:grpSpPr>
        <p:sp>
          <p:nvSpPr>
            <p:cNvPr id="7" name="Ellipse 7"/>
            <p:cNvSpPr/>
            <p:nvPr/>
          </p:nvSpPr>
          <p:spPr>
            <a:xfrm>
              <a:off x="8096250" y="4933950"/>
              <a:ext cx="2857500" cy="419100"/>
            </a:xfrm>
            <a:prstGeom prst="ellipse">
              <a:avLst/>
            </a:prstGeom>
            <a:solidFill>
              <a:srgbClr val="0F172A">
                <a:alpha val="8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191500" y="2209800"/>
              <a:ext cx="2667000" cy="2667000"/>
            </a:xfrm>
            <a:prstGeom prst="ellipse">
              <a:avLst/>
            </a:prstGeom>
            <a:gradFill>
              <a:gsLst>
                <a:gs pos="0">
                  <a:srgbClr val="F9B257"/>
                </a:gs>
                <a:gs pos="55000">
                  <a:srgbClr val="F2811D"/>
                </a:gs>
                <a:gs pos="100000">
                  <a:srgbClr val="D9670E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686800" y="2781300"/>
              <a:ext cx="876300" cy="647700"/>
            </a:xfrm>
            <a:prstGeom prst="ellipse">
              <a:avLst/>
            </a:prstGeom>
            <a:solidFill>
              <a:srgbClr val="FFFFFF">
                <a:alpha val="28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915525" y="3190875"/>
              <a:ext cx="57150" cy="57150"/>
            </a:xfrm>
            <a:prstGeom prst="ellipse">
              <a:avLst/>
            </a:prstGeom>
            <a:solidFill>
              <a:srgbClr val="C25A0A">
                <a:alpha val="5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125075" y="3705225"/>
              <a:ext cx="57150" cy="57150"/>
            </a:xfrm>
            <a:prstGeom prst="ellipse">
              <a:avLst/>
            </a:prstGeom>
            <a:solidFill>
              <a:srgbClr val="C25A0A">
                <a:alpha val="5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286875" y="4067175"/>
              <a:ext cx="57150" cy="57150"/>
            </a:xfrm>
            <a:prstGeom prst="ellipse">
              <a:avLst/>
            </a:prstGeom>
            <a:solidFill>
              <a:srgbClr val="C25A0A">
                <a:alpha val="50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667875" y="2828925"/>
              <a:ext cx="57150" cy="57150"/>
            </a:xfrm>
            <a:prstGeom prst="ellipse">
              <a:avLst/>
            </a:prstGeom>
            <a:solidFill>
              <a:srgbClr val="C25A0A">
                <a:alpha val="50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877425" y="3838575"/>
              <a:ext cx="285750" cy="285750"/>
            </a:xfrm>
            <a:prstGeom prst="ellipse">
              <a:avLst/>
            </a:prstGeom>
            <a:solidFill>
              <a:srgbClr val="7A3B1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877425" y="3838575"/>
              <a:ext cx="285750" cy="285750"/>
            </a:xfrm>
            <a:prstGeom prst="ellipse">
              <a:avLst/>
            </a:prstGeom>
            <a:solidFill>
              <a:srgbClr val="3B1D08">
                <a:alpha val="45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525000" y="1822450"/>
              <a:ext cx="914400" cy="819150"/>
            </a:xfrm>
            <a:custGeom>
              <a:avLst/>
              <a:gdLst/>
              <a:ahLst/>
              <a:cxnLst/>
              <a:rect l="l" t="t" r="r" b="b"/>
              <a:pathLst>
                <a:path w="914400" h="819150">
                  <a:moveTo>
                    <a:pt x="0" y="387350"/>
                  </a:moveTo>
                  <a:cubicBezTo>
                    <a:pt x="254000" y="107950"/>
                    <a:pt x="546100" y="0"/>
                    <a:pt x="876300" y="63500"/>
                  </a:cubicBezTo>
                  <a:cubicBezTo>
                    <a:pt x="914400" y="381000"/>
                    <a:pt x="793750" y="603250"/>
                    <a:pt x="514350" y="730250"/>
                  </a:cubicBezTo>
                  <a:cubicBezTo>
                    <a:pt x="298450" y="819150"/>
                    <a:pt x="127000" y="800100"/>
                    <a:pt x="0" y="673100"/>
                  </a:cubicBezTo>
                  <a:close/>
                </a:path>
              </a:pathLst>
            </a:custGeom>
            <a:gradFill>
              <a:gsLst>
                <a:gs pos="0">
                  <a:srgbClr val="2E9E5B"/>
                </a:gs>
                <a:gs pos="100000">
                  <a:srgbClr val="0E7C66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525000" y="2000250"/>
              <a:ext cx="381000" cy="209550"/>
            </a:xfrm>
            <a:custGeom>
              <a:avLst/>
              <a:gdLst/>
              <a:ahLst/>
              <a:cxnLst/>
              <a:rect l="l" t="t" r="r" b="b"/>
              <a:pathLst>
                <a:path w="381000" h="209550">
                  <a:moveTo>
                    <a:pt x="0" y="209550"/>
                  </a:moveTo>
                  <a:cubicBezTo>
                    <a:pt x="114300" y="146050"/>
                    <a:pt x="241300" y="76200"/>
                    <a:pt x="381000" y="0"/>
                  </a:cubicBezTo>
                </a:path>
              </a:pathLst>
            </a:custGeom>
            <a:noFill/>
            <a:ln w="19050" cap="rnd">
              <a:solidFill>
                <a:srgbClr val="0A5A49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467850" y="2152650"/>
              <a:ext cx="114300" cy="247650"/>
            </a:xfrm>
            <a:prstGeom prst="roundRect">
              <a:avLst>
                <a:gd name="adj" fmla="val 41667"/>
              </a:avLst>
            </a:prstGeom>
            <a:solidFill>
              <a:srgbClr val="8A5A2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058150" y="2190750"/>
              <a:ext cx="2933700" cy="2705100"/>
              <a:chOff x="8058150" y="2190750"/>
              <a:chExt cx="2933700" cy="27051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058150" y="219075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0" y="247650"/>
                    </a:moveTo>
                    <a:lnTo>
                      <a:pt x="0" y="0"/>
                    </a:lnTo>
                    <a:lnTo>
                      <a:pt x="247650" y="0"/>
                    </a:lnTo>
                  </a:path>
                </a:pathLst>
              </a:custGeom>
              <a:noFill/>
              <a:ln w="28575" cap="rnd">
                <a:solidFill>
                  <a:srgbClr val="0E7C6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744200" y="219075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247650" y="247650"/>
                    </a:moveTo>
                    <a:lnTo>
                      <a:pt x="247650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E7C66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58150" y="464820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0" y="0"/>
                    </a:moveTo>
                    <a:lnTo>
                      <a:pt x="0" y="247650"/>
                    </a:lnTo>
                    <a:lnTo>
                      <a:pt x="247650" y="247650"/>
                    </a:lnTo>
                  </a:path>
                </a:pathLst>
              </a:custGeom>
              <a:noFill/>
              <a:ln w="28575" cap="rnd">
                <a:solidFill>
                  <a:srgbClr val="0E7C6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744200" y="464820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247650" y="0"/>
                    </a:moveTo>
                    <a:lnTo>
                      <a:pt x="247650" y="247650"/>
                    </a:lnTo>
                    <a:lnTo>
                      <a:pt x="0" y="247650"/>
                    </a:lnTo>
                  </a:path>
                </a:pathLst>
              </a:custGeom>
              <a:noFill/>
              <a:ln w="28575" cap="rnd">
                <a:solidFill>
                  <a:srgbClr val="0E7C66"/>
                </a:solidFill>
              </a:ln>
            </p:spPr>
          </p:sp>
        </p:grpSp>
        <p:sp>
          <p:nvSpPr>
            <p:cNvPr id="24" name="Line 24"/>
            <p:cNvSpPr/>
            <p:nvPr/>
          </p:nvSpPr>
          <p:spPr>
            <a:xfrm>
              <a:off x="8172450" y="3543300"/>
              <a:ext cx="2705100" cy="9525"/>
            </a:xfrm>
            <a:custGeom>
              <a:avLst/>
              <a:gdLst/>
              <a:ahLst/>
              <a:cxnLst/>
              <a:rect l="l" t="t" r="r" b="b"/>
              <a:pathLst>
                <a:path w="2705100" h="9525">
                  <a:moveTo>
                    <a:pt x="0" y="0"/>
                  </a:moveTo>
                  <a:lnTo>
                    <a:pt x="2705100" y="0"/>
                  </a:lnTo>
                </a:path>
              </a:pathLst>
            </a:custGeom>
            <a:noFill/>
            <a:ln w="19050">
              <a:solidFill>
                <a:srgbClr val="0E7C66">
                  <a:alpha val="70000"/>
                </a:srgbClr>
              </a:solidFill>
              <a:custDash>
                <a:ds d="100000" sp="300000"/>
              </a:custDash>
            </a:ln>
          </p:spPr>
        </p:sp>
        <p:sp>
          <p:nvSpPr>
            <p:cNvPr id="25" name="Rectangle 25"/>
            <p:cNvSpPr/>
            <p:nvPr/>
          </p:nvSpPr>
          <p:spPr>
            <a:xfrm>
              <a:off x="9772650" y="3733800"/>
              <a:ext cx="495300" cy="495300"/>
            </a:xfrm>
            <a:prstGeom prst="roundRect">
              <a:avLst>
                <a:gd name="adj" fmla="val 7692"/>
              </a:avLst>
            </a:prstGeom>
            <a:noFill/>
            <a:ln w="23812">
              <a:solidFill>
                <a:srgbClr val="E0544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772650" y="3581400"/>
              <a:ext cx="876300" cy="171450"/>
            </a:xfrm>
            <a:prstGeom prst="roundRect">
              <a:avLst>
                <a:gd name="adj" fmla="val 16667"/>
              </a:avLst>
            </a:prstGeom>
            <a:solidFill>
              <a:srgbClr val="E0544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19322" y="3616166"/>
              <a:ext cx="5407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病斑 0.92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505700" y="2667000"/>
              <a:ext cx="1428750" cy="476250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9000"/>
                </a:srgbClr>
              </a:outerShdw>
            </a:effectLst>
          </p:spPr>
        </p:sp>
        <p:grpSp>
          <p:nvGrpSpPr>
            <p:cNvPr id="33" name="Group 33"/>
            <p:cNvGrpSpPr/>
            <p:nvPr/>
          </p:nvGrpSpPr>
          <p:grpSpPr>
            <a:xfrm>
              <a:off x="7667625" y="2819400"/>
              <a:ext cx="171450" cy="171933"/>
              <a:chOff x="7667625" y="2819400"/>
              <a:chExt cx="171450" cy="17193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667625" y="2819400"/>
                <a:ext cx="171450" cy="171933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933">
                    <a:moveTo>
                      <a:pt x="85725" y="171450"/>
                    </a:move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64" y="0"/>
                      <a:pt x="171450" y="34119"/>
                      <a:pt x="171450" y="76200"/>
                    </a:cubicBezTo>
                    <a:cubicBezTo>
                      <a:pt x="171450" y="86297"/>
                      <a:pt x="166935" y="95993"/>
                      <a:pt x="158896" y="103137"/>
                    </a:cubicBezTo>
                    <a:cubicBezTo>
                      <a:pt x="150857" y="110280"/>
                      <a:pt x="139951" y="114300"/>
                      <a:pt x="128588" y="114300"/>
                    </a:cubicBezTo>
                    <a:lnTo>
                      <a:pt x="104775" y="114300"/>
                    </a:lnTo>
                    <a:cubicBezTo>
                      <a:pt x="96031" y="114159"/>
                      <a:pt x="88315" y="119989"/>
                      <a:pt x="86061" y="128439"/>
                    </a:cubicBezTo>
                    <a:cubicBezTo>
                      <a:pt x="83808" y="136889"/>
                      <a:pt x="87597" y="145787"/>
                      <a:pt x="95250" y="150019"/>
                    </a:cubicBezTo>
                    <a:cubicBezTo>
                      <a:pt x="99149" y="153617"/>
                      <a:pt x="100323" y="159299"/>
                      <a:pt x="98168" y="164148"/>
                    </a:cubicBezTo>
                    <a:cubicBezTo>
                      <a:pt x="96013" y="168997"/>
                      <a:pt x="91009" y="171933"/>
                      <a:pt x="85725" y="1714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10488" y="2881312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48588" y="2852738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86688" y="2881312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932420" y="2769870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着色率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26705" y="2921318"/>
              <a:ext cx="346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92%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077450" y="4476750"/>
              <a:ext cx="1314450" cy="495300"/>
            </a:xfrm>
            <a:prstGeom prst="roundRect">
              <a:avLst>
                <a:gd name="adj" fmla="val 23077"/>
              </a:avLst>
            </a:prstGeom>
            <a:solidFill>
              <a:srgbClr val="0E7C66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9000"/>
                </a:srgbClr>
              </a:outerShdw>
            </a:effectLst>
          </p:spPr>
        </p:sp>
        <p:grpSp>
          <p:nvGrpSpPr>
            <p:cNvPr id="39" name="Group 39"/>
            <p:cNvGrpSpPr/>
            <p:nvPr/>
          </p:nvGrpSpPr>
          <p:grpSpPr>
            <a:xfrm>
              <a:off x="10239375" y="4638675"/>
              <a:ext cx="171450" cy="171450"/>
              <a:chOff x="10239375" y="4638675"/>
              <a:chExt cx="171450" cy="1714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239375" y="46386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296525" y="47053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505122" y="45972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FE6D9"/>
                  </a:solidFill>
                  <a:latin typeface="Arial"/>
                  <a:ea typeface="Microsoft YaHei"/>
                  <a:cs typeface="Arial"/>
                </a:rPr>
                <a:t>评定等级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98455" y="4740592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一级 · 精品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91515" y="1123950"/>
            <a:ext cx="6340650" cy="2883694"/>
            <a:chOff x="691515" y="1123950"/>
            <a:chExt cx="6340650" cy="2883694"/>
          </a:xfrm>
        </p:grpSpPr>
        <p:sp>
          <p:nvSpPr>
            <p:cNvPr id="43" name="Rectangle 43"/>
            <p:cNvSpPr/>
            <p:nvPr/>
          </p:nvSpPr>
          <p:spPr>
            <a:xfrm>
              <a:off x="762000" y="1123950"/>
              <a:ext cx="3409950" cy="38100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949203" y="1244600"/>
              <a:ext cx="139822" cy="148431"/>
              <a:chOff x="949203" y="1244600"/>
              <a:chExt cx="139822" cy="14843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58056" y="1305719"/>
                <a:ext cx="61119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87312">
                    <a:moveTo>
                      <a:pt x="0" y="87312"/>
                    </a:moveTo>
                    <a:cubicBezTo>
                      <a:pt x="4366" y="48022"/>
                      <a:pt x="21828" y="17462"/>
                      <a:pt x="61119" y="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49203" y="1244600"/>
                <a:ext cx="139822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9822" h="122238">
                    <a:moveTo>
                      <a:pt x="43778" y="122238"/>
                    </a:moveTo>
                    <a:cubicBezTo>
                      <a:pt x="98069" y="122238"/>
                      <a:pt x="135457" y="93529"/>
                      <a:pt x="139822" y="17463"/>
                    </a:cubicBezTo>
                    <a:lnTo>
                      <a:pt x="139822" y="0"/>
                    </a:lnTo>
                    <a:lnTo>
                      <a:pt x="104775" y="0"/>
                    </a:lnTo>
                    <a:cubicBezTo>
                      <a:pt x="26194" y="0"/>
                      <a:pt x="122" y="34925"/>
                      <a:pt x="0" y="78581"/>
                    </a:cubicBezTo>
                    <a:cubicBezTo>
                      <a:pt x="0" y="87313"/>
                      <a:pt x="0" y="104775"/>
                      <a:pt x="17462" y="122238"/>
                    </a:cubicBezTo>
                    <a:lnTo>
                      <a:pt x="43656" y="122238"/>
                    </a:lnTo>
                    <a:lnTo>
                      <a:pt x="43778" y="122238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184910" y="1242060"/>
              <a:ext cx="31052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软件工程课程设计 · 题目10 项目方案汇报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1515" y="1925002"/>
              <a:ext cx="5773579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基于机器视觉的农产品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1515" y="2572702"/>
              <a:ext cx="634065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品质</a:t>
              </a:r>
              <a:r>
                <a:rPr lang="zh-CN" sz="4050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分级</a:t>
              </a:r>
              <a:r>
                <a:rPr lang="zh-CN" sz="40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与</a:t>
              </a:r>
              <a:r>
                <a:rPr lang="zh-CN" sz="4050" b="1" dirty="0">
                  <a:solidFill>
                    <a:srgbClr val="E0544A"/>
                  </a:solidFill>
                  <a:latin typeface="Arial"/>
                  <a:ea typeface="Microsoft YaHei"/>
                  <a:cs typeface="Arial"/>
                </a:rPr>
                <a:t>缺陷检测</a:t>
              </a:r>
              <a:r>
                <a:rPr lang="zh-CN" sz="40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系统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62000" y="3390900"/>
              <a:ext cx="57150" cy="533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66"/>
                </a:gs>
                <a:gs pos="100000">
                  <a:srgbClr val="0A5A4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8690" y="3444240"/>
              <a:ext cx="15201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CitrusVision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5358" y="3748564"/>
              <a:ext cx="38493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面向肇庆本地柑橘的品质分级与缺陷检测 Web 系统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47712" y="4457700"/>
            <a:ext cx="5348288" cy="1345406"/>
            <a:chOff x="747712" y="4457700"/>
            <a:chExt cx="5348288" cy="1345406"/>
          </a:xfrm>
        </p:grpSpPr>
        <p:sp>
          <p:nvSpPr>
            <p:cNvPr id="54" name="Line 54"/>
            <p:cNvSpPr/>
            <p:nvPr/>
          </p:nvSpPr>
          <p:spPr>
            <a:xfrm>
              <a:off x="762000" y="44577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E2E8E9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88194" y="4788694"/>
              <a:ext cx="157163" cy="157163"/>
              <a:chOff x="788194" y="4788694"/>
              <a:chExt cx="157163" cy="15716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05656" y="4788694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88194" y="4893469"/>
                <a:ext cx="10477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52388">
                    <a:moveTo>
                      <a:pt x="0" y="52388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69850" y="0"/>
                    </a:lnTo>
                    <a:cubicBezTo>
                      <a:pt x="89139" y="0"/>
                      <a:pt x="104775" y="15636"/>
                      <a:pt x="104775" y="34925"/>
                    </a:cubicBezTo>
                    <a:lnTo>
                      <a:pt x="104775" y="52388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01700" y="4789829"/>
                <a:ext cx="26262" cy="67667"/>
              </a:xfrm>
              <a:custGeom>
                <a:avLst/>
                <a:gdLst/>
                <a:ahLst/>
                <a:cxnLst/>
                <a:rect l="l" t="t" r="r" b="b"/>
                <a:pathLst>
                  <a:path w="26262" h="67667">
                    <a:moveTo>
                      <a:pt x="0" y="0"/>
                    </a:moveTo>
                    <a:cubicBezTo>
                      <a:pt x="15454" y="3957"/>
                      <a:pt x="26262" y="17882"/>
                      <a:pt x="26262" y="33834"/>
                    </a:cubicBezTo>
                    <a:cubicBezTo>
                      <a:pt x="26262" y="49786"/>
                      <a:pt x="15454" y="63710"/>
                      <a:pt x="0" y="67667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19163" y="4894778"/>
                <a:ext cx="26194" cy="51078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51078">
                    <a:moveTo>
                      <a:pt x="26194" y="51078"/>
                    </a:moveTo>
                    <a:lnTo>
                      <a:pt x="26194" y="33615"/>
                    </a:lnTo>
                    <a:cubicBezTo>
                      <a:pt x="26103" y="17764"/>
                      <a:pt x="15348" y="396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32510" y="4794885"/>
              <a:ext cx="19347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第 12 组 · 23 本科计科 1 班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7712" y="5174456"/>
              <a:ext cx="33514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组员：</a:t>
              </a:r>
              <a:r>
                <a:rPr lang="zh-CN" sz="112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陈绍杰</a:t>
              </a:r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（组长）· 黄权达 · 张嘉豪 · 黄浩然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793750" y="5567362"/>
              <a:ext cx="127000" cy="142876"/>
              <a:chOff x="793750" y="5567362"/>
              <a:chExt cx="127000" cy="14287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93750" y="5583238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11125" y="0"/>
                    </a:lnTo>
                    <a:cubicBezTo>
                      <a:pt x="119893" y="0"/>
                      <a:pt x="127000" y="7107"/>
                      <a:pt x="127000" y="15875"/>
                    </a:cubicBezTo>
                    <a:lnTo>
                      <a:pt x="127000" y="111125"/>
                    </a:lnTo>
                    <a:cubicBezTo>
                      <a:pt x="127000" y="119893"/>
                      <a:pt x="119893" y="127000"/>
                      <a:pt x="11112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89000" y="5567362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25500" y="5567362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93750" y="5630862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5500" y="5662612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>
                    <a:moveTo>
                      <a:pt x="0" y="0"/>
                    </a:moveTo>
                    <a:lnTo>
                      <a:pt x="15875" y="0"/>
                    </a:lnTo>
                    <a:lnTo>
                      <a:pt x="15875" y="15875"/>
                    </a:lnTo>
                    <a:lnTo>
                      <a:pt x="0" y="158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14412" y="5574506"/>
              <a:ext cx="23163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汇报日期 2026-06 · 指导教师 ×××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50570" y="6456045"/>
            <a:ext cx="10690860" cy="182880"/>
            <a:chOff x="750570" y="6456045"/>
            <a:chExt cx="10690860" cy="182880"/>
          </a:xfrm>
        </p:grpSpPr>
        <p:sp>
          <p:nvSpPr>
            <p:cNvPr id="70" name="TextBox 70"/>
            <p:cNvSpPr txBox="1"/>
            <p:nvPr/>
          </p:nvSpPr>
          <p:spPr>
            <a:xfrm>
              <a:off x="750570" y="6456045"/>
              <a:ext cx="27832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《软件工程课程设计》项目方案汇报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076527" y="64560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01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3" grpId="0"/>
      <p:bldP spid="6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495300"/>
            <a:ext cx="10858500" cy="792956"/>
            <a:chOff x="571500" y="495300"/>
            <a:chExt cx="10858500" cy="792956"/>
          </a:xfrm>
        </p:grpSpPr>
        <p:sp>
          <p:nvSpPr>
            <p:cNvPr id="3" name="Rectangle 3"/>
            <p:cNvSpPr/>
            <p:nvPr/>
          </p:nvSpPr>
          <p:spPr>
            <a:xfrm>
              <a:off x="571500" y="49530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584835"/>
              <a:ext cx="466185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汇报路线图 · 六步讲清方案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1059656"/>
              <a:ext cx="58418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为什么做 → 做什么 → 怎么做 → 怎么推进 → 如何验证 → 预期结果，形成完整工程论证闭环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906000" y="552450"/>
              <a:ext cx="1524000" cy="533400"/>
            </a:xfrm>
            <a:prstGeom prst="roundRect">
              <a:avLst>
                <a:gd name="adj" fmla="val 25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90678" y="627698"/>
              <a:ext cx="55464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18</a:t>
              </a:r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9643" y="920591"/>
              <a:ext cx="69671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约 10–12 分钟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1143000" y="1857375"/>
            <a:ext cx="9525" cy="3714750"/>
          </a:xfrm>
          <a:custGeom>
            <a:avLst/>
            <a:gdLst/>
            <a:ahLst/>
            <a:cxnLst/>
            <a:rect l="l" t="t" r="r" b="b"/>
            <a:pathLst>
              <a:path w="9525" h="3714750">
                <a:moveTo>
                  <a:pt x="0" y="0"/>
                </a:moveTo>
                <a:lnTo>
                  <a:pt x="0" y="3714750"/>
                </a:lnTo>
              </a:path>
            </a:pathLst>
          </a:custGeom>
          <a:noFill/>
          <a:ln w="28575" cap="rnd">
            <a:gradFill>
              <a:gsLst>
                <a:gs pos="0">
                  <a:srgbClr val="0E7C66"/>
                </a:gs>
                <a:gs pos="100000">
                  <a:srgbClr val="F2811D"/>
                </a:gs>
              </a:gsLst>
              <a:lin ang="5400000" scaled="1"/>
            </a:gradFill>
          </a:ln>
        </p:spPr>
      </p:sp>
      <p:grpSp>
        <p:nvGrpSpPr>
          <p:cNvPr id="21" name="Group 21"/>
          <p:cNvGrpSpPr/>
          <p:nvPr/>
        </p:nvGrpSpPr>
        <p:grpSpPr>
          <a:xfrm>
            <a:off x="914400" y="1628775"/>
            <a:ext cx="10325100" cy="528637"/>
            <a:chOff x="914400" y="1628775"/>
            <a:chExt cx="10325100" cy="528637"/>
          </a:xfrm>
        </p:grpSpPr>
        <p:sp>
          <p:nvSpPr>
            <p:cNvPr id="11" name="Ellipse 11"/>
            <p:cNvSpPr/>
            <p:nvPr/>
          </p:nvSpPr>
          <p:spPr>
            <a:xfrm>
              <a:off x="914400" y="162877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E7C6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1767" y="1802606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628775" y="1771650"/>
              <a:ext cx="171450" cy="171450"/>
              <a:chOff x="1628775" y="1771650"/>
              <a:chExt cx="171450" cy="1714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628775" y="19050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762125" y="17716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647825" y="1790700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57150" y="133350"/>
                    </a:moveTo>
                    <a:lnTo>
                      <a:pt x="109538" y="133350"/>
                    </a:lnTo>
                    <a:cubicBezTo>
                      <a:pt x="127949" y="133350"/>
                      <a:pt x="142875" y="118424"/>
                      <a:pt x="142875" y="100012"/>
                    </a:cubicBezTo>
                    <a:cubicBezTo>
                      <a:pt x="142875" y="81601"/>
                      <a:pt x="127949" y="66675"/>
                      <a:pt x="109538" y="66675"/>
                    </a:cubicBezTo>
                    <a:lnTo>
                      <a:pt x="33338" y="66675"/>
                    </a:ln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904048" y="1639729"/>
              <a:ext cx="31604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为什么做 · 产业痛点与选题论证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0715" y="1944052"/>
              <a:ext cx="35411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肇庆柑橘产业人工目检痛点，五维度论证"为什么是柑橘"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810750" y="169545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08992" y="1799749"/>
              <a:ext cx="6322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P03 – P04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4400" y="2371725"/>
            <a:ext cx="10325100" cy="528637"/>
            <a:chOff x="914400" y="2371725"/>
            <a:chExt cx="10325100" cy="528637"/>
          </a:xfrm>
        </p:grpSpPr>
        <p:sp>
          <p:nvSpPr>
            <p:cNvPr id="22" name="Ellipse 22"/>
            <p:cNvSpPr/>
            <p:nvPr/>
          </p:nvSpPr>
          <p:spPr>
            <a:xfrm>
              <a:off x="914400" y="23717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E7C6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2077" y="25455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628775" y="2514600"/>
              <a:ext cx="171450" cy="171450"/>
              <a:chOff x="1628775" y="2514600"/>
              <a:chExt cx="171450" cy="1714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704975" y="259080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666875" y="25527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628775" y="25146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904048" y="2382679"/>
              <a:ext cx="417489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做什么 · 定位 / 目标 / 用户 / 需求 / 功能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10715" y="2687002"/>
              <a:ext cx="3807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系统定位与可量化目标、目标用户、需求分析与功能模块设计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810750" y="243840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08992" y="2542699"/>
              <a:ext cx="6322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P05 – P08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14400" y="3114675"/>
            <a:ext cx="10325100" cy="528637"/>
            <a:chOff x="914400" y="3114675"/>
            <a:chExt cx="10325100" cy="528637"/>
          </a:xfrm>
        </p:grpSpPr>
        <p:sp>
          <p:nvSpPr>
            <p:cNvPr id="33" name="Ellipse 33"/>
            <p:cNvSpPr/>
            <p:nvPr/>
          </p:nvSpPr>
          <p:spPr>
            <a:xfrm>
              <a:off x="914400" y="311467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E7C6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2077" y="32885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1628775" y="3257550"/>
              <a:ext cx="171450" cy="171450"/>
              <a:chOff x="1628775" y="3257550"/>
              <a:chExt cx="171450" cy="1714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647825" y="32766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lnTo>
                      <a:pt x="133350" y="123825"/>
                    </a:lnTo>
                    <a:cubicBezTo>
                      <a:pt x="133350" y="129086"/>
                      <a:pt x="129086" y="133350"/>
                      <a:pt x="1238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685925" y="33147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628775" y="332422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628775" y="336232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695450" y="32575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733550" y="32575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781175" y="332422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781175" y="336232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733550" y="34099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695450" y="34099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904048" y="3125629"/>
              <a:ext cx="439542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怎么做 · 技术 / 架构 / 算法 / 流程 / 数据库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910715" y="3429952"/>
              <a:ext cx="3807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技术栈选型、四层架构、双引擎算法、业务流程与数据库设计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810750" y="318135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226057" y="3285649"/>
              <a:ext cx="5981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P09 – P13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14400" y="3857625"/>
            <a:ext cx="10325100" cy="528637"/>
            <a:chOff x="914400" y="3857625"/>
            <a:chExt cx="10325100" cy="528637"/>
          </a:xfrm>
        </p:grpSpPr>
        <p:sp>
          <p:nvSpPr>
            <p:cNvPr id="51" name="Ellipse 51"/>
            <p:cNvSpPr/>
            <p:nvPr/>
          </p:nvSpPr>
          <p:spPr>
            <a:xfrm>
              <a:off x="914400" y="38576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E7C6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42077" y="40314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1638300" y="4000500"/>
              <a:ext cx="152400" cy="171450"/>
              <a:chOff x="1638300" y="4000500"/>
              <a:chExt cx="152400" cy="17145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638300" y="40195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133350"/>
                    </a:lnTo>
                    <a:cubicBezTo>
                      <a:pt x="152400" y="143871"/>
                      <a:pt x="143871" y="152400"/>
                      <a:pt x="13335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752600" y="40005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676400" y="40005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638300" y="40767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676400" y="411480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0"/>
                    </a:moveTo>
                    <a:lnTo>
                      <a:pt x="19050" y="0"/>
                    </a:lnTo>
                    <a:lnTo>
                      <a:pt x="19050" y="19050"/>
                    </a:lnTo>
                    <a:lnTo>
                      <a:pt x="0" y="190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904048" y="3868579"/>
              <a:ext cx="31604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怎么推进 · 实施计划与团队分工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910715" y="4172902"/>
              <a:ext cx="34851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4 周里程碑计划、关键路径，4 人可追溯分工与协作机制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810750" y="392430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243121" y="4028599"/>
              <a:ext cx="5640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P14 – P15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14400" y="4600575"/>
            <a:ext cx="10325100" cy="528637"/>
            <a:chOff x="914400" y="4600575"/>
            <a:chExt cx="10325100" cy="528637"/>
          </a:xfrm>
        </p:grpSpPr>
        <p:sp>
          <p:nvSpPr>
            <p:cNvPr id="64" name="Ellipse 64"/>
            <p:cNvSpPr/>
            <p:nvPr/>
          </p:nvSpPr>
          <p:spPr>
            <a:xfrm>
              <a:off x="914400" y="460057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E7C6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42077" y="47744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647825" y="4743450"/>
              <a:ext cx="133350" cy="171450"/>
              <a:chOff x="1647825" y="4743450"/>
              <a:chExt cx="133350" cy="17145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647825" y="47625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3810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33350"/>
                    </a:lnTo>
                    <a:cubicBezTo>
                      <a:pt x="0" y="143871"/>
                      <a:pt x="8529" y="152400"/>
                      <a:pt x="19050" y="152400"/>
                    </a:cubicBezTo>
                    <a:lnTo>
                      <a:pt x="114300" y="152400"/>
                    </a:lnTo>
                    <a:cubicBezTo>
                      <a:pt x="124821" y="152400"/>
                      <a:pt x="133350" y="143871"/>
                      <a:pt x="133350" y="133350"/>
                    </a:cubicBezTo>
                    <a:lnTo>
                      <a:pt x="133350" y="19050"/>
                    </a:lnTo>
                    <a:cubicBezTo>
                      <a:pt x="133350" y="8529"/>
                      <a:pt x="124821" y="0"/>
                      <a:pt x="1143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685925" y="47434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38100" y="0"/>
                    </a:lnTo>
                    <a:cubicBezTo>
                      <a:pt x="48621" y="0"/>
                      <a:pt x="57150" y="8529"/>
                      <a:pt x="57150" y="19050"/>
                    </a:cubicBezTo>
                    <a:cubicBezTo>
                      <a:pt x="57150" y="29571"/>
                      <a:pt x="48621" y="38100"/>
                      <a:pt x="3810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685925" y="48291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904048" y="4611529"/>
              <a:ext cx="31604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如何验证 · 测试方案与验收标准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910715" y="4915852"/>
              <a:ext cx="32610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五层测试矩阵、典型用例，可逐项核验的"完成定义"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810750" y="466725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417181" y="4771549"/>
              <a:ext cx="215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P16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95350" y="5324475"/>
            <a:ext cx="10344150" cy="547687"/>
            <a:chOff x="895350" y="5324475"/>
            <a:chExt cx="10344150" cy="547687"/>
          </a:xfrm>
        </p:grpSpPr>
        <p:sp>
          <p:nvSpPr>
            <p:cNvPr id="75" name="Ellipse 75"/>
            <p:cNvSpPr/>
            <p:nvPr/>
          </p:nvSpPr>
          <p:spPr>
            <a:xfrm>
              <a:off x="895350" y="5324475"/>
              <a:ext cx="495300" cy="49530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42077" y="55173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1638300" y="5486400"/>
              <a:ext cx="152400" cy="171450"/>
              <a:chOff x="1638300" y="5486400"/>
              <a:chExt cx="152400" cy="17145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1638300" y="5486400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76200" y="0"/>
                    </a:moveTo>
                    <a:lnTo>
                      <a:pt x="152400" y="42862"/>
                    </a:lnTo>
                    <a:lnTo>
                      <a:pt x="152400" y="128588"/>
                    </a:lnTo>
                    <a:lnTo>
                      <a:pt x="76200" y="171450"/>
                    </a:lnTo>
                    <a:lnTo>
                      <a:pt x="0" y="128588"/>
                    </a:lnTo>
                    <a:lnTo>
                      <a:pt x="0" y="42862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1714500" y="5529262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0" y="42862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1714500" y="5572125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1638300" y="5529262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428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1676400" y="5507831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904048" y="5354479"/>
              <a:ext cx="45497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预期结果 · 创新亮点 / 风险 / 交付物</a:t>
              </a:r>
              <a:r>
                <a:rPr lang="zh-CN" sz="900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闭环收束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910715" y="5658802"/>
              <a:ext cx="36671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差异化创新点、风险应对预案，与最终交付清单及总结答疑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810750" y="541020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2811D">
                <a:alpha val="14000"/>
              </a:srgbClr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243121" y="5514499"/>
              <a:ext cx="5640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P17 – P18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286500"/>
            <a:ext cx="11071860" cy="352425"/>
            <a:chOff x="560070" y="6286500"/>
            <a:chExt cx="11071860" cy="352425"/>
          </a:xfrm>
        </p:grpSpPr>
        <p:sp>
          <p:nvSpPr>
            <p:cNvPr id="88" name="Line 88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2" grpId="0"/>
      <p:bldP spid="50" grpId="0"/>
      <p:bldP spid="63" grpId="0"/>
      <p:bldP spid="74" grpId="0"/>
      <p:bldP spid="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457200"/>
            <a:ext cx="5478660" cy="754856"/>
            <a:chOff x="571500" y="457200"/>
            <a:chExt cx="5478660" cy="754856"/>
          </a:xfrm>
        </p:grpSpPr>
        <p:sp>
          <p:nvSpPr>
            <p:cNvPr id="3" name="Rectangle 3"/>
            <p:cNvSpPr/>
            <p:nvPr/>
          </p:nvSpPr>
          <p:spPr>
            <a:xfrm>
              <a:off x="571500" y="4572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52768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项目背景与问题痛点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825650" y="970115"/>
              <a:ext cx="139400" cy="154470"/>
              <a:chOff x="825650" y="970115"/>
              <a:chExt cx="139400" cy="15447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871538" y="10160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25650" y="970115"/>
                <a:ext cx="139400" cy="154470"/>
              </a:xfrm>
              <a:custGeom>
                <a:avLst/>
                <a:gdLst/>
                <a:ahLst/>
                <a:cxnLst/>
                <a:rect l="l" t="t" r="r" b="b"/>
                <a:pathLst>
                  <a:path w="139400" h="154470">
                    <a:moveTo>
                      <a:pt x="114602" y="114600"/>
                    </a:moveTo>
                    <a:lnTo>
                      <a:pt x="80923" y="148278"/>
                    </a:lnTo>
                    <a:cubicBezTo>
                      <a:pt x="74725" y="154470"/>
                      <a:pt x="64682" y="154470"/>
                      <a:pt x="58484" y="148278"/>
                    </a:cubicBezTo>
                    <a:lnTo>
                      <a:pt x="24797" y="114600"/>
                    </a:lnTo>
                    <a:cubicBezTo>
                      <a:pt x="0" y="89801"/>
                      <a:pt x="1" y="49596"/>
                      <a:pt x="24799" y="24798"/>
                    </a:cubicBezTo>
                    <a:cubicBezTo>
                      <a:pt x="49597" y="0"/>
                      <a:pt x="89802" y="0"/>
                      <a:pt x="114601" y="24798"/>
                    </a:cubicBezTo>
                    <a:cubicBezTo>
                      <a:pt x="139399" y="49596"/>
                      <a:pt x="139400" y="89801"/>
                      <a:pt x="114602" y="11460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033462" y="983456"/>
              <a:ext cx="50166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肇庆（四会 / 德庆）是广东重要柑橘产区——传统品质分级主要依赖人工目检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1600200"/>
            <a:ext cx="4905375" cy="3390900"/>
            <a:chOff x="571500" y="1600200"/>
            <a:chExt cx="4905375" cy="3390900"/>
          </a:xfrm>
        </p:grpSpPr>
        <p:sp>
          <p:nvSpPr>
            <p:cNvPr id="10" name="Rectangle 10"/>
            <p:cNvSpPr/>
            <p:nvPr/>
          </p:nvSpPr>
          <p:spPr>
            <a:xfrm>
              <a:off x="571500" y="1600200"/>
              <a:ext cx="4905375" cy="339090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E9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71500" y="1600200"/>
              <a:ext cx="2400300" cy="361950"/>
            </a:xfrm>
            <a:custGeom>
              <a:avLst/>
              <a:gdLst/>
              <a:ahLst/>
              <a:cxnLst/>
              <a:rect l="l" t="t" r="r" b="b"/>
              <a:pathLst>
                <a:path w="2400300" h="361950">
                  <a:moveTo>
                    <a:pt x="152400" y="0"/>
                  </a:moveTo>
                  <a:lnTo>
                    <a:pt x="2247900" y="0"/>
                  </a:lnTo>
                  <a:cubicBezTo>
                    <a:pt x="2332068" y="0"/>
                    <a:pt x="2400300" y="68232"/>
                    <a:pt x="2400300" y="152400"/>
                  </a:cubicBezTo>
                  <a:lnTo>
                    <a:pt x="2400300" y="361950"/>
                  </a:lnTo>
                  <a:lnTo>
                    <a:pt x="0" y="361950"/>
                  </a:ln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0544A">
                <a:alpha val="120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26294" y="1721644"/>
              <a:ext cx="157162" cy="157162"/>
              <a:chOff x="826294" y="1721644"/>
              <a:chExt cx="157162" cy="15716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26294" y="172164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8681" y="1756569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26194"/>
                    </a:moveTo>
                    <a:cubicBezTo>
                      <a:pt x="0" y="40660"/>
                      <a:pt x="11727" y="52388"/>
                      <a:pt x="26194" y="52388"/>
                    </a:cubicBezTo>
                    <a:cubicBezTo>
                      <a:pt x="40660" y="52388"/>
                      <a:pt x="52388" y="40660"/>
                      <a:pt x="52388" y="26194"/>
                    </a:cubicBezTo>
                    <a:cubicBezTo>
                      <a:pt x="52388" y="11727"/>
                      <a:pt x="40660" y="0"/>
                      <a:pt x="26194" y="0"/>
                    </a:cubicBezTo>
                    <a:cubicBezTo>
                      <a:pt x="11727" y="0"/>
                      <a:pt x="0" y="11727"/>
                      <a:pt x="0" y="26194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3954" y="1835145"/>
                <a:ext cx="101859" cy="24933"/>
              </a:xfrm>
              <a:custGeom>
                <a:avLst/>
                <a:gdLst/>
                <a:ahLst/>
                <a:cxnLst/>
                <a:rect l="l" t="t" r="r" b="b"/>
                <a:pathLst>
                  <a:path w="101859" h="24933">
                    <a:moveTo>
                      <a:pt x="0" y="24881"/>
                    </a:moveTo>
                    <a:cubicBezTo>
                      <a:pt x="4438" y="10111"/>
                      <a:pt x="18037" y="1"/>
                      <a:pt x="33458" y="5"/>
                    </a:cubicBezTo>
                    <a:lnTo>
                      <a:pt x="68383" y="5"/>
                    </a:lnTo>
                    <a:cubicBezTo>
                      <a:pt x="83826" y="0"/>
                      <a:pt x="97438" y="10137"/>
                      <a:pt x="101859" y="24933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69658" y="1719739"/>
              <a:ext cx="20229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2410C"/>
                  </a:solidFill>
                  <a:latin typeface="Arial"/>
                  <a:ea typeface="Microsoft YaHei"/>
                  <a:cs typeface="Arial"/>
                </a:rPr>
                <a:t>传统人工目检 · 现状痛点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60425" y="2327275"/>
              <a:ext cx="165100" cy="165100"/>
              <a:chOff x="860425" y="2327275"/>
              <a:chExt cx="165100" cy="1651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942975" y="232727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60425" y="2347912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84250" y="2347912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81062" y="23891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60425" y="2409825"/>
                <a:ext cx="206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9525">
                    <a:moveTo>
                      <a:pt x="0" y="0"/>
                    </a:moveTo>
                    <a:lnTo>
                      <a:pt x="20638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22338" y="2409825"/>
                <a:ext cx="1031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9525">
                    <a:moveTo>
                      <a:pt x="0" y="0"/>
                    </a:moveTo>
                    <a:lnTo>
                      <a:pt x="103187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73931" y="2451100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60425" y="2471738"/>
                <a:ext cx="1135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9525">
                    <a:moveTo>
                      <a:pt x="0" y="0"/>
                    </a:moveTo>
                    <a:lnTo>
                      <a:pt x="113506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15206" y="2471738"/>
                <a:ext cx="103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9525">
                    <a:moveTo>
                      <a:pt x="0" y="0"/>
                    </a:moveTo>
                    <a:lnTo>
                      <a:pt x="10319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165860" y="22707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主观性强、标准不一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68718" y="25045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不同质检员评级口径不同，结果难统一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50106" y="2926556"/>
              <a:ext cx="185738" cy="185738"/>
              <a:chOff x="850106" y="2926556"/>
              <a:chExt cx="185738" cy="18573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50106" y="29265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42975" y="2967831"/>
                <a:ext cx="30956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82550">
                    <a:moveTo>
                      <a:pt x="0" y="0"/>
                    </a:moveTo>
                    <a:lnTo>
                      <a:pt x="0" y="51594"/>
                    </a:lnTo>
                    <a:lnTo>
                      <a:pt x="30956" y="8255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165860" y="288036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效率低下、易疲劳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68718" y="311419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逐个目检慢，长时间作业准确率下降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850106" y="3556794"/>
              <a:ext cx="185738" cy="154781"/>
              <a:chOff x="850106" y="3556794"/>
              <a:chExt cx="185738" cy="15478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12019" y="3556794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41275"/>
                    </a:moveTo>
                    <a:lnTo>
                      <a:pt x="0" y="30956"/>
                    </a:lnTo>
                    <a:cubicBezTo>
                      <a:pt x="0" y="13860"/>
                      <a:pt x="13860" y="0"/>
                      <a:pt x="30956" y="0"/>
                    </a:cubicBezTo>
                    <a:cubicBezTo>
                      <a:pt x="48053" y="0"/>
                      <a:pt x="61912" y="13860"/>
                      <a:pt x="61912" y="30956"/>
                    </a:cubicBezTo>
                    <a:lnTo>
                      <a:pt x="61912" y="41275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91381" y="3598069"/>
                <a:ext cx="103187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13506">
                    <a:moveTo>
                      <a:pt x="10319" y="0"/>
                    </a:moveTo>
                    <a:lnTo>
                      <a:pt x="92869" y="0"/>
                    </a:lnTo>
                    <a:cubicBezTo>
                      <a:pt x="99015" y="9210"/>
                      <a:pt x="102578" y="19900"/>
                      <a:pt x="103187" y="30956"/>
                    </a:cubicBezTo>
                    <a:lnTo>
                      <a:pt x="103187" y="61912"/>
                    </a:lnTo>
                    <a:cubicBezTo>
                      <a:pt x="103187" y="90407"/>
                      <a:pt x="80088" y="113506"/>
                      <a:pt x="51594" y="113506"/>
                    </a:cubicBezTo>
                    <a:cubicBezTo>
                      <a:pt x="23099" y="113506"/>
                      <a:pt x="0" y="90407"/>
                      <a:pt x="0" y="61912"/>
                    </a:cubicBezTo>
                    <a:lnTo>
                      <a:pt x="0" y="30956"/>
                    </a:lnTo>
                    <a:cubicBezTo>
                      <a:pt x="610" y="19900"/>
                      <a:pt x="4173" y="9210"/>
                      <a:pt x="10319" y="0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50106" y="3639344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94569" y="3639344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42975" y="3649662"/>
                <a:ext cx="95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1912">
                    <a:moveTo>
                      <a:pt x="0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60425" y="3680619"/>
                <a:ext cx="34568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34568" h="20637">
                    <a:moveTo>
                      <a:pt x="0" y="20637"/>
                    </a:moveTo>
                    <a:lnTo>
                      <a:pt x="34568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90957" y="3680619"/>
                <a:ext cx="34568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34568" h="20637">
                    <a:moveTo>
                      <a:pt x="34568" y="20637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60425" y="3577431"/>
                <a:ext cx="3869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8695" h="24765">
                    <a:moveTo>
                      <a:pt x="0" y="0"/>
                    </a:moveTo>
                    <a:lnTo>
                      <a:pt x="38695" y="24765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86830" y="3577431"/>
                <a:ext cx="3869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8695" h="24765">
                    <a:moveTo>
                      <a:pt x="38695" y="0"/>
                    </a:moveTo>
                    <a:lnTo>
                      <a:pt x="0" y="24765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165860" y="34899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表面缺陷易漏检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68718" y="372379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细小病斑、裂纹、碰伤肉眼容易遗漏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838909" y="4142328"/>
              <a:ext cx="208124" cy="178806"/>
              <a:chOff x="838909" y="4142328"/>
              <a:chExt cx="208124" cy="17880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42975" y="4207669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909" y="4142328"/>
                <a:ext cx="208124" cy="178806"/>
              </a:xfrm>
              <a:custGeom>
                <a:avLst/>
                <a:gdLst/>
                <a:ahLst/>
                <a:cxnLst/>
                <a:rect l="l" t="t" r="r" b="b"/>
                <a:pathLst>
                  <a:path w="208124" h="178806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7"/>
                      <a:pt x="0" y="162739"/>
                      <a:pt x="3474" y="168835"/>
                    </a:cubicBezTo>
                    <a:cubicBezTo>
                      <a:pt x="6948" y="174931"/>
                      <a:pt x="13395" y="178727"/>
                      <a:pt x="20412" y="178806"/>
                    </a:cubicBezTo>
                    <a:lnTo>
                      <a:pt x="187720" y="178806"/>
                    </a:lnTo>
                    <a:cubicBezTo>
                      <a:pt x="194733" y="178725"/>
                      <a:pt x="201177" y="174931"/>
                      <a:pt x="204650" y="168838"/>
                    </a:cubicBezTo>
                    <a:cubicBezTo>
                      <a:pt x="208124" y="162744"/>
                      <a:pt x="208105" y="155266"/>
                      <a:pt x="204601" y="149191"/>
                    </a:cubicBezTo>
                    <a:lnTo>
                      <a:pt x="120958" y="9516"/>
                    </a:lnTo>
                    <a:cubicBezTo>
                      <a:pt x="117378" y="3609"/>
                      <a:pt x="110973" y="0"/>
                      <a:pt x="104066" y="0"/>
                    </a:cubicBezTo>
                    <a:cubicBezTo>
                      <a:pt x="97159" y="0"/>
                      <a:pt x="90753" y="3609"/>
                      <a:pt x="87174" y="9516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42975" y="4279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165860" y="40995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可追溯性差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68718" y="43333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缺少产地、批次、检测时间等溯源记录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81675" y="3009900"/>
            <a:ext cx="571500" cy="1102519"/>
            <a:chOff x="5781675" y="3009900"/>
            <a:chExt cx="571500" cy="1102519"/>
          </a:xfrm>
        </p:grpSpPr>
        <p:sp>
          <p:nvSpPr>
            <p:cNvPr id="53" name="Ellipse 53"/>
            <p:cNvSpPr/>
            <p:nvPr/>
          </p:nvSpPr>
          <p:spPr>
            <a:xfrm>
              <a:off x="5781675" y="3009900"/>
              <a:ext cx="571500" cy="571500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5962650" y="3219450"/>
              <a:ext cx="161925" cy="152400"/>
            </a:xfrm>
            <a:custGeom>
              <a:avLst/>
              <a:gdLst/>
              <a:ahLst/>
              <a:cxnLst/>
              <a:rect l="l" t="t" r="r" b="b"/>
              <a:pathLst>
                <a:path w="161925" h="152400">
                  <a:moveTo>
                    <a:pt x="0" y="76200"/>
                  </a:moveTo>
                  <a:lnTo>
                    <a:pt x="152400" y="76200"/>
                  </a:lnTo>
                  <a:moveTo>
                    <a:pt x="85725" y="0"/>
                  </a:moveTo>
                  <a:lnTo>
                    <a:pt x="161925" y="76200"/>
                  </a:lnTo>
                  <a:lnTo>
                    <a:pt x="85725" y="15240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  <a:round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782008" y="37428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机器视觉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18525" y="391429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升级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6667500" y="1600200"/>
            <a:ext cx="4905375" cy="3390900"/>
            <a:chOff x="6667500" y="1600200"/>
            <a:chExt cx="4905375" cy="3390900"/>
          </a:xfrm>
        </p:grpSpPr>
        <p:sp>
          <p:nvSpPr>
            <p:cNvPr id="58" name="Rectangle 58"/>
            <p:cNvSpPr/>
            <p:nvPr/>
          </p:nvSpPr>
          <p:spPr>
            <a:xfrm>
              <a:off x="6667500" y="1600200"/>
              <a:ext cx="4905375" cy="339090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0E7C66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6667500" y="1600200"/>
              <a:ext cx="2590800" cy="361950"/>
            </a:xfrm>
            <a:custGeom>
              <a:avLst/>
              <a:gdLst/>
              <a:ahLst/>
              <a:cxnLst/>
              <a:rect l="l" t="t" r="r" b="b"/>
              <a:pathLst>
                <a:path w="2590800" h="361950">
                  <a:moveTo>
                    <a:pt x="152400" y="0"/>
                  </a:moveTo>
                  <a:lnTo>
                    <a:pt x="2438400" y="0"/>
                  </a:lnTo>
                  <a:cubicBezTo>
                    <a:pt x="2522568" y="0"/>
                    <a:pt x="2590800" y="68232"/>
                    <a:pt x="2590800" y="152400"/>
                  </a:cubicBezTo>
                  <a:lnTo>
                    <a:pt x="2590800" y="361950"/>
                  </a:lnTo>
                  <a:lnTo>
                    <a:pt x="0" y="361950"/>
                  </a:ln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E7C66">
                <a:alpha val="12000"/>
              </a:srgbClr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931025" y="1730375"/>
              <a:ext cx="139700" cy="139700"/>
              <a:chOff x="6931025" y="1730375"/>
              <a:chExt cx="139700" cy="1397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931025" y="1730375"/>
                <a:ext cx="349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6194">
                    <a:moveTo>
                      <a:pt x="0" y="26194"/>
                    </a:moveTo>
                    <a:lnTo>
                      <a:pt x="0" y="17463"/>
                    </a:lnTo>
                    <a:cubicBezTo>
                      <a:pt x="0" y="7818"/>
                      <a:pt x="7818" y="0"/>
                      <a:pt x="17463" y="0"/>
                    </a:cubicBez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931025" y="1843881"/>
                <a:ext cx="349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6194">
                    <a:moveTo>
                      <a:pt x="0" y="0"/>
                    </a:moveTo>
                    <a:lnTo>
                      <a:pt x="0" y="8731"/>
                    </a:lnTo>
                    <a:cubicBezTo>
                      <a:pt x="0" y="18376"/>
                      <a:pt x="7818" y="26194"/>
                      <a:pt x="17463" y="26194"/>
                    </a:cubicBezTo>
                    <a:lnTo>
                      <a:pt x="34925" y="26194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035800" y="1730375"/>
                <a:ext cx="349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6194">
                    <a:moveTo>
                      <a:pt x="0" y="0"/>
                    </a:moveTo>
                    <a:lnTo>
                      <a:pt x="17463" y="0"/>
                    </a:lnTo>
                    <a:cubicBezTo>
                      <a:pt x="27107" y="0"/>
                      <a:pt x="34925" y="7818"/>
                      <a:pt x="34925" y="17463"/>
                    </a:cubicBezTo>
                    <a:lnTo>
                      <a:pt x="34925" y="26194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035800" y="1843881"/>
                <a:ext cx="349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6194">
                    <a:moveTo>
                      <a:pt x="0" y="26194"/>
                    </a:moveTo>
                    <a:lnTo>
                      <a:pt x="17463" y="26194"/>
                    </a:lnTo>
                    <a:cubicBezTo>
                      <a:pt x="27107" y="26194"/>
                      <a:pt x="34925" y="18376"/>
                      <a:pt x="34925" y="8731"/>
                    </a:cubicBez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939756" y="1800225"/>
                <a:ext cx="1222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9525">
                    <a:moveTo>
                      <a:pt x="0" y="0"/>
                    </a:moveTo>
                    <a:lnTo>
                      <a:pt x="122237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165658" y="1719739"/>
              <a:ext cx="23799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机器视觉自动检测 · 解决方案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6956425" y="2327275"/>
              <a:ext cx="165100" cy="165100"/>
              <a:chOff x="6956425" y="2327275"/>
              <a:chExt cx="165100" cy="1651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956425" y="2327275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10319" y="0"/>
                    </a:moveTo>
                    <a:lnTo>
                      <a:pt x="154781" y="0"/>
                    </a:lnTo>
                    <a:cubicBezTo>
                      <a:pt x="160480" y="0"/>
                      <a:pt x="165100" y="4620"/>
                      <a:pt x="165100" y="10319"/>
                    </a:cubicBezTo>
                    <a:lnTo>
                      <a:pt x="165100" y="61912"/>
                    </a:lnTo>
                    <a:cubicBezTo>
                      <a:pt x="165100" y="67611"/>
                      <a:pt x="160480" y="72231"/>
                      <a:pt x="154781" y="72231"/>
                    </a:cubicBezTo>
                    <a:lnTo>
                      <a:pt x="82550" y="72231"/>
                    </a:lnTo>
                    <a:cubicBezTo>
                      <a:pt x="76851" y="72231"/>
                      <a:pt x="72231" y="76851"/>
                      <a:pt x="72231" y="82550"/>
                    </a:cubicBezTo>
                    <a:lnTo>
                      <a:pt x="72231" y="154781"/>
                    </a:lnTo>
                    <a:cubicBezTo>
                      <a:pt x="72231" y="160480"/>
                      <a:pt x="67611" y="165100"/>
                      <a:pt x="61912" y="165100"/>
                    </a:cubicBezTo>
                    <a:lnTo>
                      <a:pt x="10319" y="165100"/>
                    </a:lnTo>
                    <a:cubicBezTo>
                      <a:pt x="4620" y="165100"/>
                      <a:pt x="0" y="160480"/>
                      <a:pt x="0" y="154781"/>
                    </a:cubicBezTo>
                    <a:lnTo>
                      <a:pt x="0" y="10319"/>
                    </a:lnTo>
                    <a:cubicBezTo>
                      <a:pt x="0" y="4620"/>
                      <a:pt x="4620" y="0"/>
                      <a:pt x="10319" y="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56425" y="2368550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956425" y="2409825"/>
                <a:ext cx="309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9525">
                    <a:moveTo>
                      <a:pt x="0" y="0"/>
                    </a:move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56425" y="2451100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997700" y="2327275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038975" y="2327275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080250" y="2327275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7261860" y="22707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客观量化、标准统一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264718" y="2504599"/>
              <a:ext cx="25340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果径 / 着色率 / 缺陷占比量化，阈值可配置</a:t>
              </a:r>
            </a:p>
          </p:txBody>
        </p:sp>
        <p:grpSp>
          <p:nvGrpSpPr>
            <p:cNvPr id="87" name="Group 87"/>
            <p:cNvGrpSpPr/>
            <p:nvPr/>
          </p:nvGrpSpPr>
          <p:grpSpPr>
            <a:xfrm>
              <a:off x="6946106" y="2926556"/>
              <a:ext cx="185737" cy="185738"/>
              <a:chOff x="6946106" y="2926556"/>
              <a:chExt cx="185737" cy="18573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966744" y="2947194"/>
                <a:ext cx="144463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4446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134144" y="0"/>
                    </a:lnTo>
                    <a:cubicBezTo>
                      <a:pt x="139843" y="0"/>
                      <a:pt x="144463" y="4620"/>
                      <a:pt x="144463" y="10319"/>
                    </a:cubicBezTo>
                    <a:lnTo>
                      <a:pt x="144463" y="134144"/>
                    </a:lnTo>
                    <a:cubicBezTo>
                      <a:pt x="144463" y="139843"/>
                      <a:pt x="139843" y="144462"/>
                      <a:pt x="134144" y="144462"/>
                    </a:cubicBezTo>
                    <a:lnTo>
                      <a:pt x="10319" y="144462"/>
                    </a:lnTo>
                    <a:cubicBezTo>
                      <a:pt x="4620" y="144462"/>
                      <a:pt x="0" y="139843"/>
                      <a:pt x="0" y="134144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008019" y="2988469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0"/>
                    </a:lnTo>
                    <a:lnTo>
                      <a:pt x="61912" y="61912"/>
                    </a:lnTo>
                    <a:lnTo>
                      <a:pt x="0" y="619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946106" y="2998788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946106" y="3040062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018338" y="2926556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0"/>
                    </a:move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059612" y="2926556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0"/>
                    </a:move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111206" y="2998788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206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111206" y="3040062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206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7059612" y="3091656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206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018338" y="3091656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206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7261860" y="28803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秒级高效、支持批量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264718" y="31141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单张 ≤ 3 秒出结果，一次批量处理多张</a:t>
              </a:r>
            </a:p>
          </p:txBody>
        </p:sp>
        <p:grpSp>
          <p:nvGrpSpPr>
            <p:cNvPr id="93" name="Group 93"/>
            <p:cNvGrpSpPr/>
            <p:nvPr/>
          </p:nvGrpSpPr>
          <p:grpSpPr>
            <a:xfrm>
              <a:off x="6946106" y="3567112"/>
              <a:ext cx="185738" cy="154782"/>
              <a:chOff x="6946106" y="3567112"/>
              <a:chExt cx="185738" cy="154782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7018338" y="36083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6946106" y="3567112"/>
                <a:ext cx="185738" cy="123381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23381">
                    <a:moveTo>
                      <a:pt x="83603" y="123381"/>
                    </a:moveTo>
                    <a:cubicBezTo>
                      <a:pt x="50541" y="120213"/>
                      <a:pt x="22681" y="99710"/>
                      <a:pt x="0" y="61912"/>
                    </a:cubicBezTo>
                    <a:cubicBezTo>
                      <a:pt x="24765" y="20638"/>
                      <a:pt x="55721" y="0"/>
                      <a:pt x="92869" y="0"/>
                    </a:cubicBezTo>
                    <a:cubicBezTo>
                      <a:pt x="130016" y="0"/>
                      <a:pt x="160972" y="20638"/>
                      <a:pt x="185738" y="61912"/>
                    </a:cubicBezTo>
                    <a:cubicBezTo>
                      <a:pt x="183569" y="65533"/>
                      <a:pt x="181288" y="69084"/>
                      <a:pt x="178896" y="72561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069931" y="3680619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7261860" y="34899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缺陷精准框选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264718" y="3723799"/>
              <a:ext cx="1975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自动定位缺陷，给出类别与置信度</a:t>
              </a:r>
            </a:p>
          </p:txBody>
        </p:sp>
        <p:grpSp>
          <p:nvGrpSpPr>
            <p:cNvPr id="108" name="Group 108"/>
            <p:cNvGrpSpPr/>
            <p:nvPr/>
          </p:nvGrpSpPr>
          <p:grpSpPr>
            <a:xfrm>
              <a:off x="6956425" y="4156075"/>
              <a:ext cx="174625" cy="174625"/>
              <a:chOff x="6956425" y="4156075"/>
              <a:chExt cx="174625" cy="174625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6956425" y="41560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51594"/>
                    </a:lnTo>
                    <a:cubicBezTo>
                      <a:pt x="61912" y="57293"/>
                      <a:pt x="57293" y="61912"/>
                      <a:pt x="51594" y="61912"/>
                    </a:cubicBezTo>
                    <a:lnTo>
                      <a:pt x="10319" y="61912"/>
                    </a:lnTo>
                    <a:cubicBezTo>
                      <a:pt x="4620" y="61912"/>
                      <a:pt x="0" y="57293"/>
                      <a:pt x="0" y="51594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987381" y="429021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7059612" y="41560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51594"/>
                    </a:lnTo>
                    <a:cubicBezTo>
                      <a:pt x="61912" y="57293"/>
                      <a:pt x="57293" y="61912"/>
                      <a:pt x="51594" y="61912"/>
                    </a:cubicBezTo>
                    <a:lnTo>
                      <a:pt x="10319" y="61912"/>
                    </a:lnTo>
                    <a:cubicBezTo>
                      <a:pt x="4620" y="61912"/>
                      <a:pt x="0" y="57293"/>
                      <a:pt x="0" y="51594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6987381" y="41870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6956425" y="425926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51594"/>
                    </a:lnTo>
                    <a:cubicBezTo>
                      <a:pt x="61912" y="57293"/>
                      <a:pt x="57293" y="61912"/>
                      <a:pt x="51594" y="61912"/>
                    </a:cubicBezTo>
                    <a:lnTo>
                      <a:pt x="10319" y="61912"/>
                    </a:lnTo>
                    <a:cubicBezTo>
                      <a:pt x="4620" y="61912"/>
                      <a:pt x="0" y="57293"/>
                      <a:pt x="0" y="51594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7090569" y="41870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7059612" y="4259262"/>
                <a:ext cx="309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9525">
                    <a:moveTo>
                      <a:pt x="0" y="0"/>
                    </a:move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7121525" y="425926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7059612" y="4259262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7059612" y="4321175"/>
                <a:ext cx="309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9525">
                    <a:moveTo>
                      <a:pt x="0" y="0"/>
                    </a:move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7090569" y="4290219"/>
                <a:ext cx="309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9525">
                    <a:moveTo>
                      <a:pt x="0" y="0"/>
                    </a:move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7121525" y="4290219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7261860" y="40995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全程可追溯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264718" y="43333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生成溯源二维码，并提供市场价格参考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571500" y="5295900"/>
            <a:ext cx="11001375" cy="762000"/>
            <a:chOff x="571500" y="5295900"/>
            <a:chExt cx="11001375" cy="762000"/>
          </a:xfrm>
        </p:grpSpPr>
        <p:sp>
          <p:nvSpPr>
            <p:cNvPr id="112" name="Rectangle 112"/>
            <p:cNvSpPr/>
            <p:nvPr/>
          </p:nvSpPr>
          <p:spPr>
            <a:xfrm>
              <a:off x="571500" y="5295900"/>
              <a:ext cx="11001375" cy="762000"/>
            </a:xfrm>
            <a:prstGeom prst="roundRect">
              <a:avLst>
                <a:gd name="adj" fmla="val 17500"/>
              </a:avLst>
            </a:prstGeom>
            <a:gradFill>
              <a:gsLst>
                <a:gs pos="0">
                  <a:srgbClr val="0E7C66"/>
                </a:gs>
                <a:gs pos="100000">
                  <a:srgbClr val="0A5A49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919162" y="5548312"/>
              <a:ext cx="257175" cy="257175"/>
              <a:chOff x="919162" y="5548312"/>
              <a:chExt cx="257175" cy="257175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1033462" y="56626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976312" y="56054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919162" y="55483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17" name="TextBox 117"/>
            <p:cNvSpPr txBox="1"/>
            <p:nvPr/>
          </p:nvSpPr>
          <p:spPr>
            <a:xfrm>
              <a:off x="1397318" y="54954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FE6D9"/>
                  </a:solidFill>
                  <a:latin typeface="Arial"/>
                  <a:ea typeface="Microsoft YaHei"/>
                  <a:cs typeface="Arial"/>
                </a:rPr>
                <a:t>问题定义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391602" y="5713571"/>
              <a:ext cx="70395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让一张柑橘照片，</a:t>
              </a:r>
              <a:r>
                <a:rPr lang="zh-CN" sz="1425" b="1" dirty="0">
                  <a:solidFill>
                    <a:srgbClr val="FFD9A8"/>
                  </a:solidFill>
                  <a:latin typeface="Arial"/>
                  <a:ea typeface="Microsoft YaHei"/>
                  <a:cs typeface="Arial"/>
                </a:rPr>
                <a:t>≤ 3 秒</a:t>
              </a:r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得到「</a:t>
              </a:r>
              <a:r>
                <a:rPr lang="zh-CN" sz="1425" b="1" dirty="0">
                  <a:solidFill>
                    <a:srgbClr val="FFD9A8"/>
                  </a:solidFill>
                  <a:latin typeface="Arial"/>
                  <a:ea typeface="Microsoft YaHei"/>
                  <a:cs typeface="Arial"/>
                </a:rPr>
                <a:t>等级 + 缺陷 + 量化依据</a:t>
              </a:r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」——客观、高效、可追溯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120" name="TextBox 120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7" grpId="0"/>
      <p:bldP spid="111" grpId="0"/>
      <p:bldP spid="1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57200"/>
            <a:ext cx="5681067" cy="754856"/>
            <a:chOff x="571500" y="457200"/>
            <a:chExt cx="5681067" cy="754856"/>
          </a:xfrm>
        </p:grpSpPr>
        <p:sp>
          <p:nvSpPr>
            <p:cNvPr id="3" name="Rectangle 3"/>
            <p:cNvSpPr/>
            <p:nvPr/>
          </p:nvSpPr>
          <p:spPr>
            <a:xfrm>
              <a:off x="571500" y="4572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527685"/>
              <a:ext cx="46429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选题意义与"为什么是柑橘"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83456"/>
              <a:ext cx="54667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五候选 × 五维度可行性评分——经过权衡的工程决策，柑橘综合最优、锁定单一品类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1799749"/>
            <a:ext cx="11001375" cy="3505676"/>
            <a:chOff x="571500" y="1799749"/>
            <a:chExt cx="11001375" cy="3505676"/>
          </a:xfrm>
        </p:grpSpPr>
        <p:sp>
          <p:nvSpPr>
            <p:cNvPr id="7" name="TextBox 7"/>
            <p:cNvSpPr txBox="1"/>
            <p:nvPr/>
          </p:nvSpPr>
          <p:spPr>
            <a:xfrm>
              <a:off x="749618" y="1799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候选对象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905458" y="1799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地方特色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34208" y="1799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缺陷维度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25416" y="1799749"/>
              <a:ext cx="645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形态/分割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91708" y="1799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分级直观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20458" y="1799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数据可得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14350" y="17997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评价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71500" y="2019300"/>
              <a:ext cx="11001375" cy="9525"/>
            </a:xfrm>
            <a:custGeom>
              <a:avLst/>
              <a:gdLst/>
              <a:ahLst/>
              <a:cxnLst/>
              <a:rect l="l" t="t" r="r" b="b"/>
              <a:pathLst>
                <a:path w="11001375" h="9525">
                  <a:moveTo>
                    <a:pt x="0" y="0"/>
                  </a:moveTo>
                  <a:lnTo>
                    <a:pt x="11001375" y="0"/>
                  </a:lnTo>
                </a:path>
              </a:pathLst>
            </a:custGeom>
            <a:noFill/>
            <a:ln w="19050">
              <a:solidFill>
                <a:srgbClr val="1F2A33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2095500"/>
              <a:ext cx="11001375" cy="590550"/>
            </a:xfrm>
            <a:prstGeom prst="roundRect">
              <a:avLst>
                <a:gd name="adj" fmla="val 12903"/>
              </a:avLst>
            </a:prstGeom>
            <a:solidFill>
              <a:srgbClr val="0E7C66">
                <a:alpha val="8000"/>
              </a:srgbClr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96803" y="2257425"/>
              <a:ext cx="10652247" cy="304800"/>
              <a:chOff x="796803" y="2257425"/>
              <a:chExt cx="10652247" cy="304800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796803" y="2311400"/>
                <a:ext cx="139822" cy="148431"/>
                <a:chOff x="796803" y="2311400"/>
                <a:chExt cx="139822" cy="148431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805656" y="2372519"/>
                  <a:ext cx="61119" cy="8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87312">
                      <a:moveTo>
                        <a:pt x="0" y="87312"/>
                      </a:moveTo>
                      <a:cubicBezTo>
                        <a:pt x="4366" y="48022"/>
                        <a:pt x="21828" y="17462"/>
                        <a:pt x="61119" y="0"/>
                      </a:cubicBez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796803" y="2311400"/>
                  <a:ext cx="139822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822" h="122238">
                      <a:moveTo>
                        <a:pt x="43778" y="122238"/>
                      </a:moveTo>
                      <a:cubicBezTo>
                        <a:pt x="98069" y="122238"/>
                        <a:pt x="135457" y="93529"/>
                        <a:pt x="139822" y="17463"/>
                      </a:cubicBezTo>
                      <a:lnTo>
                        <a:pt x="139822" y="0"/>
                      </a:lnTo>
                      <a:lnTo>
                        <a:pt x="104775" y="0"/>
                      </a:lnTo>
                      <a:cubicBezTo>
                        <a:pt x="26194" y="0"/>
                        <a:pt x="122" y="34925"/>
                        <a:pt x="0" y="78581"/>
                      </a:cubicBezTo>
                      <a:cubicBezTo>
                        <a:pt x="0" y="87313"/>
                        <a:pt x="0" y="104775"/>
                        <a:pt x="17462" y="122238"/>
                      </a:cubicBezTo>
                      <a:lnTo>
                        <a:pt x="43656" y="122238"/>
                      </a:lnTo>
                      <a:lnTo>
                        <a:pt x="43778" y="122238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032510" y="2318385"/>
                <a:ext cx="163508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柑橘（砂糖橘/贡柑）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3086100" y="2286000"/>
                <a:ext cx="209550" cy="20955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514850" y="2286000"/>
                <a:ext cx="209550" cy="20955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5943600" y="2286000"/>
                <a:ext cx="209550" cy="20955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7372350" y="2286000"/>
                <a:ext cx="209550" cy="20955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8801100" y="22860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905875" y="228600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0077450" y="2257425"/>
                <a:ext cx="13716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2E9E5B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556331" y="2333149"/>
                <a:ext cx="4138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 首选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46760" y="3028950"/>
              <a:ext cx="10353913" cy="276225"/>
              <a:chOff x="746760" y="3028950"/>
              <a:chExt cx="10353913" cy="276225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746760" y="306133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苹果</a:t>
                </a:r>
              </a:p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3086100" y="302895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3190875" y="302895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4514850" y="3028950"/>
                <a:ext cx="209550" cy="209550"/>
              </a:xfrm>
              <a:prstGeom prst="ellipse">
                <a:avLst/>
              </a:pr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943600" y="3028950"/>
                <a:ext cx="209550" cy="209550"/>
              </a:xfrm>
              <a:prstGeom prst="ellipse">
                <a:avLst/>
              </a:pr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7372350" y="3028950"/>
                <a:ext cx="209550" cy="209550"/>
              </a:xfrm>
              <a:prstGeom prst="ellipse">
                <a:avLst/>
              </a:pr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8801100" y="3028950"/>
                <a:ext cx="209550" cy="209550"/>
              </a:xfrm>
              <a:prstGeom prst="ellipse">
                <a:avLst/>
              </a:pr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425827" y="307609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备选数据源</a:t>
                </a:r>
              </a:p>
            </p:txBody>
          </p:sp>
        </p:grpSp>
        <p:sp>
          <p:nvSpPr>
            <p:cNvPr id="38" name="Line 38"/>
            <p:cNvSpPr/>
            <p:nvPr/>
          </p:nvSpPr>
          <p:spPr>
            <a:xfrm>
              <a:off x="571500" y="3467100"/>
              <a:ext cx="11001375" cy="9525"/>
            </a:xfrm>
            <a:custGeom>
              <a:avLst/>
              <a:gdLst/>
              <a:ahLst/>
              <a:cxnLst/>
              <a:rect l="l" t="t" r="r" b="b"/>
              <a:pathLst>
                <a:path w="11001375" h="9525">
                  <a:moveTo>
                    <a:pt x="0" y="0"/>
                  </a:moveTo>
                  <a:lnTo>
                    <a:pt x="11001375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46760" y="3695700"/>
              <a:ext cx="10353913" cy="276225"/>
              <a:chOff x="746760" y="3695700"/>
              <a:chExt cx="10353913" cy="276225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746760" y="372808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香蕉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3086100" y="36957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190875" y="369570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4514850" y="36957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619625" y="36957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5943600" y="36957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048375" y="369570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7372350" y="3695700"/>
                <a:ext cx="209550" cy="209550"/>
              </a:xfrm>
              <a:prstGeom prst="ellipse">
                <a:avLst/>
              </a:pr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801100" y="36957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905875" y="369570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425827" y="37428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缺陷撑不起</a:t>
                </a:r>
              </a:p>
            </p:txBody>
          </p:sp>
        </p:grpSp>
        <p:sp>
          <p:nvSpPr>
            <p:cNvPr id="51" name="Line 51"/>
            <p:cNvSpPr/>
            <p:nvPr/>
          </p:nvSpPr>
          <p:spPr>
            <a:xfrm>
              <a:off x="571500" y="4133850"/>
              <a:ext cx="11001375" cy="9525"/>
            </a:xfrm>
            <a:custGeom>
              <a:avLst/>
              <a:gdLst/>
              <a:ahLst/>
              <a:cxnLst/>
              <a:rect l="l" t="t" r="r" b="b"/>
              <a:pathLst>
                <a:path w="11001375" h="9525">
                  <a:moveTo>
                    <a:pt x="0" y="0"/>
                  </a:moveTo>
                  <a:lnTo>
                    <a:pt x="11001375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46760" y="4362450"/>
              <a:ext cx="10418921" cy="276225"/>
              <a:chOff x="746760" y="4362450"/>
              <a:chExt cx="10418921" cy="276225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746760" y="439483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番茄</a:t>
                </a:r>
              </a:p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3086100" y="436245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190875" y="436245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4514850" y="436245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619625" y="436245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5943600" y="436245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048375" y="436245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7372350" y="436245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477125" y="436245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8801100" y="4362450"/>
                <a:ext cx="209550" cy="209550"/>
              </a:xfrm>
              <a:prstGeom prst="ellipse">
                <a:avLst/>
              </a:pr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10360819" y="44095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扩展验证对象</a:t>
                </a:r>
              </a:p>
            </p:txBody>
          </p:sp>
        </p:grpSp>
        <p:sp>
          <p:nvSpPr>
            <p:cNvPr id="64" name="Line 64"/>
            <p:cNvSpPr/>
            <p:nvPr/>
          </p:nvSpPr>
          <p:spPr>
            <a:xfrm>
              <a:off x="571500" y="4800600"/>
              <a:ext cx="11001375" cy="9525"/>
            </a:xfrm>
            <a:custGeom>
              <a:avLst/>
              <a:gdLst/>
              <a:ahLst/>
              <a:cxnLst/>
              <a:rect l="l" t="t" r="r" b="b"/>
              <a:pathLst>
                <a:path w="11001375" h="9525">
                  <a:moveTo>
                    <a:pt x="0" y="0"/>
                  </a:moveTo>
                  <a:lnTo>
                    <a:pt x="11001375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46760" y="5000625"/>
              <a:ext cx="10702290" cy="304800"/>
              <a:chOff x="746760" y="5000625"/>
              <a:chExt cx="10702290" cy="304800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746760" y="506158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叶菜蔬菜</a:t>
                </a:r>
              </a:p>
            </p:txBody>
          </p:sp>
          <p:sp>
            <p:nvSpPr>
              <p:cNvPr id="66" name="Ellipse 66"/>
              <p:cNvSpPr/>
              <p:nvPr/>
            </p:nvSpPr>
            <p:spPr>
              <a:xfrm>
                <a:off x="3086100" y="50292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3190875" y="502920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4514850" y="50292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4619625" y="50292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70" name="Ellipse 70"/>
              <p:cNvSpPr/>
              <p:nvPr/>
            </p:nvSpPr>
            <p:spPr>
              <a:xfrm>
                <a:off x="5943600" y="50292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048375" y="50292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7372350" y="50292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477125" y="50292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8801100" y="50292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905875" y="50292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10077450" y="5000625"/>
                <a:ext cx="13716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0544A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10488072" y="5076349"/>
                <a:ext cx="5503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C2410C"/>
                    </a:solidFill>
                    <a:latin typeface="Arial"/>
                    <a:ea typeface="Microsoft YaHei"/>
                    <a:cs typeface="Arial"/>
                  </a:rPr>
                  <a:t>✕ 风险高</a:t>
                </a:r>
              </a:p>
            </p:txBody>
          </p:sp>
        </p:grpSp>
      </p:grpSp>
      <p:grpSp>
        <p:nvGrpSpPr>
          <p:cNvPr id="89" name="Group 89"/>
          <p:cNvGrpSpPr/>
          <p:nvPr/>
        </p:nvGrpSpPr>
        <p:grpSpPr>
          <a:xfrm>
            <a:off x="560070" y="5486400"/>
            <a:ext cx="2645188" cy="238125"/>
            <a:chOff x="560070" y="5486400"/>
            <a:chExt cx="2645188" cy="238125"/>
          </a:xfrm>
        </p:grpSpPr>
        <p:sp>
          <p:nvSpPr>
            <p:cNvPr id="80" name="TextBox 80"/>
            <p:cNvSpPr txBox="1"/>
            <p:nvPr/>
          </p:nvSpPr>
          <p:spPr>
            <a:xfrm>
              <a:off x="560070" y="55416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评分：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1038225" y="5505450"/>
              <a:ext cx="171450" cy="171450"/>
            </a:xfrm>
            <a:prstGeom prst="ellipse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245870" y="5541645"/>
              <a:ext cx="3769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强 ★★★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1895475" y="5505450"/>
              <a:ext cx="171450" cy="171450"/>
            </a:xfrm>
            <a:prstGeom prst="ellipse">
              <a:avLst/>
            </a:prstGeom>
            <a:noFill/>
            <a:ln w="19050">
              <a:solidFill>
                <a:srgbClr val="CBD5E1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1981200" y="5486400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0"/>
                  </a:moveTo>
                  <a:cubicBezTo>
                    <a:pt x="57866" y="0"/>
                    <a:pt x="104775" y="46909"/>
                    <a:pt x="104775" y="104775"/>
                  </a:cubicBezTo>
                  <a:cubicBezTo>
                    <a:pt x="104775" y="162641"/>
                    <a:pt x="57866" y="209550"/>
                    <a:pt x="0" y="209550"/>
                  </a:cubicBezTo>
                  <a:close/>
                </a:path>
              </a:pathLst>
            </a:custGeom>
            <a:solidFill>
              <a:srgbClr val="334155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2103120" y="5541645"/>
              <a:ext cx="3108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中 ★★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2752725" y="5505450"/>
              <a:ext cx="171450" cy="171450"/>
            </a:xfrm>
            <a:prstGeom prst="ellipse">
              <a:avLst/>
            </a:prstGeom>
            <a:noFill/>
            <a:ln w="19050">
              <a:solidFill>
                <a:srgbClr val="CBD5E1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2838450" y="550545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85725"/>
                  </a:moveTo>
                  <a:lnTo>
                    <a:pt x="0" y="0"/>
                  </a:lnTo>
                  <a:cubicBezTo>
                    <a:pt x="47345" y="0"/>
                    <a:pt x="85725" y="38380"/>
                    <a:pt x="85725" y="85725"/>
                  </a:cubicBezTo>
                  <a:close/>
                </a:path>
              </a:pathLst>
            </a:custGeom>
            <a:solidFill>
              <a:srgbClr val="334155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2960370" y="5541645"/>
              <a:ext cx="244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弱 ★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71500" y="5772150"/>
            <a:ext cx="11001375" cy="457200"/>
            <a:chOff x="571500" y="5772150"/>
            <a:chExt cx="11001375" cy="457200"/>
          </a:xfrm>
        </p:grpSpPr>
        <p:sp>
          <p:nvSpPr>
            <p:cNvPr id="90" name="Rectangle 90"/>
            <p:cNvSpPr/>
            <p:nvPr/>
          </p:nvSpPr>
          <p:spPr>
            <a:xfrm>
              <a:off x="571500" y="5772150"/>
              <a:ext cx="11001375" cy="457200"/>
            </a:xfrm>
            <a:prstGeom prst="roundRect">
              <a:avLst>
                <a:gd name="adj" fmla="val 20833"/>
              </a:avLst>
            </a:prstGeom>
            <a:solidFill>
              <a:srgbClr val="0E7C66">
                <a:alpha val="8000"/>
              </a:srgbClr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90575" y="5915025"/>
              <a:ext cx="171450" cy="171450"/>
              <a:chOff x="790575" y="5915025"/>
              <a:chExt cx="171450" cy="17145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90575" y="59150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47725" y="59817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71562" y="5926931"/>
              <a:ext cx="84671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关键理由：题目示例</a:t>
              </a:r>
              <a:r>
                <a:rPr lang="zh-CN" sz="11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首位即柑橘</a:t>
              </a:r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 + 肇庆地方特色加分；近圆形易检测、缺陷类型丰富、着色率可解释——数据短板由三源混合解决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96" name="TextBox 96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9" grpId="0"/>
      <p:bldP spid="9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9100"/>
            <a:ext cx="4938474" cy="716756"/>
            <a:chOff x="571500" y="419100"/>
            <a:chExt cx="4938474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7053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项目定位与核心目标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07256"/>
              <a:ext cx="47241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可量化、可验收——用数字定义"做到什么程度"，而非"又快又准"的空话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181100"/>
            <a:ext cx="11001375" cy="609600"/>
            <a:chOff x="571500" y="1181100"/>
            <a:chExt cx="11001375" cy="609600"/>
          </a:xfrm>
        </p:grpSpPr>
        <p:sp>
          <p:nvSpPr>
            <p:cNvPr id="7" name="Rectangle 7"/>
            <p:cNvSpPr/>
            <p:nvPr/>
          </p:nvSpPr>
          <p:spPr>
            <a:xfrm>
              <a:off x="571500" y="1181100"/>
              <a:ext cx="11001375" cy="609600"/>
            </a:xfrm>
            <a:prstGeom prst="roundRect">
              <a:avLst>
                <a:gd name="adj" fmla="val 18750"/>
              </a:avLst>
            </a:prstGeom>
            <a:solidFill>
              <a:srgbClr val="0E7C66">
                <a:alpha val="8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8110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63600" y="1397000"/>
              <a:ext cx="177800" cy="177800"/>
              <a:chOff x="863600" y="1397000"/>
              <a:chExt cx="177800" cy="177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63600" y="13970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3"/>
                    </a:moveTo>
                    <a:cubicBezTo>
                      <a:pt x="0" y="4975"/>
                      <a:pt x="4975" y="0"/>
                      <a:pt x="11112" y="0"/>
                    </a:cubicBezTo>
                    <a:lnTo>
                      <a:pt x="55562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55563"/>
                    </a:lnTo>
                    <a:cubicBezTo>
                      <a:pt x="66675" y="61700"/>
                      <a:pt x="61700" y="66675"/>
                      <a:pt x="55562" y="66675"/>
                    </a:cubicBezTo>
                    <a:lnTo>
                      <a:pt x="11112" y="66675"/>
                    </a:lnTo>
                    <a:cubicBezTo>
                      <a:pt x="4975" y="66675"/>
                      <a:pt x="0" y="61700"/>
                      <a:pt x="0" y="555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74725" y="13970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3"/>
                    </a:moveTo>
                    <a:cubicBezTo>
                      <a:pt x="0" y="4975"/>
                      <a:pt x="4975" y="0"/>
                      <a:pt x="11112" y="0"/>
                    </a:cubicBezTo>
                    <a:lnTo>
                      <a:pt x="55562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55563"/>
                    </a:lnTo>
                    <a:cubicBezTo>
                      <a:pt x="66675" y="61700"/>
                      <a:pt x="61700" y="66675"/>
                      <a:pt x="55562" y="66675"/>
                    </a:cubicBezTo>
                    <a:lnTo>
                      <a:pt x="11112" y="66675"/>
                    </a:lnTo>
                    <a:cubicBezTo>
                      <a:pt x="4975" y="66675"/>
                      <a:pt x="0" y="61700"/>
                      <a:pt x="0" y="555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63600" y="150812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2"/>
                    </a:moveTo>
                    <a:cubicBezTo>
                      <a:pt x="0" y="4975"/>
                      <a:pt x="4975" y="0"/>
                      <a:pt x="11112" y="0"/>
                    </a:cubicBezTo>
                    <a:lnTo>
                      <a:pt x="55562" y="0"/>
                    </a:lnTo>
                    <a:cubicBezTo>
                      <a:pt x="61700" y="0"/>
                      <a:pt x="66675" y="4975"/>
                      <a:pt x="66675" y="11112"/>
                    </a:cubicBezTo>
                    <a:lnTo>
                      <a:pt x="66675" y="55562"/>
                    </a:lnTo>
                    <a:cubicBezTo>
                      <a:pt x="66675" y="61700"/>
                      <a:pt x="61700" y="66675"/>
                      <a:pt x="55562" y="66675"/>
                    </a:cubicBezTo>
                    <a:lnTo>
                      <a:pt x="11112" y="66675"/>
                    </a:lnTo>
                    <a:cubicBezTo>
                      <a:pt x="4975" y="66675"/>
                      <a:pt x="0" y="61700"/>
                      <a:pt x="0" y="55562"/>
                    </a:cubicBezTo>
                    <a:lnTo>
                      <a:pt x="0" y="11112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74725" y="150812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2"/>
                    </a:moveTo>
                    <a:cubicBezTo>
                      <a:pt x="0" y="4975"/>
                      <a:pt x="4975" y="0"/>
                      <a:pt x="11112" y="0"/>
                    </a:cubicBezTo>
                    <a:lnTo>
                      <a:pt x="55562" y="0"/>
                    </a:lnTo>
                    <a:cubicBezTo>
                      <a:pt x="61700" y="0"/>
                      <a:pt x="66675" y="4975"/>
                      <a:pt x="66675" y="11112"/>
                    </a:cubicBezTo>
                    <a:lnTo>
                      <a:pt x="66675" y="55562"/>
                    </a:lnTo>
                    <a:cubicBezTo>
                      <a:pt x="66675" y="61700"/>
                      <a:pt x="61700" y="66675"/>
                      <a:pt x="55562" y="66675"/>
                    </a:cubicBezTo>
                    <a:lnTo>
                      <a:pt x="11112" y="66675"/>
                    </a:lnTo>
                    <a:cubicBezTo>
                      <a:pt x="4975" y="66675"/>
                      <a:pt x="0" y="61700"/>
                      <a:pt x="0" y="55562"/>
                    </a:cubicBezTo>
                    <a:lnTo>
                      <a:pt x="0" y="11112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87768" y="1323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项目定位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3958" y="1519714"/>
              <a:ext cx="73696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面向教学演示与产地初分场景的、工程完整的机器视觉品质检测 Web 系统（B/S，四层分离）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2057400"/>
            <a:ext cx="3552825" cy="1809750"/>
            <a:chOff x="571500" y="2057400"/>
            <a:chExt cx="3552825" cy="1809750"/>
          </a:xfrm>
        </p:grpSpPr>
        <p:sp>
          <p:nvSpPr>
            <p:cNvPr id="17" name="Rectangle 17"/>
            <p:cNvSpPr/>
            <p:nvPr/>
          </p:nvSpPr>
          <p:spPr>
            <a:xfrm>
              <a:off x="571500" y="2057400"/>
              <a:ext cx="3552825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8" name="Rectangle 18"/>
            <p:cNvSpPr/>
            <p:nvPr/>
          </p:nvSpPr>
          <p:spPr>
            <a:xfrm>
              <a:off x="571500" y="228600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629025" y="2324100"/>
              <a:ext cx="228600" cy="228600"/>
              <a:chOff x="3629025" y="2324100"/>
              <a:chExt cx="228600" cy="228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629025" y="2324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743325" y="23749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0" y="63500"/>
                    </a:lnTo>
                    <a:lnTo>
                      <a:pt x="38100" y="10160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62012" y="2374106"/>
              <a:ext cx="14762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单张响应速度（CPU）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1530" y="2754630"/>
              <a:ext cx="114997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≤3</a:t>
              </a:r>
              <a:r>
                <a:rPr lang="zh-CN" sz="16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3918" y="3438049"/>
              <a:ext cx="24625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返回 等级 + 缺陷红框 + 量化指标 + 置信度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14825" y="2057400"/>
            <a:ext cx="3552825" cy="1809750"/>
            <a:chOff x="4314825" y="2057400"/>
            <a:chExt cx="3552825" cy="1809750"/>
          </a:xfrm>
        </p:grpSpPr>
        <p:sp>
          <p:nvSpPr>
            <p:cNvPr id="26" name="Rectangle 26"/>
            <p:cNvSpPr/>
            <p:nvPr/>
          </p:nvSpPr>
          <p:spPr>
            <a:xfrm>
              <a:off x="4314825" y="2057400"/>
              <a:ext cx="3552825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4314825" y="228600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72350" y="2324100"/>
              <a:ext cx="228600" cy="228600"/>
              <a:chOff x="7372350" y="2324100"/>
              <a:chExt cx="228600" cy="2286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473950" y="24257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423150" y="23749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72350" y="2324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605338" y="2374106"/>
              <a:ext cx="12812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缺陷检测 mAP@0.5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54855" y="2754630"/>
              <a:ext cx="147761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≥0.60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7242" y="3438049"/>
              <a:ext cx="23390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演示级目标，非硬指标——传统 CV 可兜底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58150" y="2057400"/>
            <a:ext cx="3552825" cy="1809750"/>
            <a:chOff x="8058150" y="2057400"/>
            <a:chExt cx="3552825" cy="1809750"/>
          </a:xfrm>
        </p:grpSpPr>
        <p:sp>
          <p:nvSpPr>
            <p:cNvPr id="36" name="Rectangle 36"/>
            <p:cNvSpPr/>
            <p:nvPr/>
          </p:nvSpPr>
          <p:spPr>
            <a:xfrm>
              <a:off x="8058150" y="2057400"/>
              <a:ext cx="3552825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8058150" y="228600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1115675" y="2324100"/>
              <a:ext cx="228600" cy="228600"/>
              <a:chOff x="11115675" y="2324100"/>
              <a:chExt cx="228600" cy="2286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11115675" y="2324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191875" y="24130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348662" y="23741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分级人工一致率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98180" y="2754630"/>
              <a:ext cx="120037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≥80</a:t>
              </a:r>
              <a:r>
                <a:rPr lang="zh-CN" sz="195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50568" y="3438049"/>
              <a:ext cx="2365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演示集上分级结果与人工标注的一致程度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4095750"/>
            <a:ext cx="3552825" cy="1809750"/>
            <a:chOff x="571500" y="4095750"/>
            <a:chExt cx="3552825" cy="1809750"/>
          </a:xfrm>
        </p:grpSpPr>
        <p:sp>
          <p:nvSpPr>
            <p:cNvPr id="45" name="Rectangle 45"/>
            <p:cNvSpPr/>
            <p:nvPr/>
          </p:nvSpPr>
          <p:spPr>
            <a:xfrm>
              <a:off x="571500" y="4095750"/>
              <a:ext cx="3552825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6" name="Rectangle 46"/>
            <p:cNvSpPr/>
            <p:nvPr/>
          </p:nvSpPr>
          <p:spPr>
            <a:xfrm>
              <a:off x="571500" y="432435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3641725" y="4375150"/>
              <a:ext cx="203200" cy="203200"/>
              <a:chOff x="3641725" y="4375150"/>
              <a:chExt cx="203200" cy="2032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3641725" y="4375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3768725" y="4375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641725" y="4502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768725" y="4502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62012" y="44124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批量上传汇总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1530" y="4792980"/>
              <a:ext cx="130119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≥10</a:t>
              </a:r>
              <a:r>
                <a:rPr lang="zh-CN" sz="16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3918" y="547639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一次批量处理多张并按等级计数统计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314825" y="4095750"/>
            <a:ext cx="3552825" cy="1809750"/>
            <a:chOff x="4314825" y="4095750"/>
            <a:chExt cx="3552825" cy="1809750"/>
          </a:xfrm>
        </p:grpSpPr>
        <p:sp>
          <p:nvSpPr>
            <p:cNvPr id="56" name="Rectangle 56"/>
            <p:cNvSpPr/>
            <p:nvPr/>
          </p:nvSpPr>
          <p:spPr>
            <a:xfrm>
              <a:off x="4314825" y="4095750"/>
              <a:ext cx="3552825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7" name="Rectangle 57"/>
            <p:cNvSpPr/>
            <p:nvPr/>
          </p:nvSpPr>
          <p:spPr>
            <a:xfrm>
              <a:off x="4314825" y="432435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5050" y="4375150"/>
              <a:ext cx="212725" cy="212725"/>
              <a:chOff x="7385050" y="4375150"/>
              <a:chExt cx="212725" cy="2127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5050" y="4375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423150" y="4540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512050" y="4375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423150" y="4413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385050" y="4502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550150" y="4413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512050" y="45021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588250" y="4502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512050" y="45021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512050" y="45783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550150" y="45402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588250" y="45402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4605338" y="44124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溯源报告导出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554855" y="4792980"/>
              <a:ext cx="74672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1</a:t>
              </a:r>
              <a:r>
                <a:rPr lang="zh-CN" sz="16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键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607242" y="5476399"/>
              <a:ext cx="22220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生成含溯源二维码的 PDF / Excel 报告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058150" y="4095750"/>
            <a:ext cx="3552825" cy="1809750"/>
            <a:chOff x="8058150" y="4095750"/>
            <a:chExt cx="3552825" cy="1809750"/>
          </a:xfrm>
        </p:grpSpPr>
        <p:sp>
          <p:nvSpPr>
            <p:cNvPr id="75" name="Rectangle 75"/>
            <p:cNvSpPr/>
            <p:nvPr/>
          </p:nvSpPr>
          <p:spPr>
            <a:xfrm>
              <a:off x="8058150" y="4095750"/>
              <a:ext cx="3552825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6" name="Rectangle 76"/>
            <p:cNvSpPr/>
            <p:nvPr/>
          </p:nvSpPr>
          <p:spPr>
            <a:xfrm>
              <a:off x="8058150" y="432435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11141075" y="4362450"/>
              <a:ext cx="177800" cy="228600"/>
              <a:chOff x="11141075" y="4362450"/>
              <a:chExt cx="177800" cy="2286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11141075" y="4387850"/>
                <a:ext cx="1778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200">
                    <a:moveTo>
                      <a:pt x="50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77800"/>
                    </a:lnTo>
                    <a:cubicBezTo>
                      <a:pt x="0" y="191828"/>
                      <a:pt x="11372" y="203200"/>
                      <a:pt x="25400" y="203200"/>
                    </a:cubicBezTo>
                    <a:lnTo>
                      <a:pt x="152400" y="203200"/>
                    </a:lnTo>
                    <a:cubicBezTo>
                      <a:pt x="166428" y="203200"/>
                      <a:pt x="177800" y="191828"/>
                      <a:pt x="177800" y="177800"/>
                    </a:cubicBezTo>
                    <a:lnTo>
                      <a:pt x="177800" y="25400"/>
                    </a:lnTo>
                    <a:cubicBezTo>
                      <a:pt x="177800" y="11372"/>
                      <a:pt x="166428" y="0"/>
                      <a:pt x="152400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11191875" y="43624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cubicBezTo>
                      <a:pt x="76200" y="39428"/>
                      <a:pt x="64828" y="50800"/>
                      <a:pt x="50800" y="50800"/>
                    </a:cubicBezTo>
                    <a:lnTo>
                      <a:pt x="25400" y="50800"/>
                    </a:lnTo>
                    <a:cubicBezTo>
                      <a:pt x="11372" y="50800"/>
                      <a:pt x="0" y="39428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11191875" y="44767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8348662" y="44124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软件工程文档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98180" y="4792980"/>
              <a:ext cx="114997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9+</a:t>
              </a:r>
              <a:r>
                <a:rPr lang="zh-CN" sz="16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图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350568" y="54763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用例 / DFD / 类图 / 时序 / ER 等齐备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85" name="TextBox 85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35" grpId="0"/>
      <p:bldP spid="44" grpId="0"/>
      <p:bldP spid="55" grpId="0"/>
      <p:bldP spid="74" grpId="0"/>
      <p:bldP spid="8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9100"/>
            <a:ext cx="4008358" cy="716756"/>
            <a:chOff x="571500" y="419100"/>
            <a:chExt cx="4008358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7053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目标用户与使用场景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07256"/>
              <a:ext cx="37940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服务三类角色——把抽象功能落到具体的人与具体的操作上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619250"/>
            <a:ext cx="3552825" cy="2857500"/>
            <a:chOff x="571500" y="1619250"/>
            <a:chExt cx="3552825" cy="2857500"/>
          </a:xfrm>
        </p:grpSpPr>
        <p:sp>
          <p:nvSpPr>
            <p:cNvPr id="7" name="Rectangle 7"/>
            <p:cNvSpPr/>
            <p:nvPr/>
          </p:nvSpPr>
          <p:spPr>
            <a:xfrm>
              <a:off x="571500" y="1619250"/>
              <a:ext cx="3552825" cy="2857500"/>
            </a:xfrm>
            <a:prstGeom prst="roundRect">
              <a:avLst>
                <a:gd name="adj" fmla="val 666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200150" y="1619250"/>
              <a:ext cx="2286000" cy="476250"/>
            </a:xfrm>
            <a:custGeom>
              <a:avLst/>
              <a:gdLst/>
              <a:ahLst/>
              <a:cxnLst/>
              <a:rect l="l" t="t" r="r" b="b"/>
              <a:pathLst>
                <a:path w="2286000" h="476250">
                  <a:moveTo>
                    <a:pt x="238125" y="0"/>
                  </a:moveTo>
                  <a:lnTo>
                    <a:pt x="2047875" y="0"/>
                  </a:lnTo>
                  <a:cubicBezTo>
                    <a:pt x="2179388" y="0"/>
                    <a:pt x="2286000" y="106612"/>
                    <a:pt x="2286000" y="238125"/>
                  </a:cubicBezTo>
                  <a:lnTo>
                    <a:pt x="2286000" y="476250"/>
                  </a:lnTo>
                  <a:lnTo>
                    <a:pt x="0" y="476250"/>
                  </a:lnTo>
                  <a:lnTo>
                    <a:pt x="0" y="238125"/>
                  </a:lnTo>
                  <a:cubicBezTo>
                    <a:pt x="0" y="106612"/>
                    <a:pt x="106612" y="0"/>
                    <a:pt x="238125" y="0"/>
                  </a:cubicBez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47958" y="17878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普通用户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2950" y="2266950"/>
              <a:ext cx="3209925" cy="20574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31069" y="2474119"/>
              <a:ext cx="214312" cy="214312"/>
              <a:chOff x="931069" y="2474119"/>
              <a:chExt cx="214312" cy="21431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31069" y="24741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2506" y="2521744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68788" y="2628893"/>
                <a:ext cx="138898" cy="34000"/>
              </a:xfrm>
              <a:custGeom>
                <a:avLst/>
                <a:gdLst/>
                <a:ahLst/>
                <a:cxnLst/>
                <a:rect l="l" t="t" r="r" b="b"/>
                <a:pathLst>
                  <a:path w="138898" h="34000">
                    <a:moveTo>
                      <a:pt x="0" y="33928"/>
                    </a:moveTo>
                    <a:cubicBezTo>
                      <a:pt x="6051" y="13788"/>
                      <a:pt x="24595" y="1"/>
                      <a:pt x="45625" y="7"/>
                    </a:cubicBezTo>
                    <a:lnTo>
                      <a:pt x="93250" y="7"/>
                    </a:lnTo>
                    <a:cubicBezTo>
                      <a:pt x="114308" y="0"/>
                      <a:pt x="132871" y="13823"/>
                      <a:pt x="138898" y="340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43965" y="2525078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分拣员 / 合作社质检员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95350" y="2819400"/>
              <a:ext cx="2905125" cy="9525"/>
            </a:xfrm>
            <a:custGeom>
              <a:avLst/>
              <a:gdLst/>
              <a:ahLst/>
              <a:cxnLst/>
              <a:rect l="l" t="t" r="r" b="b"/>
              <a:pathLst>
                <a:path w="2905125" h="9525">
                  <a:moveTo>
                    <a:pt x="0" y="0"/>
                  </a:moveTo>
                  <a:lnTo>
                    <a:pt x="2905125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2968" y="29617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典型场景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2015" y="31632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收果初分、电商上架前分级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2968" y="34951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典型流程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909638" y="3795712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5368" y="3761899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登录 → 拍照 / 上传图片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09638" y="4024312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5368" y="39904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查看等级徽章与缺陷红框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09638" y="4252912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5368" y="421909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登记溯源 → 导出报告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314825" y="1619250"/>
            <a:ext cx="3552825" cy="2857500"/>
            <a:chOff x="4314825" y="1619250"/>
            <a:chExt cx="3552825" cy="2857500"/>
          </a:xfrm>
        </p:grpSpPr>
        <p:sp>
          <p:nvSpPr>
            <p:cNvPr id="27" name="Rectangle 27"/>
            <p:cNvSpPr/>
            <p:nvPr/>
          </p:nvSpPr>
          <p:spPr>
            <a:xfrm>
              <a:off x="4314825" y="1619250"/>
              <a:ext cx="3552825" cy="2857500"/>
            </a:xfrm>
            <a:prstGeom prst="roundRect">
              <a:avLst>
                <a:gd name="adj" fmla="val 666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943475" y="1619250"/>
              <a:ext cx="2286000" cy="476250"/>
            </a:xfrm>
            <a:custGeom>
              <a:avLst/>
              <a:gdLst/>
              <a:ahLst/>
              <a:cxnLst/>
              <a:rect l="l" t="t" r="r" b="b"/>
              <a:pathLst>
                <a:path w="2286000" h="476250">
                  <a:moveTo>
                    <a:pt x="238125" y="0"/>
                  </a:moveTo>
                  <a:lnTo>
                    <a:pt x="2047875" y="0"/>
                  </a:lnTo>
                  <a:cubicBezTo>
                    <a:pt x="2179388" y="0"/>
                    <a:pt x="2286000" y="106612"/>
                    <a:pt x="2286000" y="238125"/>
                  </a:cubicBezTo>
                  <a:lnTo>
                    <a:pt x="2286000" y="476250"/>
                  </a:lnTo>
                  <a:lnTo>
                    <a:pt x="0" y="476250"/>
                  </a:lnTo>
                  <a:lnTo>
                    <a:pt x="0" y="238125"/>
                  </a:lnTo>
                  <a:cubicBezTo>
                    <a:pt x="0" y="106612"/>
                    <a:pt x="106612" y="0"/>
                    <a:pt x="238125" y="0"/>
                  </a:cubicBezTo>
                  <a:close/>
                </a:path>
              </a:pathLst>
            </a:custGeom>
            <a:solidFill>
              <a:srgbClr val="0A5A4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93571" y="1787842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管理员 / 技术员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486275" y="2266950"/>
              <a:ext cx="3209925" cy="20574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669167" y="2468892"/>
              <a:ext cx="224766" cy="224766"/>
              <a:chOff x="4669167" y="2468892"/>
              <a:chExt cx="224766" cy="22476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4669167" y="2468892"/>
                <a:ext cx="224766" cy="224766"/>
              </a:xfrm>
              <a:custGeom>
                <a:avLst/>
                <a:gdLst/>
                <a:ahLst/>
                <a:cxnLst/>
                <a:rect l="l" t="t" r="r" b="b"/>
                <a:pathLst>
                  <a:path w="224766" h="224766">
                    <a:moveTo>
                      <a:pt x="92440" y="20907"/>
                    </a:moveTo>
                    <a:cubicBezTo>
                      <a:pt x="97512" y="0"/>
                      <a:pt x="127254" y="0"/>
                      <a:pt x="132326" y="20907"/>
                    </a:cubicBezTo>
                    <a:cubicBezTo>
                      <a:pt x="133870" y="27278"/>
                      <a:pt x="138363" y="32528"/>
                      <a:pt x="144419" y="35037"/>
                    </a:cubicBezTo>
                    <a:cubicBezTo>
                      <a:pt x="150474" y="37546"/>
                      <a:pt x="157364" y="37012"/>
                      <a:pt x="162961" y="33599"/>
                    </a:cubicBezTo>
                    <a:cubicBezTo>
                      <a:pt x="181332" y="22408"/>
                      <a:pt x="202371" y="43434"/>
                      <a:pt x="191179" y="61817"/>
                    </a:cubicBezTo>
                    <a:cubicBezTo>
                      <a:pt x="187771" y="67411"/>
                      <a:pt x="187238" y="74296"/>
                      <a:pt x="189744" y="80348"/>
                    </a:cubicBezTo>
                    <a:cubicBezTo>
                      <a:pt x="192250" y="86400"/>
                      <a:pt x="197494" y="90892"/>
                      <a:pt x="203859" y="92440"/>
                    </a:cubicBezTo>
                    <a:cubicBezTo>
                      <a:pt x="224766" y="97512"/>
                      <a:pt x="224766" y="127254"/>
                      <a:pt x="203859" y="132326"/>
                    </a:cubicBezTo>
                    <a:cubicBezTo>
                      <a:pt x="197488" y="133870"/>
                      <a:pt x="192238" y="138363"/>
                      <a:pt x="189729" y="144419"/>
                    </a:cubicBezTo>
                    <a:cubicBezTo>
                      <a:pt x="187220" y="150474"/>
                      <a:pt x="187754" y="157364"/>
                      <a:pt x="191167" y="162961"/>
                    </a:cubicBezTo>
                    <a:cubicBezTo>
                      <a:pt x="202359" y="181332"/>
                      <a:pt x="181332" y="202371"/>
                      <a:pt x="162949" y="191179"/>
                    </a:cubicBezTo>
                    <a:cubicBezTo>
                      <a:pt x="157355" y="187771"/>
                      <a:pt x="150470" y="187238"/>
                      <a:pt x="144418" y="189744"/>
                    </a:cubicBezTo>
                    <a:cubicBezTo>
                      <a:pt x="138366" y="192250"/>
                      <a:pt x="133874" y="197494"/>
                      <a:pt x="132326" y="203859"/>
                    </a:cubicBezTo>
                    <a:cubicBezTo>
                      <a:pt x="127254" y="224766"/>
                      <a:pt x="97512" y="224766"/>
                      <a:pt x="92440" y="203859"/>
                    </a:cubicBezTo>
                    <a:cubicBezTo>
                      <a:pt x="90897" y="197488"/>
                      <a:pt x="86403" y="192238"/>
                      <a:pt x="80348" y="189729"/>
                    </a:cubicBezTo>
                    <a:cubicBezTo>
                      <a:pt x="74292" y="187220"/>
                      <a:pt x="67402" y="187754"/>
                      <a:pt x="61805" y="191167"/>
                    </a:cubicBezTo>
                    <a:cubicBezTo>
                      <a:pt x="43434" y="202359"/>
                      <a:pt x="22396" y="181332"/>
                      <a:pt x="33588" y="162949"/>
                    </a:cubicBezTo>
                    <a:cubicBezTo>
                      <a:pt x="36995" y="157355"/>
                      <a:pt x="37528" y="150470"/>
                      <a:pt x="35022" y="144418"/>
                    </a:cubicBezTo>
                    <a:cubicBezTo>
                      <a:pt x="32516" y="138366"/>
                      <a:pt x="27272" y="133874"/>
                      <a:pt x="20907" y="132326"/>
                    </a:cubicBezTo>
                    <a:cubicBezTo>
                      <a:pt x="0" y="127254"/>
                      <a:pt x="0" y="97512"/>
                      <a:pt x="20907" y="92440"/>
                    </a:cubicBezTo>
                    <a:cubicBezTo>
                      <a:pt x="27278" y="90897"/>
                      <a:pt x="32528" y="86403"/>
                      <a:pt x="35037" y="80348"/>
                    </a:cubicBezTo>
                    <a:cubicBezTo>
                      <a:pt x="37546" y="74292"/>
                      <a:pt x="37012" y="67402"/>
                      <a:pt x="33599" y="61805"/>
                    </a:cubicBezTo>
                    <a:cubicBezTo>
                      <a:pt x="22408" y="43434"/>
                      <a:pt x="43434" y="22396"/>
                      <a:pt x="61817" y="33588"/>
                    </a:cubicBezTo>
                    <a:cubicBezTo>
                      <a:pt x="73724" y="40827"/>
                      <a:pt x="89154" y="34421"/>
                      <a:pt x="92440" y="20907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45831" y="254555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987290" y="252507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系统维护者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638675" y="2819400"/>
              <a:ext cx="2905125" cy="9525"/>
            </a:xfrm>
            <a:custGeom>
              <a:avLst/>
              <a:gdLst/>
              <a:ahLst/>
              <a:cxnLst/>
              <a:rect l="l" t="t" r="r" b="b"/>
              <a:pathLst>
                <a:path w="2905125" h="9525">
                  <a:moveTo>
                    <a:pt x="0" y="0"/>
                  </a:moveTo>
                  <a:lnTo>
                    <a:pt x="2905125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26292" y="29617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典型场景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25340" y="31632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维护标准、管理数据与模型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26292" y="34951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典型流程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4652962" y="3795712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78692" y="376189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维护分级标准 / 价格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652962" y="4024312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78692" y="3990499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管理样本库 → 切换模型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4652962" y="4252912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78692" y="42190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查看操作日志与统计看板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058150" y="1619250"/>
            <a:ext cx="3552825" cy="2857500"/>
            <a:chOff x="8058150" y="1619250"/>
            <a:chExt cx="3552825" cy="2857500"/>
          </a:xfrm>
        </p:grpSpPr>
        <p:sp>
          <p:nvSpPr>
            <p:cNvPr id="46" name="Rectangle 46"/>
            <p:cNvSpPr/>
            <p:nvPr/>
          </p:nvSpPr>
          <p:spPr>
            <a:xfrm>
              <a:off x="8058150" y="1619250"/>
              <a:ext cx="3552825" cy="2857500"/>
            </a:xfrm>
            <a:prstGeom prst="roundRect">
              <a:avLst>
                <a:gd name="adj" fmla="val 666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686800" y="1619250"/>
              <a:ext cx="2286000" cy="476250"/>
            </a:xfrm>
            <a:custGeom>
              <a:avLst/>
              <a:gdLst/>
              <a:ahLst/>
              <a:cxnLst/>
              <a:rect l="l" t="t" r="r" b="b"/>
              <a:pathLst>
                <a:path w="2286000" h="476250">
                  <a:moveTo>
                    <a:pt x="238125" y="0"/>
                  </a:moveTo>
                  <a:lnTo>
                    <a:pt x="2047875" y="0"/>
                  </a:lnTo>
                  <a:cubicBezTo>
                    <a:pt x="2179388" y="0"/>
                    <a:pt x="2286000" y="106612"/>
                    <a:pt x="2286000" y="238125"/>
                  </a:cubicBezTo>
                  <a:lnTo>
                    <a:pt x="2286000" y="476250"/>
                  </a:lnTo>
                  <a:lnTo>
                    <a:pt x="0" y="476250"/>
                  </a:lnTo>
                  <a:lnTo>
                    <a:pt x="0" y="238125"/>
                  </a:lnTo>
                  <a:cubicBezTo>
                    <a:pt x="0" y="106612"/>
                    <a:pt x="106612" y="0"/>
                    <a:pt x="238125" y="0"/>
                  </a:cubicBezTo>
                  <a:close/>
                </a:path>
              </a:pathLst>
            </a:custGeom>
            <a:solidFill>
              <a:srgbClr val="F2811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25919" y="1787842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评委 / 观众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229600" y="2266950"/>
              <a:ext cx="3209925" cy="20574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417719" y="2474119"/>
              <a:ext cx="214312" cy="214313"/>
              <a:chOff x="8417719" y="2474119"/>
              <a:chExt cx="214312" cy="21431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441531" y="24741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417719" y="26169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572500" y="24756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596312" y="26187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730615" y="252507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间接用户（现场演示）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382000" y="2819400"/>
              <a:ext cx="2905125" cy="9525"/>
            </a:xfrm>
            <a:custGeom>
              <a:avLst/>
              <a:gdLst/>
              <a:ahLst/>
              <a:cxnLst/>
              <a:rect l="l" t="t" r="r" b="b"/>
              <a:pathLst>
                <a:path w="2905125" h="9525">
                  <a:moveTo>
                    <a:pt x="0" y="0"/>
                  </a:moveTo>
                  <a:lnTo>
                    <a:pt x="2905125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69618" y="29617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典型场景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68665" y="31632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答辩现场实时演示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69618" y="349519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关注点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8396288" y="3795712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522018" y="37618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实拍秒级检测效果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8396288" y="4024312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22018" y="39904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批量处理与统计图表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8396288" y="4252912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522018" y="42190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一键报告导出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571500" y="4743450"/>
            <a:ext cx="11001375" cy="1333500"/>
            <a:chOff x="571500" y="4743450"/>
            <a:chExt cx="11001375" cy="1333500"/>
          </a:xfrm>
        </p:grpSpPr>
        <p:sp>
          <p:nvSpPr>
            <p:cNvPr id="67" name="Rectangle 67"/>
            <p:cNvSpPr/>
            <p:nvPr/>
          </p:nvSpPr>
          <p:spPr>
            <a:xfrm>
              <a:off x="571500" y="4743450"/>
              <a:ext cx="11001375" cy="1333500"/>
            </a:xfrm>
            <a:prstGeom prst="roundRect">
              <a:avLst>
                <a:gd name="adj" fmla="val 10000"/>
              </a:avLst>
            </a:prstGeom>
            <a:solidFill>
              <a:srgbClr val="0E7C66">
                <a:alpha val="6000"/>
              </a:srgbClr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71500" y="474345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23912" y="4907756"/>
              <a:ext cx="20999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主场景 · 质检员现场使用旅程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2400300" y="5429250"/>
              <a:ext cx="7600950" cy="114300"/>
              <a:chOff x="2400300" y="5429250"/>
              <a:chExt cx="7600950" cy="1143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2400300" y="5429250"/>
                <a:ext cx="7429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114300">
                    <a:moveTo>
                      <a:pt x="0" y="57150"/>
                    </a:moveTo>
                    <a:lnTo>
                      <a:pt x="742950" y="57150"/>
                    </a:lnTo>
                    <a:moveTo>
                      <a:pt x="647700" y="0"/>
                    </a:moveTo>
                    <a:lnTo>
                      <a:pt x="742950" y="57150"/>
                    </a:lnTo>
                    <a:lnTo>
                      <a:pt x="647700" y="114300"/>
                    </a:lnTo>
                  </a:path>
                </a:pathLst>
              </a:custGeom>
              <a:noFill/>
              <a:ln w="19050" cap="rnd">
                <a:solidFill>
                  <a:srgbClr val="0E7C66">
                    <a:alpha val="50000"/>
                  </a:srgbClr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4686300" y="5429250"/>
                <a:ext cx="7429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114300">
                    <a:moveTo>
                      <a:pt x="0" y="57150"/>
                    </a:moveTo>
                    <a:lnTo>
                      <a:pt x="742950" y="57150"/>
                    </a:lnTo>
                    <a:moveTo>
                      <a:pt x="647700" y="0"/>
                    </a:moveTo>
                    <a:lnTo>
                      <a:pt x="742950" y="57150"/>
                    </a:lnTo>
                    <a:lnTo>
                      <a:pt x="647700" y="114300"/>
                    </a:lnTo>
                  </a:path>
                </a:pathLst>
              </a:custGeom>
              <a:noFill/>
              <a:ln w="19050" cap="rnd">
                <a:solidFill>
                  <a:srgbClr val="0E7C66">
                    <a:alpha val="50000"/>
                  </a:srgbClr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972300" y="5429250"/>
                <a:ext cx="7429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114300">
                    <a:moveTo>
                      <a:pt x="0" y="57150"/>
                    </a:moveTo>
                    <a:lnTo>
                      <a:pt x="742950" y="57150"/>
                    </a:lnTo>
                    <a:moveTo>
                      <a:pt x="647700" y="0"/>
                    </a:moveTo>
                    <a:lnTo>
                      <a:pt x="742950" y="57150"/>
                    </a:lnTo>
                    <a:lnTo>
                      <a:pt x="647700" y="114300"/>
                    </a:lnTo>
                  </a:path>
                </a:pathLst>
              </a:custGeom>
              <a:noFill/>
              <a:ln w="19050" cap="rnd">
                <a:solidFill>
                  <a:srgbClr val="0E7C66">
                    <a:alpha val="50000"/>
                  </a:srgbClr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258300" y="5429250"/>
                <a:ext cx="7429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114300">
                    <a:moveTo>
                      <a:pt x="0" y="57150"/>
                    </a:moveTo>
                    <a:lnTo>
                      <a:pt x="742950" y="57150"/>
                    </a:lnTo>
                    <a:moveTo>
                      <a:pt x="647700" y="0"/>
                    </a:moveTo>
                    <a:lnTo>
                      <a:pt x="742950" y="57150"/>
                    </a:lnTo>
                    <a:lnTo>
                      <a:pt x="647700" y="114300"/>
                    </a:lnTo>
                  </a:path>
                </a:pathLst>
              </a:custGeom>
              <a:noFill/>
              <a:ln w="19050" cap="rnd">
                <a:solidFill>
                  <a:srgbClr val="0E7C66">
                    <a:alpha val="50000"/>
                  </a:srgbClr>
                </a:solidFill>
              </a:ln>
            </p:spPr>
          </p:sp>
        </p:grpSp>
        <p:grpSp>
          <p:nvGrpSpPr>
            <p:cNvPr id="81" name="Group 81"/>
            <p:cNvGrpSpPr/>
            <p:nvPr/>
          </p:nvGrpSpPr>
          <p:grpSpPr>
            <a:xfrm>
              <a:off x="1190816" y="5238750"/>
              <a:ext cx="856869" cy="778669"/>
              <a:chOff x="1190816" y="5238750"/>
              <a:chExt cx="856869" cy="778669"/>
            </a:xfrm>
          </p:grpSpPr>
          <p:sp>
            <p:nvSpPr>
              <p:cNvPr id="75" name="Ellipse 75"/>
              <p:cNvSpPr/>
              <p:nvPr/>
            </p:nvSpPr>
            <p:spPr>
              <a:xfrm>
                <a:off x="1371600" y="5238750"/>
                <a:ext cx="495300" cy="49530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552575" y="5386388"/>
                <a:ext cx="133350" cy="200025"/>
                <a:chOff x="1552575" y="5386388"/>
                <a:chExt cx="133350" cy="200025"/>
              </a:xfrm>
            </p:grpSpPr>
            <p:sp>
              <p:nvSpPr>
                <p:cNvPr id="76" name="Freeform 76"/>
                <p:cNvSpPr/>
                <p:nvPr/>
              </p:nvSpPr>
              <p:spPr>
                <a:xfrm>
                  <a:off x="1552575" y="5386388"/>
                  <a:ext cx="1333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20002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77800"/>
                      </a:lnTo>
                      <a:cubicBezTo>
                        <a:pt x="133350" y="190075"/>
                        <a:pt x="123400" y="200025"/>
                        <a:pt x="111125" y="200025"/>
                      </a:cubicBez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608138" y="5397500"/>
                  <a:ext cx="222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9525">
                      <a:moveTo>
                        <a:pt x="0" y="0"/>
                      </a:moveTo>
                      <a:lnTo>
                        <a:pt x="2222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619250" y="554196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190816" y="5819299"/>
                <a:ext cx="8568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微信扫码进 H5</a:t>
                </a: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3428059" y="5238750"/>
              <a:ext cx="954381" cy="778669"/>
              <a:chOff x="3428059" y="5238750"/>
              <a:chExt cx="954381" cy="778669"/>
            </a:xfrm>
          </p:grpSpPr>
          <p:sp>
            <p:nvSpPr>
              <p:cNvPr id="82" name="Ellipse 82"/>
              <p:cNvSpPr/>
              <p:nvPr/>
            </p:nvSpPr>
            <p:spPr>
              <a:xfrm>
                <a:off x="3657600" y="5238750"/>
                <a:ext cx="495300" cy="49530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grpSp>
            <p:nvGrpSpPr>
              <p:cNvPr id="85" name="Group 85"/>
              <p:cNvGrpSpPr/>
              <p:nvPr/>
            </p:nvGrpSpPr>
            <p:grpSpPr>
              <a:xfrm>
                <a:off x="3805238" y="5397500"/>
                <a:ext cx="200025" cy="177800"/>
                <a:chOff x="3805238" y="5397500"/>
                <a:chExt cx="200025" cy="177800"/>
              </a:xfrm>
            </p:grpSpPr>
            <p:sp>
              <p:nvSpPr>
                <p:cNvPr id="83" name="Freeform 83"/>
                <p:cNvSpPr/>
                <p:nvPr/>
              </p:nvSpPr>
              <p:spPr>
                <a:xfrm>
                  <a:off x="3805238" y="5397500"/>
                  <a:ext cx="200025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77800">
                      <a:moveTo>
                        <a:pt x="22225" y="33338"/>
                      </a:moveTo>
                      <a:lnTo>
                        <a:pt x="33338" y="33338"/>
                      </a:lnTo>
                      <a:cubicBezTo>
                        <a:pt x="45612" y="33338"/>
                        <a:pt x="55562" y="23387"/>
                        <a:pt x="55562" y="11113"/>
                      </a:cubicBezTo>
                      <a:cubicBezTo>
                        <a:pt x="55562" y="4975"/>
                        <a:pt x="60538" y="0"/>
                        <a:pt x="66675" y="0"/>
                      </a:cubicBezTo>
                      <a:lnTo>
                        <a:pt x="133350" y="0"/>
                      </a:lnTo>
                      <a:cubicBezTo>
                        <a:pt x="139487" y="0"/>
                        <a:pt x="144463" y="4975"/>
                        <a:pt x="144463" y="11113"/>
                      </a:cubicBezTo>
                      <a:cubicBezTo>
                        <a:pt x="144463" y="23387"/>
                        <a:pt x="154413" y="33338"/>
                        <a:pt x="166688" y="33338"/>
                      </a:cubicBezTo>
                      <a:lnTo>
                        <a:pt x="177800" y="33338"/>
                      </a:lnTo>
                      <a:cubicBezTo>
                        <a:pt x="190075" y="33338"/>
                        <a:pt x="200025" y="43288"/>
                        <a:pt x="200025" y="55563"/>
                      </a:cubicBezTo>
                      <a:lnTo>
                        <a:pt x="200025" y="155575"/>
                      </a:lnTo>
                      <a:cubicBezTo>
                        <a:pt x="200025" y="167850"/>
                        <a:pt x="190075" y="177800"/>
                        <a:pt x="177800" y="177800"/>
                      </a:cubicBezTo>
                      <a:lnTo>
                        <a:pt x="22225" y="177800"/>
                      </a:lnTo>
                      <a:cubicBezTo>
                        <a:pt x="9950" y="177800"/>
                        <a:pt x="0" y="167850"/>
                        <a:pt x="0" y="155575"/>
                      </a:cubicBezTo>
                      <a:lnTo>
                        <a:pt x="0" y="55563"/>
                      </a:lnTo>
                      <a:cubicBezTo>
                        <a:pt x="0" y="43288"/>
                        <a:pt x="9950" y="33338"/>
                        <a:pt x="22225" y="3333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3871912" y="5464175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86" name="TextBox 86"/>
              <p:cNvSpPr txBox="1"/>
              <p:nvPr/>
            </p:nvSpPr>
            <p:spPr>
              <a:xfrm>
                <a:off x="3428059" y="5819299"/>
                <a:ext cx="9543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拍照 / 批量上传</a:t>
                </a: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5714059" y="5238750"/>
              <a:ext cx="954381" cy="778669"/>
              <a:chOff x="5714059" y="5238750"/>
              <a:chExt cx="954381" cy="778669"/>
            </a:xfrm>
          </p:grpSpPr>
          <p:sp>
            <p:nvSpPr>
              <p:cNvPr id="88" name="Ellipse 88"/>
              <p:cNvSpPr/>
              <p:nvPr/>
            </p:nvSpPr>
            <p:spPr>
              <a:xfrm>
                <a:off x="5943600" y="5238750"/>
                <a:ext cx="495300" cy="49530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grpSp>
            <p:nvGrpSpPr>
              <p:cNvPr id="92" name="Group 92"/>
              <p:cNvGrpSpPr/>
              <p:nvPr/>
            </p:nvGrpSpPr>
            <p:grpSpPr>
              <a:xfrm>
                <a:off x="6091238" y="5419725"/>
                <a:ext cx="200025" cy="166687"/>
                <a:chOff x="6091238" y="5419725"/>
                <a:chExt cx="200025" cy="166687"/>
              </a:xfrm>
            </p:grpSpPr>
            <p:sp>
              <p:nvSpPr>
                <p:cNvPr id="89" name="Freeform 89"/>
                <p:cNvSpPr/>
                <p:nvPr/>
              </p:nvSpPr>
              <p:spPr>
                <a:xfrm>
                  <a:off x="6169025" y="54641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6091238" y="5419725"/>
                  <a:ext cx="200025" cy="132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2872">
                      <a:moveTo>
                        <a:pt x="90033" y="132872"/>
                      </a:moveTo>
                      <a:cubicBezTo>
                        <a:pt x="54429" y="129461"/>
                        <a:pt x="24425" y="107380"/>
                        <a:pt x="0" y="66675"/>
                      </a:cubicBezTo>
                      <a:cubicBezTo>
                        <a:pt x="26670" y="22225"/>
                        <a:pt x="60007" y="0"/>
                        <a:pt x="100012" y="0"/>
                      </a:cubicBezTo>
                      <a:cubicBezTo>
                        <a:pt x="140018" y="0"/>
                        <a:pt x="173355" y="22225"/>
                        <a:pt x="200025" y="66675"/>
                      </a:cubicBezTo>
                      <a:cubicBezTo>
                        <a:pt x="197690" y="70574"/>
                        <a:pt x="195233" y="74399"/>
                        <a:pt x="192657" y="7814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6224588" y="5541962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93" name="TextBox 93"/>
              <p:cNvSpPr txBox="1"/>
              <p:nvPr/>
            </p:nvSpPr>
            <p:spPr>
              <a:xfrm>
                <a:off x="5714059" y="5819299"/>
                <a:ext cx="9543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秒级等级 + 缺陷</a:t>
                </a: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7870043" y="5238750"/>
              <a:ext cx="1214414" cy="778669"/>
              <a:chOff x="7870043" y="5238750"/>
              <a:chExt cx="1214414" cy="778669"/>
            </a:xfrm>
          </p:grpSpPr>
          <p:sp>
            <p:nvSpPr>
              <p:cNvPr id="95" name="Ellipse 95"/>
              <p:cNvSpPr/>
              <p:nvPr/>
            </p:nvSpPr>
            <p:spPr>
              <a:xfrm>
                <a:off x="8229600" y="5238750"/>
                <a:ext cx="495300" cy="49530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grpSp>
            <p:nvGrpSpPr>
              <p:cNvPr id="100" name="Group 100"/>
              <p:cNvGrpSpPr/>
              <p:nvPr/>
            </p:nvGrpSpPr>
            <p:grpSpPr>
              <a:xfrm>
                <a:off x="8377238" y="5397500"/>
                <a:ext cx="200025" cy="187325"/>
                <a:chOff x="8377238" y="5397500"/>
                <a:chExt cx="200025" cy="187325"/>
              </a:xfrm>
            </p:grpSpPr>
            <p:sp>
              <p:nvSpPr>
                <p:cNvPr id="96" name="Freeform 96"/>
                <p:cNvSpPr/>
                <p:nvPr/>
              </p:nvSpPr>
              <p:spPr>
                <a:xfrm>
                  <a:off x="8377238" y="5486400"/>
                  <a:ext cx="6667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88900">
                      <a:moveTo>
                        <a:pt x="0" y="11112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2"/>
                      </a:cubicBezTo>
                      <a:lnTo>
                        <a:pt x="66675" y="77787"/>
                      </a:lnTo>
                      <a:cubicBezTo>
                        <a:pt x="66675" y="83925"/>
                        <a:pt x="61700" y="88900"/>
                        <a:pt x="55563" y="88900"/>
                      </a:cubicBezTo>
                      <a:lnTo>
                        <a:pt x="11112" y="88900"/>
                      </a:lnTo>
                      <a:cubicBezTo>
                        <a:pt x="4975" y="88900"/>
                        <a:pt x="0" y="83925"/>
                        <a:pt x="0" y="77787"/>
                      </a:cubicBezTo>
                      <a:lnTo>
                        <a:pt x="0" y="111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7" name="Freeform 97"/>
                <p:cNvSpPr/>
                <p:nvPr/>
              </p:nvSpPr>
              <p:spPr>
                <a:xfrm>
                  <a:off x="8510588" y="5441950"/>
                  <a:ext cx="6667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33350">
                      <a:moveTo>
                        <a:pt x="0" y="11112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2"/>
                      </a:cubicBezTo>
                      <a:lnTo>
                        <a:pt x="66675" y="122237"/>
                      </a:lnTo>
                      <a:cubicBezTo>
                        <a:pt x="66675" y="128375"/>
                        <a:pt x="61700" y="133350"/>
                        <a:pt x="55563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7"/>
                      </a:cubicBezTo>
                      <a:lnTo>
                        <a:pt x="0" y="111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8443912" y="5397500"/>
                  <a:ext cx="66675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7780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166688"/>
                      </a:lnTo>
                      <a:cubicBezTo>
                        <a:pt x="66675" y="172825"/>
                        <a:pt x="61700" y="177800"/>
                        <a:pt x="55563" y="177800"/>
                      </a:cubicBezTo>
                      <a:lnTo>
                        <a:pt x="11112" y="177800"/>
                      </a:lnTo>
                      <a:cubicBezTo>
                        <a:pt x="4975" y="177800"/>
                        <a:pt x="0" y="172825"/>
                        <a:pt x="0" y="1666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9" name="Freeform 99"/>
                <p:cNvSpPr/>
                <p:nvPr/>
              </p:nvSpPr>
              <p:spPr>
                <a:xfrm>
                  <a:off x="8388350" y="5575300"/>
                  <a:ext cx="155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9525">
                      <a:moveTo>
                        <a:pt x="0" y="0"/>
                      </a:moveTo>
                      <a:lnTo>
                        <a:pt x="1555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01" name="TextBox 101"/>
              <p:cNvSpPr txBox="1"/>
              <p:nvPr/>
            </p:nvSpPr>
            <p:spPr>
              <a:xfrm>
                <a:off x="7870043" y="5819299"/>
                <a:ext cx="12144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按等级计数 + 参考价</a:t>
                </a: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10360819" y="5238750"/>
              <a:ext cx="804862" cy="778669"/>
              <a:chOff x="10360819" y="5238750"/>
              <a:chExt cx="804862" cy="778669"/>
            </a:xfrm>
          </p:grpSpPr>
          <p:sp>
            <p:nvSpPr>
              <p:cNvPr id="103" name="Ellipse 103"/>
              <p:cNvSpPr/>
              <p:nvPr/>
            </p:nvSpPr>
            <p:spPr>
              <a:xfrm>
                <a:off x="10515600" y="5238750"/>
                <a:ext cx="495300" cy="495300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grpSp>
            <p:nvGrpSpPr>
              <p:cNvPr id="109" name="Group 109"/>
              <p:cNvGrpSpPr/>
              <p:nvPr/>
            </p:nvGrpSpPr>
            <p:grpSpPr>
              <a:xfrm>
                <a:off x="10685462" y="5386388"/>
                <a:ext cx="155576" cy="200025"/>
                <a:chOff x="10685462" y="5386388"/>
                <a:chExt cx="155576" cy="200025"/>
              </a:xfrm>
            </p:grpSpPr>
            <p:sp>
              <p:nvSpPr>
                <p:cNvPr id="104" name="Freeform 104"/>
                <p:cNvSpPr/>
                <p:nvPr/>
              </p:nvSpPr>
              <p:spPr>
                <a:xfrm>
                  <a:off x="10785475" y="5386388"/>
                  <a:ext cx="55563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55563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3"/>
                        <a:pt x="11113" y="55563"/>
                      </a:cubicBezTo>
                      <a:lnTo>
                        <a:pt x="55563" y="555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5" name="Freeform 105"/>
                <p:cNvSpPr/>
                <p:nvPr/>
              </p:nvSpPr>
              <p:spPr>
                <a:xfrm>
                  <a:off x="10685462" y="5386388"/>
                  <a:ext cx="15557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200025">
                      <a:moveTo>
                        <a:pt x="133350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3"/>
                      </a:lnTo>
                      <a:lnTo>
                        <a:pt x="155575" y="177800"/>
                      </a:lnTo>
                      <a:cubicBezTo>
                        <a:pt x="155575" y="190075"/>
                        <a:pt x="145625" y="200025"/>
                        <a:pt x="133350" y="2000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6" name="Freeform 106"/>
                <p:cNvSpPr/>
                <p:nvPr/>
              </p:nvSpPr>
              <p:spPr>
                <a:xfrm>
                  <a:off x="10729912" y="5453062"/>
                  <a:ext cx="1111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3" h="9525">
                      <a:moveTo>
                        <a:pt x="0" y="0"/>
                      </a:moveTo>
                      <a:lnTo>
                        <a:pt x="11113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7" name="Freeform 107"/>
                <p:cNvSpPr/>
                <p:nvPr/>
              </p:nvSpPr>
              <p:spPr>
                <a:xfrm>
                  <a:off x="10729912" y="5497512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8" name="Freeform 108"/>
                <p:cNvSpPr/>
                <p:nvPr/>
              </p:nvSpPr>
              <p:spPr>
                <a:xfrm>
                  <a:off x="10729912" y="5541962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10" name="TextBox 110"/>
              <p:cNvSpPr txBox="1"/>
              <p:nvPr/>
            </p:nvSpPr>
            <p:spPr>
              <a:xfrm>
                <a:off x="10360819" y="58192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导出当批报告</a:t>
                </a:r>
              </a:p>
            </p:txBody>
          </p:sp>
        </p:grpSp>
      </p:grpSp>
      <p:grpSp>
        <p:nvGrpSpPr>
          <p:cNvPr id="115" name="Group 115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113" name="TextBox 113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5" grpId="0"/>
      <p:bldP spid="66" grpId="0"/>
      <p:bldP spid="1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9100"/>
            <a:ext cx="5561052" cy="716756"/>
            <a:chOff x="571500" y="419100"/>
            <a:chExt cx="5561052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70535"/>
              <a:ext cx="503990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需求分析：功能性 + 非功能性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07256"/>
              <a:ext cx="53467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用例图建模参与者与用例，14 项功能需求分组，并明确性能 / 可用性 / 交付约束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57583" y="1315402"/>
            <a:ext cx="4714542" cy="4113848"/>
            <a:chOff x="857583" y="1315402"/>
            <a:chExt cx="4714542" cy="4113848"/>
          </a:xfrm>
        </p:grpSpPr>
        <p:sp>
          <p:nvSpPr>
            <p:cNvPr id="7" name="TextBox 7"/>
            <p:cNvSpPr txBox="1"/>
            <p:nvPr/>
          </p:nvSpPr>
          <p:spPr>
            <a:xfrm>
              <a:off x="1129665" y="131540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用例图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238375" y="1600200"/>
              <a:ext cx="3333750" cy="3829050"/>
            </a:xfrm>
            <a:prstGeom prst="roundRect">
              <a:avLst>
                <a:gd name="adj" fmla="val 3429"/>
              </a:avLst>
            </a:prstGeom>
            <a:noFill/>
            <a:ln w="19050">
              <a:solidFill>
                <a:srgbClr val="0E7C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36560" y="1704499"/>
              <a:ext cx="11373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CitrusVision 系统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52500" y="2228850"/>
              <a:ext cx="381000" cy="742950"/>
              <a:chOff x="952500" y="2228850"/>
              <a:chExt cx="381000" cy="74295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028700" y="2228850"/>
                <a:ext cx="228600" cy="228600"/>
              </a:xfrm>
              <a:prstGeom prst="ellipse">
                <a:avLst/>
              </a:prstGeom>
              <a:solidFill>
                <a:srgbClr val="5B6B73"/>
              </a:solidFill>
              <a:ln>
                <a:noFill/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143000" y="24574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952500" y="25717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009650" y="2781300"/>
                <a:ext cx="1333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0">
                    <a:moveTo>
                      <a:pt x="13335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143000" y="2781300"/>
                <a:ext cx="1333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0">
                    <a:moveTo>
                      <a:pt x="0" y="0"/>
                    </a:moveTo>
                    <a:lnTo>
                      <a:pt x="133350" y="19050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57583" y="30570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普通用户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952500" y="4133850"/>
              <a:ext cx="381000" cy="742950"/>
              <a:chOff x="952500" y="4133850"/>
              <a:chExt cx="381000" cy="74295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028700" y="4133850"/>
                <a:ext cx="228600" cy="228600"/>
              </a:xfrm>
              <a:prstGeom prst="ellipse">
                <a:avLst/>
              </a:prstGeom>
              <a:solidFill>
                <a:srgbClr val="5B6B73"/>
              </a:solidFill>
              <a:ln>
                <a:noFill/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1143000" y="43624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952500" y="44767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1009650" y="4686300"/>
                <a:ext cx="1333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0">
                    <a:moveTo>
                      <a:pt x="13335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1143000" y="4686300"/>
                <a:ext cx="1333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0">
                    <a:moveTo>
                      <a:pt x="0" y="0"/>
                    </a:moveTo>
                    <a:lnTo>
                      <a:pt x="133350" y="19050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925842" y="496204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管理员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1314450" y="2114550"/>
              <a:ext cx="2038350" cy="2857500"/>
              <a:chOff x="1314450" y="2114550"/>
              <a:chExt cx="2038350" cy="2857500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1314450" y="2114550"/>
                <a:ext cx="12763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457200">
                    <a:moveTo>
                      <a:pt x="0" y="457200"/>
                    </a:moveTo>
                    <a:lnTo>
                      <a:pt x="1276350" y="0"/>
                    </a:lnTo>
                  </a:path>
                </a:pathLst>
              </a:custGeom>
              <a:noFill/>
              <a:ln w="12382">
                <a:solidFill>
                  <a:srgbClr val="94A3B8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1314450" y="2619375"/>
                <a:ext cx="12763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161925">
                    <a:moveTo>
                      <a:pt x="0" y="0"/>
                    </a:moveTo>
                    <a:lnTo>
                      <a:pt x="1276350" y="161925"/>
                    </a:lnTo>
                  </a:path>
                </a:pathLst>
              </a:custGeom>
              <a:noFill/>
              <a:ln w="12382">
                <a:solidFill>
                  <a:srgbClr val="94A3B8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1314450" y="2714625"/>
                <a:ext cx="1276350" cy="733425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733425">
                    <a:moveTo>
                      <a:pt x="0" y="0"/>
                    </a:moveTo>
                    <a:lnTo>
                      <a:pt x="1276350" y="733425"/>
                    </a:lnTo>
                  </a:path>
                </a:pathLst>
              </a:custGeom>
              <a:noFill/>
              <a:ln w="12382">
                <a:solidFill>
                  <a:srgbClr val="94A3B8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1314450" y="4352925"/>
                <a:ext cx="12763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123825">
                    <a:moveTo>
                      <a:pt x="0" y="123825"/>
                    </a:moveTo>
                    <a:lnTo>
                      <a:pt x="1276350" y="0"/>
                    </a:lnTo>
                  </a:path>
                </a:pathLst>
              </a:custGeom>
              <a:noFill/>
              <a:ln w="12382">
                <a:solidFill>
                  <a:srgbClr val="94A3B8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1314450" y="4552950"/>
                <a:ext cx="20383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8350" h="419100">
                    <a:moveTo>
                      <a:pt x="0" y="0"/>
                    </a:moveTo>
                    <a:lnTo>
                      <a:pt x="2038350" y="419100"/>
                    </a:lnTo>
                  </a:path>
                </a:pathLst>
              </a:custGeom>
              <a:noFill/>
              <a:ln w="12382">
                <a:solidFill>
                  <a:srgbClr val="94A3B8"/>
                </a:solidFill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2590800" y="1905000"/>
              <a:ext cx="2628900" cy="1752600"/>
              <a:chOff x="2590800" y="1905000"/>
              <a:chExt cx="2628900" cy="175260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2590800" y="1905000"/>
                <a:ext cx="1104900" cy="419100"/>
              </a:xfrm>
              <a:prstGeom prst="ellipse">
                <a:avLst/>
              </a:prstGeom>
              <a:solidFill>
                <a:srgbClr val="0E7C66">
                  <a:alpha val="8000"/>
                </a:srgbClr>
              </a:solidFill>
              <a:ln w="14288">
                <a:solidFill>
                  <a:srgbClr val="0E7C66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2796076" y="2056924"/>
                <a:ext cx="6943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注册 / 登录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114800" y="1905000"/>
                <a:ext cx="1104900" cy="419100"/>
              </a:xfrm>
              <a:prstGeom prst="ellipse">
                <a:avLst/>
              </a:prstGeom>
              <a:solidFill>
                <a:srgbClr val="0E7C66">
                  <a:alpha val="8000"/>
                </a:srgbClr>
              </a:solidFill>
              <a:ln w="14288">
                <a:solidFill>
                  <a:srgbClr val="0E7C66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394835" y="20569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图像上传</a:t>
                </a: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2590800" y="2571750"/>
                <a:ext cx="1104900" cy="419100"/>
              </a:xfrm>
              <a:prstGeom prst="ellipse">
                <a:avLst/>
              </a:prstGeom>
              <a:solidFill>
                <a:srgbClr val="0E7C66">
                  <a:alpha val="8000"/>
                </a:srgbClr>
              </a:solidFill>
              <a:ln w="14288">
                <a:solidFill>
                  <a:srgbClr val="0E7C66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2870835" y="27236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缺陷检测</a:t>
                </a: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4114800" y="2571750"/>
                <a:ext cx="1104900" cy="419100"/>
              </a:xfrm>
              <a:prstGeom prst="ellipse">
                <a:avLst/>
              </a:prstGeom>
              <a:solidFill>
                <a:srgbClr val="0E7C66">
                  <a:alpha val="8000"/>
                </a:srgbClr>
              </a:solidFill>
              <a:ln w="14288">
                <a:solidFill>
                  <a:srgbClr val="0E7C66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394835" y="27236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品质分级</a:t>
                </a:r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2590800" y="3238500"/>
                <a:ext cx="1104900" cy="419100"/>
              </a:xfrm>
              <a:prstGeom prst="ellipse">
                <a:avLst/>
              </a:prstGeom>
              <a:solidFill>
                <a:srgbClr val="0E7C66">
                  <a:alpha val="8000"/>
                </a:srgbClr>
              </a:solidFill>
              <a:ln w="14288">
                <a:solidFill>
                  <a:srgbClr val="0E7C66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2805827" y="33904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结果可视化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4114800" y="3238500"/>
                <a:ext cx="1104900" cy="419100"/>
              </a:xfrm>
              <a:prstGeom prst="ellipse">
                <a:avLst/>
              </a:prstGeom>
              <a:solidFill>
                <a:srgbClr val="0E7C66">
                  <a:alpha val="8000"/>
                </a:srgbClr>
              </a:solidFill>
              <a:ln w="14288">
                <a:solidFill>
                  <a:srgbClr val="0E7C6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329827" y="33904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溯源与报表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524250" y="2324100"/>
              <a:ext cx="1143000" cy="342900"/>
              <a:chOff x="3524250" y="2324100"/>
              <a:chExt cx="1143000" cy="342900"/>
            </a:xfrm>
          </p:grpSpPr>
          <p:sp>
            <p:nvSpPr>
              <p:cNvPr id="43" name="Line 43"/>
              <p:cNvSpPr/>
              <p:nvPr/>
            </p:nvSpPr>
            <p:spPr>
              <a:xfrm>
                <a:off x="3524250" y="2324100"/>
                <a:ext cx="11430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342900">
                    <a:moveTo>
                      <a:pt x="1143000" y="0"/>
                    </a:moveTo>
                    <a:lnTo>
                      <a:pt x="0" y="342900"/>
                    </a:lnTo>
                  </a:path>
                </a:pathLst>
              </a:custGeom>
              <a:noFill/>
              <a:ln w="12382">
                <a:solidFill>
                  <a:srgbClr val="F2811D"/>
                </a:solidFill>
                <a:custDash>
                  <a:ds d="384615" sp="230769"/>
                </a:custDash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4572000" y="2324100"/>
                <a:ext cx="952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47650">
                    <a:moveTo>
                      <a:pt x="95250" y="0"/>
                    </a:moveTo>
                    <a:lnTo>
                      <a:pt x="0" y="247650"/>
                    </a:lnTo>
                  </a:path>
                </a:pathLst>
              </a:custGeom>
              <a:noFill/>
              <a:ln w="12382">
                <a:solidFill>
                  <a:srgbClr val="F2811D"/>
                </a:solidFill>
                <a:custDash>
                  <a:ds d="384615" sp="230769"/>
                </a:custDash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3876675" y="2414588"/>
              <a:ext cx="46410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«include»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2590800" y="4143375"/>
              <a:ext cx="2628900" cy="1038225"/>
              <a:chOff x="2590800" y="4143375"/>
              <a:chExt cx="2628900" cy="1038225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2590800" y="4143375"/>
                <a:ext cx="1104900" cy="419100"/>
              </a:xfrm>
              <a:prstGeom prst="ellipse">
                <a:avLst/>
              </a:prstGeom>
              <a:solidFill>
                <a:srgbClr val="F2811D">
                  <a:alpha val="8000"/>
                </a:srgbClr>
              </a:solidFill>
              <a:ln w="14288">
                <a:solidFill>
                  <a:srgbClr val="F2811D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796076" y="4295299"/>
                <a:ext cx="6943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标准 / 价格</a:t>
                </a: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4114800" y="4143375"/>
                <a:ext cx="1104900" cy="419100"/>
              </a:xfrm>
              <a:prstGeom prst="ellipse">
                <a:avLst/>
              </a:prstGeom>
              <a:solidFill>
                <a:srgbClr val="F2811D">
                  <a:alpha val="8000"/>
                </a:srgbClr>
              </a:solidFill>
              <a:ln w="14288">
                <a:solidFill>
                  <a:srgbClr val="F2811D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394835" y="42952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模型管理</a:t>
                </a:r>
              </a:p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3352800" y="4762500"/>
                <a:ext cx="1104900" cy="419100"/>
              </a:xfrm>
              <a:prstGeom prst="ellipse">
                <a:avLst/>
              </a:prstGeom>
              <a:solidFill>
                <a:srgbClr val="F2811D">
                  <a:alpha val="8000"/>
                </a:srgbClr>
              </a:solidFill>
              <a:ln w="14288">
                <a:solidFill>
                  <a:srgbClr val="F2811D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3567827" y="49144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统计与日志</a:t>
                </a:r>
              </a:p>
            </p:txBody>
          </p:sp>
        </p:grpSp>
      </p:grpSp>
      <p:grpSp>
        <p:nvGrpSpPr>
          <p:cNvPr id="102" name="Group 102"/>
          <p:cNvGrpSpPr/>
          <p:nvPr/>
        </p:nvGrpSpPr>
        <p:grpSpPr>
          <a:xfrm>
            <a:off x="6749415" y="1315402"/>
            <a:ext cx="4823460" cy="4266248"/>
            <a:chOff x="6749415" y="1315402"/>
            <a:chExt cx="4823460" cy="4266248"/>
          </a:xfrm>
        </p:grpSpPr>
        <p:sp>
          <p:nvSpPr>
            <p:cNvPr id="55" name="TextBox 55"/>
            <p:cNvSpPr txBox="1"/>
            <p:nvPr/>
          </p:nvSpPr>
          <p:spPr>
            <a:xfrm>
              <a:off x="6749415" y="1315402"/>
              <a:ext cx="1849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需求规格（14 FR + 非功能）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762750" y="1543050"/>
              <a:ext cx="4810125" cy="952500"/>
              <a:chOff x="6762750" y="1543050"/>
              <a:chExt cx="4810125" cy="9525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762750" y="1543050"/>
                <a:ext cx="4810125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4F7F6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6762750" y="1543050"/>
                <a:ext cx="5715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0E7C66"/>
              </a:solidFill>
              <a:ln>
                <a:noFill/>
              </a:ln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6979444" y="1747838"/>
                <a:ext cx="157163" cy="130968"/>
                <a:chOff x="6979444" y="1747838"/>
                <a:chExt cx="157163" cy="130968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7040562" y="1782762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3"/>
                      </a:moveTo>
                      <a:cubicBezTo>
                        <a:pt x="0" y="27107"/>
                        <a:pt x="7818" y="34925"/>
                        <a:pt x="17463" y="34925"/>
                      </a:cubicBezTo>
                      <a:cubicBezTo>
                        <a:pt x="27107" y="34925"/>
                        <a:pt x="34925" y="27107"/>
                        <a:pt x="34925" y="17463"/>
                      </a:cubicBezTo>
                      <a:cubicBezTo>
                        <a:pt x="34925" y="7818"/>
                        <a:pt x="27107" y="0"/>
                        <a:pt x="17463" y="0"/>
                      </a:cubicBezTo>
                      <a:cubicBezTo>
                        <a:pt x="7818" y="0"/>
                        <a:pt x="0" y="7818"/>
                        <a:pt x="0" y="17463"/>
                      </a:cubicBez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6979444" y="1747838"/>
                  <a:ext cx="157162" cy="10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04400">
                      <a:moveTo>
                        <a:pt x="70741" y="104400"/>
                      </a:moveTo>
                      <a:cubicBezTo>
                        <a:pt x="42766" y="101719"/>
                        <a:pt x="19191" y="84370"/>
                        <a:pt x="0" y="52388"/>
                      </a:cubicBezTo>
                      <a:cubicBezTo>
                        <a:pt x="20955" y="17463"/>
                        <a:pt x="47149" y="0"/>
                        <a:pt x="78581" y="0"/>
                      </a:cubicBezTo>
                      <a:cubicBezTo>
                        <a:pt x="110014" y="0"/>
                        <a:pt x="136207" y="17463"/>
                        <a:pt x="157162" y="52388"/>
                      </a:cubicBezTo>
                      <a:cubicBezTo>
                        <a:pt x="155328" y="55451"/>
                        <a:pt x="153397" y="58456"/>
                        <a:pt x="151374" y="61398"/>
                      </a:cubicBez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7084219" y="1843881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2"/>
                      </a:moveTo>
                      <a:lnTo>
                        <a:pt x="17463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7224712" y="1735931"/>
                <a:ext cx="13517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 xml:space="preserve">检测核心 </a:t>
                </a:r>
                <a:r>
                  <a:rPr lang="zh-CN" sz="900" b="1" dirty="0">
                    <a:solidFill>
                      <a:srgbClr val="0E7C66"/>
                    </a:solidFill>
                    <a:latin typeface="Arial"/>
                    <a:ea typeface="Microsoft YaHei"/>
                    <a:cs typeface="Arial"/>
                  </a:rPr>
                  <a:t>P0 · MVP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959918" y="2009299"/>
                <a:ext cx="26835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登录鉴权 · 图像上传 · 预处理（ROI/白平衡）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959918" y="2237899"/>
                <a:ext cx="20140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缺陷检测 · 品质分级 · 结果可视化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6762750" y="2609850"/>
              <a:ext cx="4810125" cy="800100"/>
              <a:chOff x="6762750" y="2609850"/>
              <a:chExt cx="4810125" cy="8001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6762750" y="2609850"/>
                <a:ext cx="4810125" cy="800100"/>
              </a:xfrm>
              <a:prstGeom prst="roundRect">
                <a:avLst>
                  <a:gd name="adj" fmla="val 14286"/>
                </a:avLst>
              </a:prstGeom>
              <a:solidFill>
                <a:srgbClr val="F4F7F6"/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6762750" y="2609850"/>
                <a:ext cx="57150" cy="800100"/>
              </a:xfrm>
              <a:prstGeom prst="roundRect">
                <a:avLst>
                  <a:gd name="adj" fmla="val 50000"/>
                </a:avLst>
              </a:prstGeom>
              <a:solidFill>
                <a:srgbClr val="2E9E5B"/>
              </a:solidFill>
              <a:ln>
                <a:noFill/>
              </a:ln>
            </p:spPr>
          </p:sp>
          <p:grpSp>
            <p:nvGrpSpPr>
              <p:cNvPr id="80" name="Group 80"/>
              <p:cNvGrpSpPr/>
              <p:nvPr/>
            </p:nvGrpSpPr>
            <p:grpSpPr>
              <a:xfrm>
                <a:off x="6988175" y="2797175"/>
                <a:ext cx="149225" cy="149225"/>
                <a:chOff x="6988175" y="2797175"/>
                <a:chExt cx="149225" cy="149225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6988175" y="279717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43656" y="0"/>
                      </a:lnTo>
                      <a:cubicBezTo>
                        <a:pt x="48478" y="0"/>
                        <a:pt x="52388" y="3909"/>
                        <a:pt x="52388" y="8731"/>
                      </a:cubicBezTo>
                      <a:lnTo>
                        <a:pt x="52388" y="43656"/>
                      </a:lnTo>
                      <a:cubicBezTo>
                        <a:pt x="52388" y="48478"/>
                        <a:pt x="48478" y="52388"/>
                        <a:pt x="43656" y="52388"/>
                      </a:cubicBezTo>
                      <a:lnTo>
                        <a:pt x="8731" y="52388"/>
                      </a:lnTo>
                      <a:cubicBezTo>
                        <a:pt x="3909" y="52388"/>
                        <a:pt x="0" y="48478"/>
                        <a:pt x="0" y="43656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7014369" y="291068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87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7075488" y="279717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43656" y="0"/>
                      </a:lnTo>
                      <a:cubicBezTo>
                        <a:pt x="48478" y="0"/>
                        <a:pt x="52388" y="3909"/>
                        <a:pt x="52388" y="8731"/>
                      </a:cubicBezTo>
                      <a:lnTo>
                        <a:pt x="52388" y="43656"/>
                      </a:lnTo>
                      <a:cubicBezTo>
                        <a:pt x="52388" y="48478"/>
                        <a:pt x="48478" y="52388"/>
                        <a:pt x="43656" y="52388"/>
                      </a:cubicBezTo>
                      <a:lnTo>
                        <a:pt x="8731" y="52388"/>
                      </a:lnTo>
                      <a:cubicBezTo>
                        <a:pt x="3909" y="52388"/>
                        <a:pt x="0" y="48478"/>
                        <a:pt x="0" y="43656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7014369" y="282336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87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6988175" y="288448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43656" y="0"/>
                      </a:lnTo>
                      <a:cubicBezTo>
                        <a:pt x="48478" y="0"/>
                        <a:pt x="52388" y="3909"/>
                        <a:pt x="52388" y="8731"/>
                      </a:cubicBezTo>
                      <a:lnTo>
                        <a:pt x="52388" y="43656"/>
                      </a:lnTo>
                      <a:cubicBezTo>
                        <a:pt x="52388" y="48478"/>
                        <a:pt x="48478" y="52388"/>
                        <a:pt x="43656" y="52388"/>
                      </a:cubicBezTo>
                      <a:lnTo>
                        <a:pt x="8731" y="52388"/>
                      </a:lnTo>
                      <a:cubicBezTo>
                        <a:pt x="3909" y="52388"/>
                        <a:pt x="0" y="48478"/>
                        <a:pt x="0" y="43656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7101681" y="282336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87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7075488" y="2884488"/>
                  <a:ext cx="2619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9525">
                      <a:moveTo>
                        <a:pt x="0" y="0"/>
                      </a:moveTo>
                      <a:lnTo>
                        <a:pt x="26194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7127875" y="288448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87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7075488" y="2884488"/>
                  <a:ext cx="9525" cy="26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194">
                      <a:moveTo>
                        <a:pt x="0" y="0"/>
                      </a:moveTo>
                      <a:lnTo>
                        <a:pt x="0" y="26194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7075488" y="2936875"/>
                  <a:ext cx="2619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9525">
                      <a:moveTo>
                        <a:pt x="0" y="0"/>
                      </a:moveTo>
                      <a:lnTo>
                        <a:pt x="26194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7101681" y="2910681"/>
                  <a:ext cx="2619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9525">
                      <a:moveTo>
                        <a:pt x="0" y="0"/>
                      </a:moveTo>
                      <a:lnTo>
                        <a:pt x="26194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7127875" y="2910681"/>
                  <a:ext cx="9525" cy="26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194">
                      <a:moveTo>
                        <a:pt x="0" y="0"/>
                      </a:moveTo>
                      <a:lnTo>
                        <a:pt x="0" y="26194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</p:grpSp>
          <p:sp>
            <p:nvSpPr>
              <p:cNvPr id="81" name="TextBox 81"/>
              <p:cNvSpPr txBox="1"/>
              <p:nvPr/>
            </p:nvSpPr>
            <p:spPr>
              <a:xfrm>
                <a:off x="7224712" y="2802731"/>
                <a:ext cx="13359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 xml:space="preserve">业务增值 </a:t>
                </a:r>
                <a:r>
                  <a:rPr lang="zh-CN" sz="900" b="1" dirty="0">
                    <a:solidFill>
                      <a:srgbClr val="2E9E5B"/>
                    </a:solidFill>
                    <a:latin typeface="Arial"/>
                    <a:ea typeface="Microsoft YaHei"/>
                    <a:cs typeface="Arial"/>
                  </a:rPr>
                  <a:t>P1 · 加分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959918" y="3076099"/>
                <a:ext cx="30736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溯源二维码 · 价格参考 · PDF/Excel 导出 · 样本管理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6762750" y="3524250"/>
              <a:ext cx="4810125" cy="800100"/>
              <a:chOff x="6762750" y="3524250"/>
              <a:chExt cx="4810125" cy="80010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6762750" y="3524250"/>
                <a:ext cx="4810125" cy="800100"/>
              </a:xfrm>
              <a:prstGeom prst="roundRect">
                <a:avLst>
                  <a:gd name="adj" fmla="val 14286"/>
                </a:avLst>
              </a:prstGeom>
              <a:solidFill>
                <a:srgbClr val="F4F7F6"/>
              </a:solidFill>
              <a:ln>
                <a:noFill/>
              </a:ln>
            </p:spPr>
          </p:sp>
          <p:sp>
            <p:nvSpPr>
              <p:cNvPr id="85" name="Rectangle 85"/>
              <p:cNvSpPr/>
              <p:nvPr/>
            </p:nvSpPr>
            <p:spPr>
              <a:xfrm>
                <a:off x="6762750" y="3524250"/>
                <a:ext cx="57150" cy="800100"/>
              </a:xfrm>
              <a:prstGeom prst="roundRect">
                <a:avLst>
                  <a:gd name="adj" fmla="val 50000"/>
                </a:avLst>
              </a:prstGeom>
              <a:solidFill>
                <a:srgbClr val="0A5A49"/>
              </a:solidFill>
              <a:ln>
                <a:noFill/>
              </a:ln>
            </p:spPr>
          </p:sp>
          <p:grpSp>
            <p:nvGrpSpPr>
              <p:cNvPr id="88" name="Group 88"/>
              <p:cNvGrpSpPr/>
              <p:nvPr/>
            </p:nvGrpSpPr>
            <p:grpSpPr>
              <a:xfrm>
                <a:off x="6975611" y="3699011"/>
                <a:ext cx="164829" cy="164829"/>
                <a:chOff x="6975611" y="3699011"/>
                <a:chExt cx="164829" cy="164829"/>
              </a:xfrm>
            </p:grpSpPr>
            <p:sp>
              <p:nvSpPr>
                <p:cNvPr id="86" name="Freeform 86"/>
                <p:cNvSpPr/>
                <p:nvPr/>
              </p:nvSpPr>
              <p:spPr>
                <a:xfrm>
                  <a:off x="6975611" y="3699011"/>
                  <a:ext cx="164829" cy="164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829" h="164829">
                      <a:moveTo>
                        <a:pt x="67789" y="15332"/>
                      </a:moveTo>
                      <a:cubicBezTo>
                        <a:pt x="71509" y="0"/>
                        <a:pt x="93320" y="0"/>
                        <a:pt x="97039" y="15332"/>
                      </a:cubicBezTo>
                      <a:cubicBezTo>
                        <a:pt x="98171" y="20004"/>
                        <a:pt x="101466" y="23854"/>
                        <a:pt x="105907" y="25694"/>
                      </a:cubicBezTo>
                      <a:cubicBezTo>
                        <a:pt x="110348" y="27534"/>
                        <a:pt x="115400" y="27142"/>
                        <a:pt x="119505" y="24640"/>
                      </a:cubicBezTo>
                      <a:cubicBezTo>
                        <a:pt x="132977" y="16432"/>
                        <a:pt x="148405" y="31852"/>
                        <a:pt x="140198" y="45333"/>
                      </a:cubicBezTo>
                      <a:cubicBezTo>
                        <a:pt x="137699" y="49435"/>
                        <a:pt x="137308" y="54484"/>
                        <a:pt x="139146" y="58922"/>
                      </a:cubicBezTo>
                      <a:cubicBezTo>
                        <a:pt x="140984" y="63360"/>
                        <a:pt x="144829" y="66654"/>
                        <a:pt x="149496" y="67789"/>
                      </a:cubicBezTo>
                      <a:cubicBezTo>
                        <a:pt x="164829" y="71509"/>
                        <a:pt x="164829" y="93320"/>
                        <a:pt x="149496" y="97039"/>
                      </a:cubicBezTo>
                      <a:cubicBezTo>
                        <a:pt x="144825" y="98171"/>
                        <a:pt x="140975" y="101466"/>
                        <a:pt x="139135" y="105907"/>
                      </a:cubicBezTo>
                      <a:cubicBezTo>
                        <a:pt x="137295" y="110348"/>
                        <a:pt x="137687" y="115400"/>
                        <a:pt x="140189" y="119505"/>
                      </a:cubicBezTo>
                      <a:cubicBezTo>
                        <a:pt x="148396" y="132977"/>
                        <a:pt x="132977" y="148405"/>
                        <a:pt x="119496" y="140198"/>
                      </a:cubicBezTo>
                      <a:cubicBezTo>
                        <a:pt x="115393" y="137699"/>
                        <a:pt x="110345" y="137308"/>
                        <a:pt x="105907" y="139146"/>
                      </a:cubicBezTo>
                      <a:cubicBezTo>
                        <a:pt x="101469" y="140984"/>
                        <a:pt x="98174" y="144829"/>
                        <a:pt x="97039" y="149496"/>
                      </a:cubicBezTo>
                      <a:cubicBezTo>
                        <a:pt x="93320" y="164829"/>
                        <a:pt x="71509" y="164829"/>
                        <a:pt x="67789" y="149496"/>
                      </a:cubicBezTo>
                      <a:cubicBezTo>
                        <a:pt x="66657" y="144825"/>
                        <a:pt x="63362" y="140975"/>
                        <a:pt x="58922" y="139135"/>
                      </a:cubicBezTo>
                      <a:cubicBezTo>
                        <a:pt x="54481" y="137295"/>
                        <a:pt x="49428" y="137687"/>
                        <a:pt x="45324" y="140189"/>
                      </a:cubicBezTo>
                      <a:cubicBezTo>
                        <a:pt x="31852" y="148396"/>
                        <a:pt x="16423" y="132977"/>
                        <a:pt x="24631" y="119496"/>
                      </a:cubicBezTo>
                      <a:cubicBezTo>
                        <a:pt x="27130" y="115393"/>
                        <a:pt x="27520" y="110345"/>
                        <a:pt x="25683" y="105907"/>
                      </a:cubicBezTo>
                      <a:cubicBezTo>
                        <a:pt x="23845" y="101469"/>
                        <a:pt x="20000" y="98174"/>
                        <a:pt x="15332" y="97039"/>
                      </a:cubicBezTo>
                      <a:cubicBezTo>
                        <a:pt x="0" y="93320"/>
                        <a:pt x="0" y="71509"/>
                        <a:pt x="15332" y="67789"/>
                      </a:cubicBezTo>
                      <a:cubicBezTo>
                        <a:pt x="20004" y="66657"/>
                        <a:pt x="23854" y="63362"/>
                        <a:pt x="25694" y="58922"/>
                      </a:cubicBezTo>
                      <a:cubicBezTo>
                        <a:pt x="27534" y="54481"/>
                        <a:pt x="27142" y="49428"/>
                        <a:pt x="24640" y="45324"/>
                      </a:cubicBezTo>
                      <a:cubicBezTo>
                        <a:pt x="16432" y="31852"/>
                        <a:pt x="31852" y="16423"/>
                        <a:pt x="45333" y="24631"/>
                      </a:cubicBezTo>
                      <a:cubicBezTo>
                        <a:pt x="54064" y="29939"/>
                        <a:pt x="65380" y="25242"/>
                        <a:pt x="67789" y="15332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87" name="Freeform 87"/>
                <p:cNvSpPr/>
                <p:nvPr/>
              </p:nvSpPr>
              <p:spPr>
                <a:xfrm>
                  <a:off x="7031831" y="3755231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26194"/>
                      </a:moveTo>
                      <a:cubicBezTo>
                        <a:pt x="0" y="40660"/>
                        <a:pt x="11727" y="52388"/>
                        <a:pt x="26194" y="52388"/>
                      </a:cubicBezTo>
                      <a:cubicBezTo>
                        <a:pt x="40660" y="52388"/>
                        <a:pt x="52388" y="40660"/>
                        <a:pt x="52388" y="26194"/>
                      </a:cubicBezTo>
                      <a:cubicBezTo>
                        <a:pt x="52388" y="11727"/>
                        <a:pt x="40660" y="0"/>
                        <a:pt x="26194" y="0"/>
                      </a:cubicBezTo>
                      <a:cubicBezTo>
                        <a:pt x="11727" y="0"/>
                        <a:pt x="0" y="11727"/>
                        <a:pt x="0" y="26194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</p:grpSp>
          <p:sp>
            <p:nvSpPr>
              <p:cNvPr id="89" name="TextBox 89"/>
              <p:cNvSpPr txBox="1"/>
              <p:nvPr/>
            </p:nvSpPr>
            <p:spPr>
              <a:xfrm>
                <a:off x="7224712" y="3717131"/>
                <a:ext cx="11942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 xml:space="preserve">系统管理 </a:t>
                </a:r>
                <a:r>
                  <a:rPr lang="zh-CN" sz="90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P1 – P2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6959918" y="3990499"/>
                <a:ext cx="25535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模型管理 · 标准管理 · 操作日志 · 统计看板</a:t>
                </a:r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>
              <a:off x="6762750" y="4438650"/>
              <a:ext cx="4810125" cy="1143000"/>
              <a:chOff x="6762750" y="4438650"/>
              <a:chExt cx="4810125" cy="1143000"/>
            </a:xfrm>
          </p:grpSpPr>
          <p:sp>
            <p:nvSpPr>
              <p:cNvPr id="92" name="Rectangle 92"/>
              <p:cNvSpPr/>
              <p:nvPr/>
            </p:nvSpPr>
            <p:spPr>
              <a:xfrm>
                <a:off x="6762750" y="4438650"/>
                <a:ext cx="4810125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2811D">
                  <a:alpha val="7000"/>
                </a:srgbClr>
              </a:solidFill>
              <a:ln>
                <a:noFill/>
              </a:ln>
            </p:spPr>
          </p:sp>
          <p:sp>
            <p:nvSpPr>
              <p:cNvPr id="93" name="Rectangle 93"/>
              <p:cNvSpPr/>
              <p:nvPr/>
            </p:nvSpPr>
            <p:spPr>
              <a:xfrm>
                <a:off x="6762750" y="4438650"/>
                <a:ext cx="5715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F2811D"/>
              </a:solidFill>
              <a:ln>
                <a:noFill/>
              </a:ln>
            </p:spPr>
          </p:sp>
          <p:grpSp>
            <p:nvGrpSpPr>
              <p:cNvPr id="96" name="Group 96"/>
              <p:cNvGrpSpPr/>
              <p:nvPr/>
            </p:nvGrpSpPr>
            <p:grpSpPr>
              <a:xfrm>
                <a:off x="6967660" y="4617244"/>
                <a:ext cx="170506" cy="157162"/>
                <a:chOff x="6967660" y="4617244"/>
                <a:chExt cx="170506" cy="157162"/>
              </a:xfrm>
            </p:grpSpPr>
            <p:sp>
              <p:nvSpPr>
                <p:cNvPr id="94" name="Freeform 94"/>
                <p:cNvSpPr/>
                <p:nvPr/>
              </p:nvSpPr>
              <p:spPr>
                <a:xfrm>
                  <a:off x="6967660" y="4617244"/>
                  <a:ext cx="170506" cy="155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06" h="155818">
                      <a:moveTo>
                        <a:pt x="85650" y="155818"/>
                      </a:moveTo>
                      <a:cubicBezTo>
                        <a:pt x="30952" y="138863"/>
                        <a:pt x="0" y="81134"/>
                        <a:pt x="16149" y="26194"/>
                      </a:cubicBezTo>
                      <a:cubicBezTo>
                        <a:pt x="43351" y="27439"/>
                        <a:pt x="69970" y="18044"/>
                        <a:pt x="90365" y="0"/>
                      </a:cubicBezTo>
                      <a:cubicBezTo>
                        <a:pt x="110759" y="18044"/>
                        <a:pt x="137378" y="27439"/>
                        <a:pt x="164580" y="26194"/>
                      </a:cubicBezTo>
                      <a:cubicBezTo>
                        <a:pt x="170506" y="46355"/>
                        <a:pt x="170232" y="67833"/>
                        <a:pt x="163794" y="87836"/>
                      </a:cubicBez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5" name="Freeform 95"/>
                <p:cNvSpPr/>
                <p:nvPr/>
              </p:nvSpPr>
              <p:spPr>
                <a:xfrm>
                  <a:off x="7084219" y="4739481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3"/>
                      </a:moveTo>
                      <a:lnTo>
                        <a:pt x="17463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</p:grpSp>
          <p:sp>
            <p:nvSpPr>
              <p:cNvPr id="97" name="TextBox 97"/>
              <p:cNvSpPr txBox="1"/>
              <p:nvPr/>
            </p:nvSpPr>
            <p:spPr>
              <a:xfrm>
                <a:off x="7224712" y="463153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非功能需求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6959918" y="4895374"/>
                <a:ext cx="28331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性能</a:t>
                </a:r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：单张 ≤3s · 批量 10 张 ≤30s · ≥5 并发不崩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6959918" y="5123974"/>
                <a:ext cx="28071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可用性</a:t>
                </a:r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：全中文 · 核心检测 ≤3 步 · H5 适配手机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6959918" y="5352574"/>
                <a:ext cx="30541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：UML 齐全 · 代码注释 · 视频 ≤50M · 规范打包</a:t>
                </a:r>
              </a:p>
            </p:txBody>
          </p:sp>
        </p:grpSp>
      </p:grpSp>
      <p:grpSp>
        <p:nvGrpSpPr>
          <p:cNvPr id="105" name="Group 105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103" name="TextBox 103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10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9100"/>
            <a:ext cx="5591055" cy="716756"/>
            <a:chOff x="571500" y="419100"/>
            <a:chExt cx="5591055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70535"/>
              <a:ext cx="38490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功能模块设计与优先级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07256"/>
              <a:ext cx="53767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12 大模块按 P0 / P1 / P2 分级——先保 MVP 闭环，再向外加分，优先级即风险管理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00200" y="1619250"/>
            <a:ext cx="4419600" cy="4752975"/>
            <a:chOff x="1600200" y="1619250"/>
            <a:chExt cx="4419600" cy="4752975"/>
          </a:xfrm>
        </p:grpSpPr>
        <p:sp>
          <p:nvSpPr>
            <p:cNvPr id="7" name="Ellipse 7"/>
            <p:cNvSpPr/>
            <p:nvPr/>
          </p:nvSpPr>
          <p:spPr>
            <a:xfrm>
              <a:off x="1600200" y="1619250"/>
              <a:ext cx="4419600" cy="4419600"/>
            </a:xfrm>
            <a:prstGeom prst="ellipse">
              <a:avLst/>
            </a:prstGeom>
            <a:solidFill>
              <a:srgbClr val="0E7C66">
                <a:alpha val="5000"/>
              </a:srgbClr>
            </a:solidFill>
            <a:ln w="14288">
              <a:solidFill>
                <a:srgbClr val="CFE3DD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305050" y="2324100"/>
              <a:ext cx="3009900" cy="3009900"/>
            </a:xfrm>
            <a:prstGeom prst="ellipse">
              <a:avLst/>
            </a:prstGeom>
            <a:solidFill>
              <a:srgbClr val="0E7C66">
                <a:alpha val="12000"/>
              </a:srgbClr>
            </a:solidFill>
            <a:ln w="14288">
              <a:solidFill>
                <a:srgbClr val="A9D2C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971800" y="2990850"/>
              <a:ext cx="1676400" cy="1676400"/>
            </a:xfrm>
            <a:prstGeom prst="ellipse">
              <a:avLst/>
            </a:prstGeom>
            <a:gradFill>
              <a:gsLst>
                <a:gs pos="0">
                  <a:srgbClr val="13957C"/>
                </a:gs>
                <a:gs pos="100000">
                  <a:srgbClr val="0A5A49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52400" dist="38100" dir="5400000" algn="ctr" rotWithShape="0">
                <a:srgbClr val="0A5A49">
                  <a:alpha val="2250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3661979" y="355568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44583" y="3868102"/>
              <a:ext cx="9308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FE6D9"/>
                  </a:solidFill>
                  <a:latin typeface="Arial"/>
                  <a:ea typeface="Microsoft YaHei"/>
                  <a:cs typeface="Arial"/>
                </a:rPr>
                <a:t>MVP 核心闭环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533650"/>
              <a:ext cx="76200" cy="7620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46086" y="2714149"/>
              <a:ext cx="727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9E5B"/>
                  </a:solidFill>
                  <a:latin typeface="Arial"/>
                  <a:ea typeface="Microsoft YaHei"/>
                  <a:cs typeface="Arial"/>
                </a:rPr>
                <a:t>P1 加分应做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771900" y="1819275"/>
              <a:ext cx="76200" cy="762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60763" y="1999774"/>
              <a:ext cx="898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P2 有余力扩展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29449" y="6189345"/>
              <a:ext cx="19611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越靠近内核 → 优先级越高、越先实现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24750" y="1543050"/>
            <a:ext cx="4048125" cy="1352550"/>
            <a:chOff x="7524750" y="1543050"/>
            <a:chExt cx="4048125" cy="1352550"/>
          </a:xfrm>
        </p:grpSpPr>
        <p:sp>
          <p:nvSpPr>
            <p:cNvPr id="18" name="Rectangle 18"/>
            <p:cNvSpPr/>
            <p:nvPr/>
          </p:nvSpPr>
          <p:spPr>
            <a:xfrm>
              <a:off x="7524750" y="1543050"/>
              <a:ext cx="4048125" cy="1352550"/>
            </a:xfrm>
            <a:prstGeom prst="roundRect">
              <a:avLst>
                <a:gd name="adj" fmla="val 845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24750" y="154305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40968" y="1742599"/>
              <a:ext cx="898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P0 · MVP 必做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6205" y="19497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核心检测闭环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65621" y="1638300"/>
              <a:ext cx="3072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0E7C66">
                      <a:alphaMod val="18000"/>
                    </a:srgbClr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0968" y="2295049"/>
              <a:ext cx="2683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登录鉴权 · 图像上传 · 图像预处理 · 缺陷检测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0968" y="2542699"/>
              <a:ext cx="2683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品质分级 · 结果可视化 · 记录入库 · 统计看板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24750" y="2990850"/>
            <a:ext cx="4048125" cy="1143000"/>
            <a:chOff x="7524750" y="2990850"/>
            <a:chExt cx="4048125" cy="1143000"/>
          </a:xfrm>
        </p:grpSpPr>
        <p:sp>
          <p:nvSpPr>
            <p:cNvPr id="26" name="Rectangle 26"/>
            <p:cNvSpPr/>
            <p:nvPr/>
          </p:nvSpPr>
          <p:spPr>
            <a:xfrm>
              <a:off x="7524750" y="2990850"/>
              <a:ext cx="4048125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0" y="29908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40968" y="31903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9E5B"/>
                  </a:solidFill>
                  <a:latin typeface="Arial"/>
                  <a:ea typeface="Microsoft YaHei"/>
                  <a:cs typeface="Arial"/>
                </a:rPr>
                <a:t>P1 · 加分应做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6205" y="33975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业务增值功能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65621" y="3086100"/>
              <a:ext cx="3072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2E9E5B">
                      <a:alphaMod val="18000"/>
                    </a:srgbClr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40968" y="3761899"/>
              <a:ext cx="31451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溯源二维码 · 价格参考 · PDF/Excel 导出 · 样本/日志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24750" y="4229100"/>
            <a:ext cx="4048125" cy="1143000"/>
            <a:chOff x="7524750" y="4229100"/>
            <a:chExt cx="4048125" cy="1143000"/>
          </a:xfrm>
        </p:grpSpPr>
        <p:sp>
          <p:nvSpPr>
            <p:cNvPr id="33" name="Rectangle 33"/>
            <p:cNvSpPr/>
            <p:nvPr/>
          </p:nvSpPr>
          <p:spPr>
            <a:xfrm>
              <a:off x="7524750" y="4229100"/>
              <a:ext cx="4048125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  <a:custDash>
                <a:ds d="400000" sp="266666"/>
              </a:custDash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24750" y="42291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40968" y="4428649"/>
              <a:ext cx="1014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P2 · 有余力扩展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36205" y="46358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增强与扩展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65621" y="4324350"/>
              <a:ext cx="3072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94A3B8">
                      <a:alphaMod val="20000"/>
                    </a:srgbClr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0968" y="5000149"/>
              <a:ext cx="30736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模型版本切换 · 人工复核 · 多品类对照 · 缺陷热力图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524750" y="5543550"/>
            <a:ext cx="4472726" cy="552450"/>
            <a:chOff x="7524750" y="5543550"/>
            <a:chExt cx="4472726" cy="552450"/>
          </a:xfrm>
        </p:grpSpPr>
        <p:sp>
          <p:nvSpPr>
            <p:cNvPr id="40" name="Rectangle 40"/>
            <p:cNvSpPr/>
            <p:nvPr/>
          </p:nvSpPr>
          <p:spPr>
            <a:xfrm>
              <a:off x="7524750" y="5543550"/>
              <a:ext cx="4048125" cy="552450"/>
            </a:xfrm>
            <a:prstGeom prst="roundRect">
              <a:avLst>
                <a:gd name="adj" fmla="val 17241"/>
              </a:avLst>
            </a:prstGeom>
            <a:solidFill>
              <a:srgbClr val="F2811D">
                <a:alpha val="8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727156" y="5726906"/>
              <a:ext cx="185738" cy="185737"/>
              <a:chOff x="7727156" y="5726906"/>
              <a:chExt cx="185738" cy="185737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727156" y="5726906"/>
                <a:ext cx="185738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92869">
                    <a:moveTo>
                      <a:pt x="0" y="92869"/>
                    </a:moveTo>
                    <a:lnTo>
                      <a:pt x="10319" y="92869"/>
                    </a:lnTo>
                    <a:moveTo>
                      <a:pt x="92869" y="0"/>
                    </a:moveTo>
                    <a:lnTo>
                      <a:pt x="92869" y="10319"/>
                    </a:lnTo>
                    <a:moveTo>
                      <a:pt x="175419" y="92869"/>
                    </a:moveTo>
                    <a:lnTo>
                      <a:pt x="185738" y="92869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9" y="26829"/>
                    </a:moveTo>
                    <a:lnTo>
                      <a:pt x="151686" y="34052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64056" y="5768181"/>
                <a:ext cx="111938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8" h="144462">
                    <a:moveTo>
                      <a:pt x="25013" y="92869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8" y="56346"/>
                      <a:pt x="104691" y="79544"/>
                      <a:pt x="86925" y="92869"/>
                    </a:cubicBezTo>
                    <a:cubicBezTo>
                      <a:pt x="78754" y="100957"/>
                      <a:pt x="74923" y="112452"/>
                      <a:pt x="76606" y="123825"/>
                    </a:cubicBezTo>
                    <a:cubicBezTo>
                      <a:pt x="76606" y="135223"/>
                      <a:pt x="67367" y="144462"/>
                      <a:pt x="55969" y="144462"/>
                    </a:cubicBezTo>
                    <a:cubicBezTo>
                      <a:pt x="44571" y="144462"/>
                      <a:pt x="35331" y="135223"/>
                      <a:pt x="35331" y="123825"/>
                    </a:cubicBezTo>
                    <a:cubicBezTo>
                      <a:pt x="37015" y="112452"/>
                      <a:pt x="33183" y="100957"/>
                      <a:pt x="25013" y="92869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96292" y="5871369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026718" y="56859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取舍原则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26718" y="5895499"/>
              <a:ext cx="39707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先保 P0 闭环，P1 有余力做，P2 可砍——任何进度都能交出可演示系统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48" name="TextBox 48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5" grpId="0"/>
      <p:bldP spid="32" grpId="0"/>
      <p:bldP spid="39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6008206" cy="697706"/>
            <a:chOff x="571500" y="381000"/>
            <a:chExt cx="6008206" cy="697706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57150" cy="5143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429578"/>
              <a:ext cx="583104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核心业务流程：上传 → 检测结果输出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850106"/>
              <a:ext cx="45441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四角色协同的端到端主流程——后端只编排不推理，算法拆为独立服务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1485900"/>
            <a:ext cx="11001375" cy="3886200"/>
            <a:chOff x="571500" y="1485900"/>
            <a:chExt cx="11001375" cy="3886200"/>
          </a:xfrm>
        </p:grpSpPr>
        <p:sp>
          <p:nvSpPr>
            <p:cNvPr id="7" name="Rectangle 7"/>
            <p:cNvSpPr/>
            <p:nvPr/>
          </p:nvSpPr>
          <p:spPr>
            <a:xfrm>
              <a:off x="571500" y="1485900"/>
              <a:ext cx="11001375" cy="971550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2457450"/>
              <a:ext cx="11001375" cy="971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3429000"/>
              <a:ext cx="11001375" cy="971550"/>
            </a:xfrm>
            <a:prstGeom prst="rect">
              <a:avLst/>
            </a:prstGeom>
            <a:solidFill>
              <a:srgbClr val="FFF7F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4400550"/>
              <a:ext cx="11001375" cy="971550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1485900"/>
              <a:ext cx="11001375" cy="3886200"/>
            </a:xfrm>
            <a:prstGeom prst="rect">
              <a:avLst/>
            </a:prstGeom>
            <a:noFill/>
            <a:ln w="14288">
              <a:solidFill>
                <a:srgbClr val="E2E8E9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714500" y="1485900"/>
              <a:ext cx="9525" cy="3886200"/>
            </a:xfrm>
            <a:custGeom>
              <a:avLst/>
              <a:gdLst/>
              <a:ahLst/>
              <a:cxnLst/>
              <a:rect l="l" t="t" r="r" b="b"/>
              <a:pathLst>
                <a:path w="9525" h="3886200">
                  <a:moveTo>
                    <a:pt x="0" y="0"/>
                  </a:moveTo>
                  <a:lnTo>
                    <a:pt x="0" y="3886200"/>
                  </a:lnTo>
                </a:path>
              </a:pathLst>
            </a:custGeom>
            <a:noFill/>
            <a:ln w="14288">
              <a:solidFill>
                <a:srgbClr val="E2E8E9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00100" y="1876425"/>
              <a:ext cx="114300" cy="171450"/>
              <a:chOff x="800100" y="1876425"/>
              <a:chExt cx="114300" cy="1714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00100" y="1876425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152400"/>
                    </a:lnTo>
                    <a:cubicBezTo>
                      <a:pt x="114300" y="162921"/>
                      <a:pt x="105771" y="171450"/>
                      <a:pt x="95250" y="171450"/>
                    </a:cubicBez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47725" y="18859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7250" y="2009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20041" y="1828324"/>
              <a:ext cx="645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用户/前端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71525" y="2857500"/>
              <a:ext cx="171450" cy="152400"/>
              <a:chOff x="771525" y="2857500"/>
              <a:chExt cx="171450" cy="152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71525" y="2857500"/>
                <a:ext cx="1714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762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47625"/>
                    </a:lnTo>
                    <a:cubicBezTo>
                      <a:pt x="171450" y="63407"/>
                      <a:pt x="158657" y="76200"/>
                      <a:pt x="142875" y="76200"/>
                    </a:cubicBezTo>
                    <a:lnTo>
                      <a:pt x="28575" y="76200"/>
                    </a:lnTo>
                    <a:cubicBezTo>
                      <a:pt x="12793" y="76200"/>
                      <a:pt x="0" y="63407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1525" y="2933700"/>
                <a:ext cx="1714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762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47625"/>
                    </a:lnTo>
                    <a:cubicBezTo>
                      <a:pt x="171450" y="63407"/>
                      <a:pt x="158657" y="76200"/>
                      <a:pt x="142875" y="76200"/>
                    </a:cubicBezTo>
                    <a:lnTo>
                      <a:pt x="28575" y="76200"/>
                    </a:lnTo>
                    <a:cubicBezTo>
                      <a:pt x="12793" y="76200"/>
                      <a:pt x="0" y="63407"/>
                      <a:pt x="0" y="476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09625" y="2895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9625" y="297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878061" y="2799874"/>
              <a:ext cx="5298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后端 API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771525" y="3819525"/>
              <a:ext cx="171450" cy="171450"/>
              <a:chOff x="771525" y="3819525"/>
              <a:chExt cx="171450" cy="1714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90575" y="38385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lnTo>
                      <a:pt x="133350" y="123825"/>
                    </a:lnTo>
                    <a:cubicBezTo>
                      <a:pt x="133350" y="129086"/>
                      <a:pt x="129086" y="133350"/>
                      <a:pt x="1238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8675" y="38766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1525" y="38862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1525" y="39243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38195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6300" y="38195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23925" y="38862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23925" y="39243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6300" y="39719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39719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57583" y="37714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算法服务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781050" y="4791075"/>
              <a:ext cx="152400" cy="171450"/>
              <a:chOff x="781050" y="4791075"/>
              <a:chExt cx="152400" cy="1714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81050" y="479107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81050" y="48196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81050" y="48768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925842" y="4742974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238500" y="1971675"/>
            <a:ext cx="6296025" cy="2600325"/>
            <a:chOff x="3238500" y="1971675"/>
            <a:chExt cx="6296025" cy="2600325"/>
          </a:xfrm>
        </p:grpSpPr>
        <p:sp>
          <p:nvSpPr>
            <p:cNvPr id="42" name="Freeform 42"/>
            <p:cNvSpPr/>
            <p:nvPr/>
          </p:nvSpPr>
          <p:spPr>
            <a:xfrm>
              <a:off x="3238500" y="1971675"/>
              <a:ext cx="266700" cy="971550"/>
            </a:xfrm>
            <a:custGeom>
              <a:avLst/>
              <a:gdLst/>
              <a:ahLst/>
              <a:cxnLst/>
              <a:rect l="l" t="t" r="r" b="b"/>
              <a:pathLst>
                <a:path w="266700" h="971550">
                  <a:moveTo>
                    <a:pt x="0" y="0"/>
                  </a:moveTo>
                  <a:lnTo>
                    <a:pt x="171450" y="0"/>
                  </a:lnTo>
                  <a:lnTo>
                    <a:pt x="171450" y="971550"/>
                  </a:lnTo>
                  <a:lnTo>
                    <a:pt x="266700" y="971550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43" name="Freeform 43"/>
            <p:cNvSpPr/>
            <p:nvPr/>
          </p:nvSpPr>
          <p:spPr>
            <a:xfrm>
              <a:off x="5162550" y="2943225"/>
              <a:ext cx="285750" cy="971550"/>
            </a:xfrm>
            <a:custGeom>
              <a:avLst/>
              <a:gdLst/>
              <a:ahLst/>
              <a:cxnLst/>
              <a:rect l="l" t="t" r="r" b="b"/>
              <a:pathLst>
                <a:path w="285750" h="971550">
                  <a:moveTo>
                    <a:pt x="0" y="0"/>
                  </a:moveTo>
                  <a:lnTo>
                    <a:pt x="171450" y="0"/>
                  </a:lnTo>
                  <a:lnTo>
                    <a:pt x="171450" y="971550"/>
                  </a:lnTo>
                  <a:lnTo>
                    <a:pt x="285750" y="971550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44" name="Freeform 44"/>
            <p:cNvSpPr/>
            <p:nvPr/>
          </p:nvSpPr>
          <p:spPr>
            <a:xfrm>
              <a:off x="8343900" y="2943225"/>
              <a:ext cx="285750" cy="971550"/>
            </a:xfrm>
            <a:custGeom>
              <a:avLst/>
              <a:gdLst/>
              <a:ahLst/>
              <a:cxnLst/>
              <a:rect l="l" t="t" r="r" b="b"/>
              <a:pathLst>
                <a:path w="285750" h="971550">
                  <a:moveTo>
                    <a:pt x="0" y="971550"/>
                  </a:moveTo>
                  <a:lnTo>
                    <a:pt x="171450" y="971550"/>
                  </a:lnTo>
                  <a:lnTo>
                    <a:pt x="171450" y="0"/>
                  </a:ln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45" name="Freeform 45"/>
            <p:cNvSpPr/>
            <p:nvPr/>
          </p:nvSpPr>
          <p:spPr>
            <a:xfrm>
              <a:off x="9525000" y="2286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46" name="Freeform 46"/>
            <p:cNvSpPr/>
            <p:nvPr/>
          </p:nvSpPr>
          <p:spPr>
            <a:xfrm>
              <a:off x="4352925" y="3238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47" name="Freeform 47"/>
            <p:cNvSpPr/>
            <p:nvPr/>
          </p:nvSpPr>
          <p:spPr>
            <a:xfrm>
              <a:off x="9525000" y="3238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771650" y="1695450"/>
            <a:ext cx="8678037" cy="3448050"/>
            <a:chOff x="1771650" y="1695450"/>
            <a:chExt cx="8678037" cy="3448050"/>
          </a:xfrm>
        </p:grpSpPr>
        <p:sp>
          <p:nvSpPr>
            <p:cNvPr id="49" name="Rectangle 49"/>
            <p:cNvSpPr/>
            <p:nvPr/>
          </p:nvSpPr>
          <p:spPr>
            <a:xfrm>
              <a:off x="1771650" y="1695450"/>
              <a:ext cx="1466850" cy="552450"/>
            </a:xfrm>
            <a:prstGeom prst="roundRect">
              <a:avLst>
                <a:gd name="adj" fmla="val 13793"/>
              </a:avLst>
            </a:prstGeom>
            <a:solidFill>
              <a:srgbClr val="0E7C66">
                <a:alpha val="10000"/>
              </a:srgbClr>
            </a:solidFill>
            <a:ln w="14288">
              <a:solidFill>
                <a:srgbClr val="0E7C6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891665" y="18297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① 登录 · 上传图片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93570" y="2036445"/>
              <a:ext cx="1018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拖拽 / 拍照 / 批量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543300" y="2667000"/>
              <a:ext cx="1619250" cy="552450"/>
            </a:xfrm>
            <a:prstGeom prst="roundRect">
              <a:avLst>
                <a:gd name="adj" fmla="val 13793"/>
              </a:avLst>
            </a:prstGeom>
            <a:solidFill>
              <a:srgbClr val="0A5A49">
                <a:alpha val="10000"/>
              </a:srgbClr>
            </a:solidFill>
            <a:ln w="14288">
              <a:solidFill>
                <a:srgbClr val="0A5A49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663315" y="280130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② 校验存图 · 建样本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665220" y="3007995"/>
              <a:ext cx="16130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创建检测任务（processing）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448300" y="3638550"/>
              <a:ext cx="2895600" cy="552450"/>
            </a:xfrm>
            <a:prstGeom prst="roundRect">
              <a:avLst>
                <a:gd name="adj" fmla="val 13793"/>
              </a:avLst>
            </a:prstGeom>
            <a:solidFill>
              <a:srgbClr val="F2811D">
                <a:alpha val="12000"/>
              </a:srgbClr>
            </a:solidFill>
            <a:ln w="14288">
              <a:solidFill>
                <a:srgbClr val="F2811D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587365" y="3772852"/>
              <a:ext cx="19673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③ 调 /infer（算法五步管线）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89270" y="3979545"/>
              <a:ext cx="23391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预处理 → 分割 → YOLOv8 → 特征 → 规则分级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648700" y="2667000"/>
              <a:ext cx="1752600" cy="552450"/>
            </a:xfrm>
            <a:prstGeom prst="roundRect">
              <a:avLst>
                <a:gd name="adj" fmla="val 13793"/>
              </a:avLst>
            </a:prstGeom>
            <a:solidFill>
              <a:srgbClr val="0A5A49">
                <a:alpha val="10000"/>
              </a:srgbClr>
            </a:solidFill>
            <a:ln w="14288">
              <a:solidFill>
                <a:srgbClr val="0A5A49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768715" y="280130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⑤ 写结果 + 缺陷标签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70620" y="3007995"/>
              <a:ext cx="1541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关联价格/溯源 · task=done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648700" y="1695450"/>
              <a:ext cx="1752600" cy="552450"/>
            </a:xfrm>
            <a:prstGeom prst="roundRect">
              <a:avLst>
                <a:gd name="adj" fmla="val 13793"/>
              </a:avLst>
            </a:prstGeom>
            <a:solidFill>
              <a:srgbClr val="0E7C66">
                <a:alpha val="10000"/>
              </a:srgbClr>
            </a:solidFill>
            <a:ln w="14288">
              <a:solidFill>
                <a:srgbClr val="0E7C6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768715" y="1829752"/>
              <a:ext cx="739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⑥ 渲染结果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70620" y="2036445"/>
              <a:ext cx="16790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标注图+等级+缺陷 → 溯源/导出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543300" y="4610100"/>
              <a:ext cx="1619250" cy="533400"/>
            </a:xfrm>
            <a:prstGeom prst="roundRect">
              <a:avLst>
                <a:gd name="adj" fmla="val 14286"/>
              </a:avLst>
            </a:prstGeom>
            <a:solidFill>
              <a:srgbClr val="5B6B73">
                <a:alpha val="10000"/>
              </a:srgbClr>
            </a:solidFill>
            <a:ln w="14288">
              <a:solidFill>
                <a:srgbClr val="5B6B73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852494" y="4819174"/>
              <a:ext cx="1000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样本 / 任务记录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648700" y="4610100"/>
              <a:ext cx="1752600" cy="533400"/>
            </a:xfrm>
            <a:prstGeom prst="roundRect">
              <a:avLst>
                <a:gd name="adj" fmla="val 14286"/>
              </a:avLst>
            </a:prstGeom>
            <a:solidFill>
              <a:srgbClr val="5B6B73">
                <a:alpha val="10000"/>
              </a:srgbClr>
            </a:solidFill>
            <a:ln w="14288">
              <a:solidFill>
                <a:srgbClr val="5B6B73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946072" y="4819174"/>
              <a:ext cx="11578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结果 / 缺陷 / 溯源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581650"/>
            <a:ext cx="11001375" cy="495300"/>
            <a:chOff x="571500" y="5581650"/>
            <a:chExt cx="11001375" cy="495300"/>
          </a:xfrm>
        </p:grpSpPr>
        <p:sp>
          <p:nvSpPr>
            <p:cNvPr id="69" name="Rectangle 69"/>
            <p:cNvSpPr/>
            <p:nvPr/>
          </p:nvSpPr>
          <p:spPr>
            <a:xfrm>
              <a:off x="571500" y="5581650"/>
              <a:ext cx="11001375" cy="495300"/>
            </a:xfrm>
            <a:prstGeom prst="roundRect">
              <a:avLst>
                <a:gd name="adj" fmla="val 19231"/>
              </a:avLst>
            </a:prstGeom>
            <a:solidFill>
              <a:srgbClr val="F2811D">
                <a:alpha val="8000"/>
              </a:srgbClr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809625" y="5743575"/>
              <a:ext cx="142875" cy="152400"/>
              <a:chOff x="809625" y="5743575"/>
              <a:chExt cx="142875" cy="1524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809625" y="58578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09625" y="57435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04875" y="57435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8675" y="578167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47725" y="5810250"/>
                <a:ext cx="762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">
                    <a:moveTo>
                      <a:pt x="0" y="66675"/>
                    </a:moveTo>
                    <a:lnTo>
                      <a:pt x="57150" y="66675"/>
                    </a:lnTo>
                    <a:cubicBezTo>
                      <a:pt x="67671" y="66675"/>
                      <a:pt x="76200" y="58146"/>
                      <a:pt x="76200" y="47625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95350" y="5810250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28575" y="0"/>
                    </a:lnTo>
                    <a:lnTo>
                      <a:pt x="57150" y="28575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72515" y="5773102"/>
              <a:ext cx="9848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设计要点：后端</a:t>
              </a:r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只编排不推理</a:t>
              </a:r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，通过内部 HTTP 调用算法服务——</a:t>
              </a:r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解耦、可替换模型、便于 4 人并行</a:t>
              </a:r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；辅助流程：管理员维护标准/价格/模型，写操作均记入日志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79" name="TextBox 79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09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8" grpId="0"/>
      <p:bldP spid="68" grpId="0"/>
      <p:bldP spid="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5268515" cy="697706"/>
            <a:chOff x="571500" y="381000"/>
            <a:chExt cx="5268515" cy="697706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57150" cy="5143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42957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技术栈选型及理由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850106"/>
              <a:ext cx="50542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每项选型对应教学 / 交付 / 风险考量——"为什么这样做"，而非堆砌时髦框架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1428750"/>
            <a:ext cx="2000250" cy="4457700"/>
            <a:chOff x="609600" y="1428750"/>
            <a:chExt cx="2000250" cy="4457700"/>
          </a:xfrm>
        </p:grpSpPr>
        <p:sp>
          <p:nvSpPr>
            <p:cNvPr id="7" name="Rectangle 7"/>
            <p:cNvSpPr/>
            <p:nvPr/>
          </p:nvSpPr>
          <p:spPr>
            <a:xfrm>
              <a:off x="609600" y="1428750"/>
              <a:ext cx="2000250" cy="44577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95250" dist="2857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8" name="Freeform 8"/>
            <p:cNvSpPr/>
            <p:nvPr/>
          </p:nvSpPr>
          <p:spPr>
            <a:xfrm>
              <a:off x="609600" y="1428750"/>
              <a:ext cx="2000250" cy="990600"/>
            </a:xfrm>
            <a:custGeom>
              <a:avLst/>
              <a:gdLst/>
              <a:ahLst/>
              <a:cxnLst/>
              <a:rect l="l" t="t" r="r" b="b"/>
              <a:pathLst>
                <a:path w="2000250" h="990600">
                  <a:moveTo>
                    <a:pt x="114300" y="0"/>
                  </a:moveTo>
                  <a:lnTo>
                    <a:pt x="1885950" y="0"/>
                  </a:lnTo>
                  <a:cubicBezTo>
                    <a:pt x="1949076" y="0"/>
                    <a:pt x="2000250" y="51174"/>
                    <a:pt x="2000250" y="114300"/>
                  </a:cubicBezTo>
                  <a:lnTo>
                    <a:pt x="2000250" y="990600"/>
                  </a:lnTo>
                  <a:lnTo>
                    <a:pt x="0" y="9906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E7C66">
                <a:alpha val="10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482725" y="1682750"/>
              <a:ext cx="254000" cy="254000"/>
              <a:chOff x="1482725" y="1682750"/>
              <a:chExt cx="254000" cy="254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82725" y="16827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641475" y="16827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482725" y="18415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41475" y="18415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03556" y="20450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前端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91209" y="2273141"/>
              <a:ext cx="6370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Vue 3 + Vite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90575" y="2752725"/>
              <a:ext cx="57150" cy="57150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1068" y="2723674"/>
              <a:ext cx="13012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Element Plus 组件库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90575" y="3095625"/>
              <a:ext cx="57150" cy="57150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1068" y="3066574"/>
              <a:ext cx="1000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ECharts 可视化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90575" y="3438525"/>
              <a:ext cx="57150" cy="57150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1068" y="3409474"/>
              <a:ext cx="14377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Pinia / Router / Axios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3900" y="3790950"/>
              <a:ext cx="1771650" cy="1905000"/>
            </a:xfrm>
            <a:prstGeom prst="roundRect">
              <a:avLst>
                <a:gd name="adj" fmla="val 4301"/>
              </a:avLst>
            </a:prstGeom>
            <a:solidFill>
              <a:srgbClr val="0E7C66">
                <a:alpha val="6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5820" y="3941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选型理由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5344" y="4204097"/>
              <a:ext cx="100518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① 组件库出活快、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5344" y="4394597"/>
              <a:ext cx="77390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学习曲线平缓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5344" y="4661297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② ECharts 演示效果好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5344" y="5004197"/>
              <a:ext cx="100518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③ 一套响应式同时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5344" y="5194697"/>
              <a:ext cx="78640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兼顾 PC 与 H5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838450" y="1428750"/>
            <a:ext cx="2000250" cy="4457700"/>
            <a:chOff x="2838450" y="1428750"/>
            <a:chExt cx="2000250" cy="4457700"/>
          </a:xfrm>
        </p:grpSpPr>
        <p:sp>
          <p:nvSpPr>
            <p:cNvPr id="30" name="Rectangle 30"/>
            <p:cNvSpPr/>
            <p:nvPr/>
          </p:nvSpPr>
          <p:spPr>
            <a:xfrm>
              <a:off x="2838450" y="1428750"/>
              <a:ext cx="2000250" cy="44577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95250" dist="2857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2838450" y="1428750"/>
              <a:ext cx="2000250" cy="990600"/>
            </a:xfrm>
            <a:custGeom>
              <a:avLst/>
              <a:gdLst/>
              <a:ahLst/>
              <a:cxnLst/>
              <a:rect l="l" t="t" r="r" b="b"/>
              <a:pathLst>
                <a:path w="2000250" h="990600">
                  <a:moveTo>
                    <a:pt x="114300" y="0"/>
                  </a:moveTo>
                  <a:lnTo>
                    <a:pt x="1885950" y="0"/>
                  </a:lnTo>
                  <a:cubicBezTo>
                    <a:pt x="1949076" y="0"/>
                    <a:pt x="2000250" y="51174"/>
                    <a:pt x="2000250" y="114300"/>
                  </a:cubicBezTo>
                  <a:lnTo>
                    <a:pt x="2000250" y="990600"/>
                  </a:lnTo>
                  <a:lnTo>
                    <a:pt x="0" y="9906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A5A49">
                <a:alpha val="10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3695700" y="1682750"/>
              <a:ext cx="285750" cy="254000"/>
              <a:chOff x="3695700" y="1682750"/>
              <a:chExt cx="285750" cy="254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695700" y="16827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695700" y="18097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759200" y="1746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759200" y="1873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3471736" y="2045018"/>
              <a:ext cx="7336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后端 API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30073" y="2273141"/>
              <a:ext cx="4170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FastAPI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019425" y="2752725"/>
              <a:ext cx="57150" cy="57150"/>
            </a:xfrm>
            <a:prstGeom prst="ellipse">
              <a:avLst/>
            </a:prstGeom>
            <a:solidFill>
              <a:srgbClr val="0A5A4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149918" y="2723674"/>
              <a:ext cx="14308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Python 3.10 + Uvicorn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019425" y="3095625"/>
              <a:ext cx="57150" cy="57150"/>
            </a:xfrm>
            <a:prstGeom prst="ellipse">
              <a:avLst/>
            </a:prstGeom>
            <a:solidFill>
              <a:srgbClr val="0A5A4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149918" y="3066574"/>
              <a:ext cx="11169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SQLAlchemy ORM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019425" y="3438525"/>
              <a:ext cx="57150" cy="57150"/>
            </a:xfrm>
            <a:prstGeom prst="ellipse">
              <a:avLst/>
            </a:prstGeom>
            <a:solidFill>
              <a:srgbClr val="0A5A4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149918" y="3409474"/>
              <a:ext cx="9053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Pydantic 校验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952750" y="3790950"/>
              <a:ext cx="1771650" cy="1905000"/>
            </a:xfrm>
            <a:prstGeom prst="roundRect">
              <a:avLst>
                <a:gd name="adj" fmla="val 4301"/>
              </a:avLst>
            </a:prstGeom>
            <a:solidFill>
              <a:srgbClr val="0A5A49">
                <a:alpha val="6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074670" y="3941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选型理由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74194" y="4204097"/>
              <a:ext cx="133022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① 与算法同为 Python，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74194" y="4394597"/>
              <a:ext cx="64889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集成零成本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074194" y="4661297"/>
              <a:ext cx="133647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② 自带 Swagger 交互式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74194" y="4851797"/>
              <a:ext cx="48637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API 文档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74194" y="5118497"/>
              <a:ext cx="138023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③ 直接服务接口设计交付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067300" y="1428750"/>
            <a:ext cx="2000250" cy="4457700"/>
            <a:chOff x="5067300" y="1428750"/>
            <a:chExt cx="2000250" cy="4457700"/>
          </a:xfrm>
        </p:grpSpPr>
        <p:sp>
          <p:nvSpPr>
            <p:cNvPr id="53" name="Rectangle 53"/>
            <p:cNvSpPr/>
            <p:nvPr/>
          </p:nvSpPr>
          <p:spPr>
            <a:xfrm>
              <a:off x="5067300" y="1428750"/>
              <a:ext cx="2000250" cy="44577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95250" dist="2857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4" name="Freeform 54"/>
            <p:cNvSpPr/>
            <p:nvPr/>
          </p:nvSpPr>
          <p:spPr>
            <a:xfrm>
              <a:off x="5067300" y="1428750"/>
              <a:ext cx="2000250" cy="990600"/>
            </a:xfrm>
            <a:custGeom>
              <a:avLst/>
              <a:gdLst/>
              <a:ahLst/>
              <a:cxnLst/>
              <a:rect l="l" t="t" r="r" b="b"/>
              <a:pathLst>
                <a:path w="2000250" h="990600">
                  <a:moveTo>
                    <a:pt x="114300" y="0"/>
                  </a:moveTo>
                  <a:lnTo>
                    <a:pt x="1885950" y="0"/>
                  </a:lnTo>
                  <a:cubicBezTo>
                    <a:pt x="1949076" y="0"/>
                    <a:pt x="2000250" y="51174"/>
                    <a:pt x="2000250" y="114300"/>
                  </a:cubicBezTo>
                  <a:lnTo>
                    <a:pt x="2000250" y="990600"/>
                  </a:lnTo>
                  <a:lnTo>
                    <a:pt x="0" y="9906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811D">
                <a:alpha val="12000"/>
              </a:srgbClr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5924550" y="1666875"/>
              <a:ext cx="285750" cy="285750"/>
              <a:chOff x="5924550" y="1666875"/>
              <a:chExt cx="285750" cy="28575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5956300" y="1698625"/>
                <a:ext cx="2222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22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206375" y="0"/>
                    </a:lnTo>
                    <a:cubicBezTo>
                      <a:pt x="215143" y="0"/>
                      <a:pt x="222250" y="7107"/>
                      <a:pt x="222250" y="15875"/>
                    </a:cubicBezTo>
                    <a:lnTo>
                      <a:pt x="222250" y="206375"/>
                    </a:lnTo>
                    <a:cubicBezTo>
                      <a:pt x="222250" y="215143"/>
                      <a:pt x="215143" y="222250"/>
                      <a:pt x="206375" y="222250"/>
                    </a:cubicBezTo>
                    <a:lnTo>
                      <a:pt x="15875" y="222250"/>
                    </a:lnTo>
                    <a:cubicBezTo>
                      <a:pt x="7107" y="222250"/>
                      <a:pt x="0" y="215143"/>
                      <a:pt x="0" y="206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019800" y="1762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0"/>
                    </a:lnTo>
                    <a:lnTo>
                      <a:pt x="95250" y="95250"/>
                    </a:lnTo>
                    <a:lnTo>
                      <a:pt x="0" y="952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924550" y="17780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924550" y="18415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035675" y="16668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099175" y="16668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178550" y="17780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178550" y="18415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099175" y="19208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035675" y="19208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5672233" y="2045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算法服务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597640" y="2273141"/>
              <a:ext cx="939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OpenCV + YOLOv8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248275" y="2752725"/>
              <a:ext cx="57150" cy="5715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378768" y="2723674"/>
              <a:ext cx="14308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PyTorch + Ultralytics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5248275" y="3095625"/>
              <a:ext cx="57150" cy="5715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378768" y="3066574"/>
              <a:ext cx="802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传统 CV 特征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5248275" y="3438525"/>
              <a:ext cx="57150" cy="5715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378768" y="3409474"/>
              <a:ext cx="823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scikit-learn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181600" y="3790950"/>
              <a:ext cx="1771650" cy="1905000"/>
            </a:xfrm>
            <a:prstGeom prst="roundRect">
              <a:avLst>
                <a:gd name="adj" fmla="val 4301"/>
              </a:avLst>
            </a:prstGeom>
            <a:solidFill>
              <a:srgbClr val="F2811D">
                <a:alpha val="7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303520" y="3941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选型理由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303044" y="4204097"/>
              <a:ext cx="113020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① 拆独立服务，体现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303044" y="4394597"/>
              <a:ext cx="5238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四层架构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303044" y="4661297"/>
              <a:ext cx="137398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② 开箱即用、CPU 可推理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303044" y="5004197"/>
              <a:ext cx="12177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③ 传统 CV 分级可解释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303044" y="5194697"/>
              <a:ext cx="5238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且能兜底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296150" y="1428750"/>
            <a:ext cx="2000250" cy="4457700"/>
            <a:chOff x="7296150" y="1428750"/>
            <a:chExt cx="2000250" cy="4457700"/>
          </a:xfrm>
        </p:grpSpPr>
        <p:sp>
          <p:nvSpPr>
            <p:cNvPr id="82" name="Rectangle 82"/>
            <p:cNvSpPr/>
            <p:nvPr/>
          </p:nvSpPr>
          <p:spPr>
            <a:xfrm>
              <a:off x="7296150" y="1428750"/>
              <a:ext cx="2000250" cy="44577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95250" dist="2857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83" name="Freeform 83"/>
            <p:cNvSpPr/>
            <p:nvPr/>
          </p:nvSpPr>
          <p:spPr>
            <a:xfrm>
              <a:off x="7296150" y="1428750"/>
              <a:ext cx="2000250" cy="990600"/>
            </a:xfrm>
            <a:custGeom>
              <a:avLst/>
              <a:gdLst/>
              <a:ahLst/>
              <a:cxnLst/>
              <a:rect l="l" t="t" r="r" b="b"/>
              <a:pathLst>
                <a:path w="2000250" h="990600">
                  <a:moveTo>
                    <a:pt x="114300" y="0"/>
                  </a:moveTo>
                  <a:lnTo>
                    <a:pt x="1885950" y="0"/>
                  </a:lnTo>
                  <a:cubicBezTo>
                    <a:pt x="1949076" y="0"/>
                    <a:pt x="2000250" y="51174"/>
                    <a:pt x="2000250" y="114300"/>
                  </a:cubicBezTo>
                  <a:lnTo>
                    <a:pt x="2000250" y="990600"/>
                  </a:lnTo>
                  <a:lnTo>
                    <a:pt x="0" y="9906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2E9E5B">
                <a:alpha val="12000"/>
              </a:srgbClr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169275" y="1666875"/>
              <a:ext cx="254000" cy="285750"/>
              <a:chOff x="8169275" y="1666875"/>
              <a:chExt cx="254000" cy="28575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8169275" y="1666875"/>
                <a:ext cx="254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0" y="95250"/>
                      <a:pt x="254000" y="73928"/>
                      <a:pt x="254000" y="47625"/>
                    </a:cubicBezTo>
                    <a:cubicBezTo>
                      <a:pt x="254000" y="21322"/>
                      <a:pt x="197140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169275" y="171450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169275" y="180975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7995595" y="20450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823740" y="2273141"/>
              <a:ext cx="9450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MySQL 8 / SQLite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7477125" y="2752725"/>
              <a:ext cx="57150" cy="5715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607618" y="2723674"/>
              <a:ext cx="11169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MySQL 8（生产）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477125" y="3095625"/>
              <a:ext cx="57150" cy="5715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607618" y="3066574"/>
              <a:ext cx="1014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SQLite（开发）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7477125" y="3438525"/>
              <a:ext cx="57150" cy="5715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607618" y="3409474"/>
              <a:ext cx="8302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Navicat 管理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410450" y="3790950"/>
              <a:ext cx="1771650" cy="1905000"/>
            </a:xfrm>
            <a:prstGeom prst="roundRect">
              <a:avLst>
                <a:gd name="adj" fmla="val 4301"/>
              </a:avLst>
            </a:prstGeom>
            <a:solidFill>
              <a:srgbClr val="2E9E5B">
                <a:alpha val="7000"/>
              </a:srgbClr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532370" y="3941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选型理由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531894" y="4204097"/>
              <a:ext cx="114270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① 符合"数据库设计"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531894" y="4394597"/>
              <a:ext cx="101768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要求，便于画 E-R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531894" y="4661297"/>
              <a:ext cx="136148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② 开发期 SQLite 零配置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531894" y="5004197"/>
              <a:ext cx="137398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③ SQLAlchemy 无缝切换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9525000" y="1428750"/>
            <a:ext cx="2000250" cy="4457700"/>
            <a:chOff x="9525000" y="1428750"/>
            <a:chExt cx="2000250" cy="4457700"/>
          </a:xfrm>
        </p:grpSpPr>
        <p:sp>
          <p:nvSpPr>
            <p:cNvPr id="103" name="Rectangle 103"/>
            <p:cNvSpPr/>
            <p:nvPr/>
          </p:nvSpPr>
          <p:spPr>
            <a:xfrm>
              <a:off x="9525000" y="1428750"/>
              <a:ext cx="2000250" cy="44577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95250" dist="2857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04" name="Freeform 104"/>
            <p:cNvSpPr/>
            <p:nvPr/>
          </p:nvSpPr>
          <p:spPr>
            <a:xfrm>
              <a:off x="9525000" y="1428750"/>
              <a:ext cx="2000250" cy="990600"/>
            </a:xfrm>
            <a:custGeom>
              <a:avLst/>
              <a:gdLst/>
              <a:ahLst/>
              <a:cxnLst/>
              <a:rect l="l" t="t" r="r" b="b"/>
              <a:pathLst>
                <a:path w="2000250" h="990600">
                  <a:moveTo>
                    <a:pt x="114300" y="0"/>
                  </a:moveTo>
                  <a:lnTo>
                    <a:pt x="1885950" y="0"/>
                  </a:lnTo>
                  <a:cubicBezTo>
                    <a:pt x="1949076" y="0"/>
                    <a:pt x="2000250" y="51174"/>
                    <a:pt x="2000250" y="114300"/>
                  </a:cubicBezTo>
                  <a:lnTo>
                    <a:pt x="2000250" y="990600"/>
                  </a:lnTo>
                  <a:lnTo>
                    <a:pt x="0" y="9906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5B6B73">
                <a:alpha val="12000"/>
              </a:srgbClr>
            </a:solidFill>
            <a:ln>
              <a:noFill/>
            </a:ln>
          </p:spPr>
        </p:sp>
        <p:sp>
          <p:nvSpPr>
            <p:cNvPr id="105" name="Freeform 105"/>
            <p:cNvSpPr/>
            <p:nvPr/>
          </p:nvSpPr>
          <p:spPr>
            <a:xfrm>
              <a:off x="10366375" y="1693704"/>
              <a:ext cx="317500" cy="211360"/>
            </a:xfrm>
            <a:custGeom>
              <a:avLst/>
              <a:gdLst/>
              <a:ahLst/>
              <a:cxnLst/>
              <a:rect l="l" t="t" r="r" b="b"/>
              <a:pathLst>
                <a:path w="317500" h="211360">
                  <a:moveTo>
                    <a:pt x="73930" y="211296"/>
                  </a:moveTo>
                  <a:cubicBezTo>
                    <a:pt x="33099" y="211296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1" y="9081"/>
                  </a:cubicBezTo>
                  <a:cubicBezTo>
                    <a:pt x="162115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3"/>
                  </a:cubicBezTo>
                  <a:lnTo>
                    <a:pt x="262509" y="100663"/>
                  </a:lnTo>
                  <a:cubicBezTo>
                    <a:pt x="292878" y="100663"/>
                    <a:pt x="317500" y="125428"/>
                    <a:pt x="317500" y="156004"/>
                  </a:cubicBezTo>
                  <a:cubicBezTo>
                    <a:pt x="317500" y="186595"/>
                    <a:pt x="292878" y="211360"/>
                    <a:pt x="262493" y="211360"/>
                  </a:cubicBezTo>
                  <a:lnTo>
                    <a:pt x="73930" y="211360"/>
                  </a:lnTo>
                </a:path>
              </a:pathLst>
            </a:custGeom>
            <a:noFill/>
            <a:ln w="19050">
              <a:solidFill>
                <a:srgbClr val="5B6B73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0021244" y="204501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训练 &amp; 工具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082844" y="2273141"/>
              <a:ext cx="8845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Colab / AI Studio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9705975" y="2752725"/>
              <a:ext cx="57150" cy="57150"/>
            </a:xfrm>
            <a:prstGeom prst="ellipse">
              <a:avLst/>
            </a:prstGeom>
            <a:solidFill>
              <a:srgbClr val="5B6B73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836468" y="2723674"/>
              <a:ext cx="877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免费 GPU 训练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9705975" y="3095625"/>
              <a:ext cx="57150" cy="57150"/>
            </a:xfrm>
            <a:prstGeom prst="ellipse">
              <a:avLst/>
            </a:prstGeom>
            <a:solidFill>
              <a:srgbClr val="5B6B73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836468" y="3066574"/>
              <a:ext cx="1335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Roboflow / LabelImg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9705975" y="3438525"/>
              <a:ext cx="57150" cy="57150"/>
            </a:xfrm>
            <a:prstGeom prst="ellipse">
              <a:avLst/>
            </a:prstGeom>
            <a:solidFill>
              <a:srgbClr val="5B6B73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9836468" y="3409474"/>
              <a:ext cx="823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Docker / Git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9639300" y="3790950"/>
              <a:ext cx="1771650" cy="1905000"/>
            </a:xfrm>
            <a:prstGeom prst="roundRect">
              <a:avLst>
                <a:gd name="adj" fmla="val 4301"/>
              </a:avLst>
            </a:prstGeom>
            <a:solidFill>
              <a:srgbClr val="5B6B73">
                <a:alpha val="7000"/>
              </a:srgbClr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9761220" y="3941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选型理由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760744" y="4204097"/>
              <a:ext cx="128647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① 规避无独立 GPU 风险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9760744" y="4546997"/>
              <a:ext cx="116145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② 云端免费 GPU 训练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760744" y="48898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③ 在线标注 + 数据增强，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760744" y="5080397"/>
              <a:ext cx="9239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导出 YOLO 格式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121" name="TextBox 121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267027" y="64560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10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2" grpId="0"/>
      <p:bldP spid="81" grpId="0"/>
      <p:bldP spid="102" grpId="0"/>
      <p:bldP spid="1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61950"/>
            <a:ext cx="5618607" cy="652462"/>
            <a:chOff x="571500" y="361950"/>
            <a:chExt cx="5618607" cy="652462"/>
          </a:xfrm>
        </p:grpSpPr>
        <p:sp>
          <p:nvSpPr>
            <p:cNvPr id="3" name="Rectangle 3"/>
            <p:cNvSpPr/>
            <p:nvPr/>
          </p:nvSpPr>
          <p:spPr>
            <a:xfrm>
              <a:off x="571500" y="3619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570" y="407670"/>
              <a:ext cx="451351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系统总体架构：四层 B/S 分离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01052"/>
              <a:ext cx="5403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职责单一、解耦清晰——支撑功能、便于 4 人并行，并对应概要设计的软件结构图 / 包图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1104900"/>
            <a:ext cx="11001375" cy="1028700"/>
            <a:chOff x="571500" y="1104900"/>
            <a:chExt cx="11001375" cy="1028700"/>
          </a:xfrm>
        </p:grpSpPr>
        <p:sp>
          <p:nvSpPr>
            <p:cNvPr id="7" name="Rectangle 7"/>
            <p:cNvSpPr/>
            <p:nvPr/>
          </p:nvSpPr>
          <p:spPr>
            <a:xfrm>
              <a:off x="571500" y="1104900"/>
              <a:ext cx="381000" cy="1028700"/>
            </a:xfrm>
            <a:prstGeom prst="roundRect">
              <a:avLst>
                <a:gd name="adj" fmla="val 2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53689" y="1514475"/>
              <a:ext cx="216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28700" y="1104900"/>
              <a:ext cx="10544175" cy="1028700"/>
            </a:xfrm>
            <a:prstGeom prst="roundRect">
              <a:avLst>
                <a:gd name="adj" fmla="val 9259"/>
              </a:avLst>
            </a:prstGeom>
            <a:solidFill>
              <a:srgbClr val="0E7C66">
                <a:alpha val="5000"/>
              </a:srgbClr>
            </a:solidFill>
            <a:ln w="14288">
              <a:solidFill>
                <a:srgbClr val="A9D2C8"/>
              </a:solidFill>
              <a:custDash>
                <a:ds d="400000" sp="266666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68718" y="1209199"/>
              <a:ext cx="34991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前端层 · Vue3（PC Web + 移动 H5）渲染 / 交互 / 可视化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238250" y="1409700"/>
              <a:ext cx="2428875" cy="628650"/>
              <a:chOff x="1238250" y="1409700"/>
              <a:chExt cx="2428875" cy="6286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238250" y="14097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433512" y="1574006"/>
                <a:ext cx="123825" cy="185738"/>
                <a:chOff x="1433512" y="1574006"/>
                <a:chExt cx="123825" cy="185738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433512" y="1574006"/>
                  <a:ext cx="123825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85738">
                      <a:moveTo>
                        <a:pt x="0" y="20637"/>
                      </a:moveTo>
                      <a:cubicBezTo>
                        <a:pt x="0" y="9240"/>
                        <a:pt x="9240" y="0"/>
                        <a:pt x="20637" y="0"/>
                      </a:cubicBezTo>
                      <a:lnTo>
                        <a:pt x="103188" y="0"/>
                      </a:lnTo>
                      <a:cubicBezTo>
                        <a:pt x="114585" y="0"/>
                        <a:pt x="123825" y="9240"/>
                        <a:pt x="123825" y="20637"/>
                      </a:cubicBezTo>
                      <a:lnTo>
                        <a:pt x="123825" y="165100"/>
                      </a:lnTo>
                      <a:cubicBezTo>
                        <a:pt x="123825" y="176498"/>
                        <a:pt x="114585" y="185738"/>
                        <a:pt x="103188" y="185738"/>
                      </a:cubicBezTo>
                      <a:lnTo>
                        <a:pt x="20637" y="185738"/>
                      </a:lnTo>
                      <a:cubicBezTo>
                        <a:pt x="9240" y="185738"/>
                        <a:pt x="0" y="176498"/>
                        <a:pt x="0" y="165100"/>
                      </a:cubicBezTo>
                      <a:lnTo>
                        <a:pt x="0" y="20637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485106" y="1584325"/>
                  <a:ext cx="206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8" h="9525">
                      <a:moveTo>
                        <a:pt x="0" y="0"/>
                      </a:moveTo>
                      <a:lnTo>
                        <a:pt x="20638" y="0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495425" y="171846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03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701165" y="1563052"/>
                <a:ext cx="8352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PC Web + H5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03070" y="178879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双端响应式界面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38575" y="1409700"/>
              <a:ext cx="2428875" cy="628650"/>
              <a:chOff x="3838575" y="1409700"/>
              <a:chExt cx="2428875" cy="6286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838575" y="14097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4002881" y="1604962"/>
                <a:ext cx="185738" cy="154782"/>
                <a:chOff x="4002881" y="1604962"/>
                <a:chExt cx="185738" cy="154782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4075112" y="1646238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002881" y="1604962"/>
                  <a:ext cx="185738" cy="1233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23381">
                      <a:moveTo>
                        <a:pt x="83603" y="123381"/>
                      </a:moveTo>
                      <a:cubicBezTo>
                        <a:pt x="50541" y="120213"/>
                        <a:pt x="22681" y="99710"/>
                        <a:pt x="0" y="61912"/>
                      </a:cubicBezTo>
                      <a:cubicBezTo>
                        <a:pt x="24765" y="20637"/>
                        <a:pt x="55721" y="0"/>
                        <a:pt x="92869" y="0"/>
                      </a:cubicBezTo>
                      <a:cubicBezTo>
                        <a:pt x="130016" y="0"/>
                        <a:pt x="160972" y="20637"/>
                        <a:pt x="185738" y="61912"/>
                      </a:cubicBezTo>
                      <a:cubicBezTo>
                        <a:pt x="183569" y="65533"/>
                        <a:pt x="181288" y="69084"/>
                        <a:pt x="178896" y="72561"/>
                      </a:cubicBez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126706" y="1718469"/>
                  <a:ext cx="61912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41275">
                      <a:moveTo>
                        <a:pt x="0" y="20638"/>
                      </a:moveTo>
                      <a:lnTo>
                        <a:pt x="20638" y="41275"/>
                      </a:lnTo>
                      <a:lnTo>
                        <a:pt x="61912" y="0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4301490" y="1563052"/>
                <a:ext cx="9969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缺陷框 Canvas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03395" y="178879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醒目红框标注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438900" y="1409700"/>
              <a:ext cx="2428875" cy="628650"/>
              <a:chOff x="6438900" y="1409700"/>
              <a:chExt cx="2428875" cy="6286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438900" y="14097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6600330" y="1575781"/>
                <a:ext cx="186550" cy="186839"/>
                <a:chOff x="6600330" y="1575781"/>
                <a:chExt cx="186550" cy="186839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600330" y="1575781"/>
                  <a:ext cx="186550" cy="186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550" h="186839">
                      <a:moveTo>
                        <a:pt x="75108" y="289"/>
                      </a:moveTo>
                      <a:cubicBezTo>
                        <a:pt x="30428" y="10647"/>
                        <a:pt x="0" y="52071"/>
                        <a:pt x="3479" y="97804"/>
                      </a:cubicBezTo>
                      <a:cubicBezTo>
                        <a:pt x="6959" y="143537"/>
                        <a:pt x="43303" y="179881"/>
                        <a:pt x="89035" y="183360"/>
                      </a:cubicBezTo>
                      <a:cubicBezTo>
                        <a:pt x="134768" y="186839"/>
                        <a:pt x="176192" y="156412"/>
                        <a:pt x="186550" y="111732"/>
                      </a:cubicBezTo>
                      <a:cubicBezTo>
                        <a:pt x="186550" y="106033"/>
                        <a:pt x="181930" y="101413"/>
                        <a:pt x="176231" y="101413"/>
                      </a:cubicBezTo>
                      <a:lnTo>
                        <a:pt x="106064" y="101413"/>
                      </a:lnTo>
                      <a:cubicBezTo>
                        <a:pt x="94666" y="101413"/>
                        <a:pt x="85426" y="92173"/>
                        <a:pt x="85426" y="80776"/>
                      </a:cubicBezTo>
                      <a:lnTo>
                        <a:pt x="85426" y="8544"/>
                      </a:lnTo>
                      <a:cubicBezTo>
                        <a:pt x="85167" y="6075"/>
                        <a:pt x="83930" y="3812"/>
                        <a:pt x="81992" y="2261"/>
                      </a:cubicBezTo>
                      <a:cubicBezTo>
                        <a:pt x="80053" y="710"/>
                        <a:pt x="77573" y="0"/>
                        <a:pt x="75108" y="289"/>
                      </a:cubicBez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727031" y="1579166"/>
                  <a:ext cx="56753" cy="56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53" h="56753">
                      <a:moveTo>
                        <a:pt x="0" y="0"/>
                      </a:moveTo>
                      <a:cubicBezTo>
                        <a:pt x="26538" y="9344"/>
                        <a:pt x="47409" y="30215"/>
                        <a:pt x="56753" y="56753"/>
                      </a:cubicBezTo>
                      <a:lnTo>
                        <a:pt x="10319" y="56753"/>
                      </a:lnTo>
                      <a:cubicBezTo>
                        <a:pt x="4620" y="56753"/>
                        <a:pt x="0" y="52133"/>
                        <a:pt x="0" y="46434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6901815" y="1563052"/>
                <a:ext cx="930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ECharts 看板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903720" y="1788795"/>
                <a:ext cx="8809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等级 / 缺陷统计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039225" y="1409700"/>
              <a:ext cx="2428875" cy="628650"/>
              <a:chOff x="9039225" y="1409700"/>
              <a:chExt cx="2428875" cy="6286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9039225" y="14097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9213850" y="1584325"/>
                <a:ext cx="165100" cy="175419"/>
                <a:chOff x="9213850" y="1584325"/>
                <a:chExt cx="165100" cy="175419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9213850" y="1718469"/>
                  <a:ext cx="165100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41275">
                      <a:moveTo>
                        <a:pt x="0" y="0"/>
                      </a:moveTo>
                      <a:lnTo>
                        <a:pt x="0" y="20638"/>
                      </a:lnTo>
                      <a:cubicBezTo>
                        <a:pt x="0" y="32035"/>
                        <a:pt x="9240" y="41275"/>
                        <a:pt x="20637" y="41275"/>
                      </a:cubicBezTo>
                      <a:lnTo>
                        <a:pt x="144462" y="41275"/>
                      </a:lnTo>
                      <a:cubicBezTo>
                        <a:pt x="155860" y="41275"/>
                        <a:pt x="165100" y="32035"/>
                        <a:pt x="165100" y="20638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244806" y="1584325"/>
                  <a:ext cx="103187" cy="51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7" h="51594">
                      <a:moveTo>
                        <a:pt x="0" y="51594"/>
                      </a:moveTo>
                      <a:lnTo>
                        <a:pt x="51594" y="0"/>
                      </a:lnTo>
                      <a:lnTo>
                        <a:pt x="103187" y="51594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296400" y="1584325"/>
                  <a:ext cx="95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3825">
                      <a:moveTo>
                        <a:pt x="0" y="0"/>
                      </a:moveTo>
                      <a:lnTo>
                        <a:pt x="0" y="123825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9502140" y="15630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上传交互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504045" y="1788795"/>
                <a:ext cx="6409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拖拽 + 拍照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4762500" y="2152650"/>
            <a:ext cx="3048000" cy="211931"/>
            <a:chOff x="4762500" y="2152650"/>
            <a:chExt cx="3048000" cy="211931"/>
          </a:xfrm>
        </p:grpSpPr>
        <p:sp>
          <p:nvSpPr>
            <p:cNvPr id="43" name="Rectangle 43"/>
            <p:cNvSpPr/>
            <p:nvPr/>
          </p:nvSpPr>
          <p:spPr>
            <a:xfrm>
              <a:off x="4762500" y="2152650"/>
              <a:ext cx="3048000" cy="190500"/>
            </a:xfrm>
            <a:prstGeom prst="roundRect">
              <a:avLst>
                <a:gd name="adj" fmla="val 50000"/>
              </a:avLst>
            </a:prstGeom>
            <a:solidFill>
              <a:srgbClr val="1F2A33">
                <a:alpha val="6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58758" y="2196941"/>
              <a:ext cx="16554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↑↓ HTTP / JSON · REST /api/v1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71500" y="2381250"/>
            <a:ext cx="11001375" cy="1028700"/>
            <a:chOff x="571500" y="2381250"/>
            <a:chExt cx="11001375" cy="1028700"/>
          </a:xfrm>
        </p:grpSpPr>
        <p:sp>
          <p:nvSpPr>
            <p:cNvPr id="46" name="Rectangle 46"/>
            <p:cNvSpPr/>
            <p:nvPr/>
          </p:nvSpPr>
          <p:spPr>
            <a:xfrm>
              <a:off x="571500" y="2381250"/>
              <a:ext cx="381000" cy="1028700"/>
            </a:xfrm>
            <a:prstGeom prst="roundRect">
              <a:avLst>
                <a:gd name="adj" fmla="val 20000"/>
              </a:avLst>
            </a:prstGeom>
            <a:solidFill>
              <a:srgbClr val="0A5A4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7436" y="27908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28700" y="2381250"/>
              <a:ext cx="10544175" cy="1028700"/>
            </a:xfrm>
            <a:prstGeom prst="roundRect">
              <a:avLst>
                <a:gd name="adj" fmla="val 9259"/>
              </a:avLst>
            </a:prstGeom>
            <a:solidFill>
              <a:srgbClr val="0A5A49">
                <a:alpha val="5000"/>
              </a:srgbClr>
            </a:solidFill>
            <a:ln w="14288">
              <a:solidFill>
                <a:srgbClr val="9FC7BC"/>
              </a:solidFill>
              <a:custDash>
                <a:ds d="400000" sp="266666"/>
              </a:custDash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68718" y="2485549"/>
              <a:ext cx="4168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后端 API 层 · FastAPI 鉴权 / 业务编排 / 数据库读写（不直接推理）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1238250" y="2686050"/>
              <a:ext cx="2428875" cy="628650"/>
              <a:chOff x="1238250" y="2686050"/>
              <a:chExt cx="2428875" cy="6286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1238250" y="268605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1402556" y="2850358"/>
                <a:ext cx="185736" cy="185736"/>
                <a:chOff x="1402556" y="2850358"/>
                <a:chExt cx="185736" cy="185736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1402556" y="2850358"/>
                  <a:ext cx="185736" cy="185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6" h="185736">
                      <a:moveTo>
                        <a:pt x="139871" y="8697"/>
                      </a:moveTo>
                      <a:lnTo>
                        <a:pt x="177039" y="45865"/>
                      </a:lnTo>
                      <a:cubicBezTo>
                        <a:pt x="182607" y="51432"/>
                        <a:pt x="185736" y="58984"/>
                        <a:pt x="185736" y="66858"/>
                      </a:cubicBezTo>
                      <a:cubicBezTo>
                        <a:pt x="185736" y="74733"/>
                        <a:pt x="182607" y="82284"/>
                        <a:pt x="177039" y="87852"/>
                      </a:cubicBezTo>
                      <a:lnTo>
                        <a:pt x="149766" y="115124"/>
                      </a:lnTo>
                      <a:cubicBezTo>
                        <a:pt x="144199" y="120693"/>
                        <a:pt x="136647" y="123821"/>
                        <a:pt x="128773" y="123821"/>
                      </a:cubicBezTo>
                      <a:cubicBezTo>
                        <a:pt x="120899" y="123821"/>
                        <a:pt x="113347" y="120693"/>
                        <a:pt x="107779" y="115124"/>
                      </a:cubicBezTo>
                      <a:lnTo>
                        <a:pt x="104673" y="112018"/>
                      </a:lnTo>
                      <a:lnTo>
                        <a:pt x="37003" y="179689"/>
                      </a:lnTo>
                      <a:cubicBezTo>
                        <a:pt x="33574" y="183117"/>
                        <a:pt x="29048" y="185228"/>
                        <a:pt x="24218" y="185653"/>
                      </a:cubicBezTo>
                      <a:lnTo>
                        <a:pt x="22412" y="185736"/>
                      </a:lnTo>
                      <a:lnTo>
                        <a:pt x="10319" y="185736"/>
                      </a:lnTo>
                      <a:cubicBezTo>
                        <a:pt x="5087" y="185735"/>
                        <a:pt x="684" y="181819"/>
                        <a:pt x="72" y="176624"/>
                      </a:cubicBezTo>
                      <a:lnTo>
                        <a:pt x="0" y="175417"/>
                      </a:lnTo>
                      <a:lnTo>
                        <a:pt x="0" y="163323"/>
                      </a:lnTo>
                      <a:cubicBezTo>
                        <a:pt x="1" y="158478"/>
                        <a:pt x="1707" y="153788"/>
                        <a:pt x="4819" y="150074"/>
                      </a:cubicBezTo>
                      <a:lnTo>
                        <a:pt x="6047" y="148732"/>
                      </a:lnTo>
                      <a:lnTo>
                        <a:pt x="10319" y="144461"/>
                      </a:lnTo>
                      <a:lnTo>
                        <a:pt x="30956" y="144461"/>
                      </a:lnTo>
                      <a:lnTo>
                        <a:pt x="30956" y="123823"/>
                      </a:lnTo>
                      <a:lnTo>
                        <a:pt x="51594" y="123823"/>
                      </a:lnTo>
                      <a:lnTo>
                        <a:pt x="51594" y="103186"/>
                      </a:lnTo>
                      <a:lnTo>
                        <a:pt x="73717" y="81062"/>
                      </a:lnTo>
                      <a:lnTo>
                        <a:pt x="70611" y="77956"/>
                      </a:lnTo>
                      <a:cubicBezTo>
                        <a:pt x="65043" y="72389"/>
                        <a:pt x="61914" y="64837"/>
                        <a:pt x="61914" y="56963"/>
                      </a:cubicBezTo>
                      <a:cubicBezTo>
                        <a:pt x="61914" y="49088"/>
                        <a:pt x="65043" y="41537"/>
                        <a:pt x="70611" y="35969"/>
                      </a:cubicBezTo>
                      <a:lnTo>
                        <a:pt x="97884" y="8697"/>
                      </a:lnTo>
                      <a:cubicBezTo>
                        <a:pt x="103451" y="3128"/>
                        <a:pt x="111003" y="0"/>
                        <a:pt x="118877" y="0"/>
                      </a:cubicBezTo>
                      <a:cubicBezTo>
                        <a:pt x="126751" y="0"/>
                        <a:pt x="134303" y="3128"/>
                        <a:pt x="139871" y="8697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1526381" y="291226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03" y="0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1701165" y="2839402"/>
                <a:ext cx="6367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鉴权 JWT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703070" y="3065145"/>
                <a:ext cx="10189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登录 / 角色 / 会话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3838575" y="2686050"/>
              <a:ext cx="2428875" cy="628650"/>
              <a:chOff x="3838575" y="2686050"/>
              <a:chExt cx="2428875" cy="6286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3838575" y="268605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64" name="Group 64"/>
              <p:cNvGrpSpPr/>
              <p:nvPr/>
            </p:nvGrpSpPr>
            <p:grpSpPr>
              <a:xfrm>
                <a:off x="4023519" y="2860675"/>
                <a:ext cx="154781" cy="165100"/>
                <a:chOff x="4023519" y="2860675"/>
                <a:chExt cx="154781" cy="165100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4023519" y="2984500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4023519" y="2860675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4126706" y="2860675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044156" y="2901950"/>
                  <a:ext cx="9525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2550">
                      <a:moveTo>
                        <a:pt x="0" y="0"/>
                      </a:moveTo>
                      <a:lnTo>
                        <a:pt x="0" y="82550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4064794" y="2932906"/>
                  <a:ext cx="82550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72231">
                      <a:moveTo>
                        <a:pt x="0" y="72231"/>
                      </a:moveTo>
                      <a:lnTo>
                        <a:pt x="61912" y="72231"/>
                      </a:lnTo>
                      <a:cubicBezTo>
                        <a:pt x="73310" y="72231"/>
                        <a:pt x="82550" y="62992"/>
                        <a:pt x="82550" y="51594"/>
                      </a:cubicBezTo>
                      <a:lnTo>
                        <a:pt x="82550" y="0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4116388" y="2932906"/>
                  <a:ext cx="61912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30956">
                      <a:moveTo>
                        <a:pt x="0" y="30956"/>
                      </a:moveTo>
                      <a:lnTo>
                        <a:pt x="30956" y="0"/>
                      </a:lnTo>
                      <a:lnTo>
                        <a:pt x="61912" y="30956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4301490" y="28394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业务编排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4303395" y="3065145"/>
                <a:ext cx="10009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任务调度 · 不推理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438900" y="2686050"/>
              <a:ext cx="2428875" cy="628650"/>
              <a:chOff x="6438900" y="2686050"/>
              <a:chExt cx="2428875" cy="62865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6438900" y="268605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603206" y="2860675"/>
                <a:ext cx="185738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54781">
                    <a:moveTo>
                      <a:pt x="20637" y="0"/>
                    </a:moveTo>
                    <a:lnTo>
                      <a:pt x="61912" y="0"/>
                    </a:lnTo>
                    <a:lnTo>
                      <a:pt x="92869" y="30956"/>
                    </a:lnTo>
                    <a:lnTo>
                      <a:pt x="165100" y="30956"/>
                    </a:lnTo>
                    <a:cubicBezTo>
                      <a:pt x="176498" y="30956"/>
                      <a:pt x="185738" y="40196"/>
                      <a:pt x="185738" y="51594"/>
                    </a:cubicBezTo>
                    <a:lnTo>
                      <a:pt x="185738" y="134144"/>
                    </a:lnTo>
                    <a:cubicBezTo>
                      <a:pt x="185738" y="145542"/>
                      <a:pt x="176498" y="154781"/>
                      <a:pt x="165100" y="154781"/>
                    </a:cubicBezTo>
                    <a:lnTo>
                      <a:pt x="20637" y="154781"/>
                    </a:lnTo>
                    <a:cubicBezTo>
                      <a:pt x="9240" y="154781"/>
                      <a:pt x="0" y="145542"/>
                      <a:pt x="0" y="134144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7" y="0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6901815" y="28394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文件管理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6903720" y="3065145"/>
                <a:ext cx="10009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图片 / 标注图存取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9039225" y="2686050"/>
              <a:ext cx="2428875" cy="628650"/>
              <a:chOff x="9039225" y="2686050"/>
              <a:chExt cx="2428875" cy="62865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039225" y="268605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9213849" y="2860665"/>
                <a:ext cx="185738" cy="185747"/>
                <a:chOff x="9213849" y="2860665"/>
                <a:chExt cx="185738" cy="185747"/>
              </a:xfrm>
            </p:grpSpPr>
            <p:sp>
              <p:nvSpPr>
                <p:cNvPr id="74" name="Freeform 74"/>
                <p:cNvSpPr/>
                <p:nvPr/>
              </p:nvSpPr>
              <p:spPr>
                <a:xfrm>
                  <a:off x="9265444" y="2912269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61912"/>
                      </a:moveTo>
                      <a:lnTo>
                        <a:pt x="61912" y="0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9286081" y="2860665"/>
                  <a:ext cx="92895" cy="88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95" h="88090">
                      <a:moveTo>
                        <a:pt x="0" y="20647"/>
                      </a:moveTo>
                      <a:lnTo>
                        <a:pt x="4778" y="15116"/>
                      </a:lnTo>
                      <a:cubicBezTo>
                        <a:pt x="14454" y="5438"/>
                        <a:pt x="27579" y="0"/>
                        <a:pt x="41265" y="0"/>
                      </a:cubicBezTo>
                      <a:cubicBezTo>
                        <a:pt x="54951" y="0"/>
                        <a:pt x="68076" y="5438"/>
                        <a:pt x="77752" y="15116"/>
                      </a:cubicBezTo>
                      <a:cubicBezTo>
                        <a:pt x="87447" y="24784"/>
                        <a:pt x="92895" y="37914"/>
                        <a:pt x="92893" y="51606"/>
                      </a:cubicBezTo>
                      <a:cubicBezTo>
                        <a:pt x="92891" y="65297"/>
                        <a:pt x="87439" y="78425"/>
                        <a:pt x="77741" y="88090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9213849" y="2932906"/>
                  <a:ext cx="88774" cy="97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74" h="97878">
                      <a:moveTo>
                        <a:pt x="88774" y="77741"/>
                      </a:moveTo>
                      <a:cubicBezTo>
                        <a:pt x="68395" y="97878"/>
                        <a:pt x="35611" y="97878"/>
                        <a:pt x="15232" y="77741"/>
                      </a:cubicBezTo>
                      <a:cubicBezTo>
                        <a:pt x="5485" y="68104"/>
                        <a:pt x="0" y="54967"/>
                        <a:pt x="0" y="41260"/>
                      </a:cubicBezTo>
                      <a:cubicBezTo>
                        <a:pt x="0" y="27552"/>
                        <a:pt x="5485" y="14415"/>
                        <a:pt x="15232" y="4778"/>
                      </a:cubicBezTo>
                      <a:lnTo>
                        <a:pt x="20639" y="0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9337675" y="3015456"/>
                  <a:ext cx="619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9525">
                      <a:moveTo>
                        <a:pt x="0" y="0"/>
                      </a:moveTo>
                      <a:lnTo>
                        <a:pt x="61912" y="0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9368631" y="2984500"/>
                  <a:ext cx="9525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1912">
                      <a:moveTo>
                        <a:pt x="0" y="0"/>
                      </a:moveTo>
                      <a:lnTo>
                        <a:pt x="0" y="61912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9502140" y="283940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算法调用客户端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504045" y="3065145"/>
                <a:ext cx="1120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内部 HTTP 调 /infer</a:t>
                </a: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4762500" y="3429000"/>
            <a:ext cx="3048000" cy="211931"/>
            <a:chOff x="4762500" y="3429000"/>
            <a:chExt cx="3048000" cy="211931"/>
          </a:xfrm>
        </p:grpSpPr>
        <p:sp>
          <p:nvSpPr>
            <p:cNvPr id="84" name="Rectangle 84"/>
            <p:cNvSpPr/>
            <p:nvPr/>
          </p:nvSpPr>
          <p:spPr>
            <a:xfrm>
              <a:off x="4762500" y="3429000"/>
              <a:ext cx="3048000" cy="190500"/>
            </a:xfrm>
            <a:prstGeom prst="roundRect">
              <a:avLst>
                <a:gd name="adj" fmla="val 50000"/>
              </a:avLst>
            </a:prstGeom>
            <a:solidFill>
              <a:srgbClr val="F2811D">
                <a:alpha val="10000"/>
              </a:srgbClr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337468" y="3473291"/>
              <a:ext cx="1898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↓ 内部 HTTP · POST /infer（解耦）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571500" y="3657600"/>
            <a:ext cx="11001375" cy="1028700"/>
            <a:chOff x="571500" y="3657600"/>
            <a:chExt cx="11001375" cy="1028700"/>
          </a:xfrm>
        </p:grpSpPr>
        <p:sp>
          <p:nvSpPr>
            <p:cNvPr id="87" name="Rectangle 87"/>
            <p:cNvSpPr/>
            <p:nvPr/>
          </p:nvSpPr>
          <p:spPr>
            <a:xfrm>
              <a:off x="571500" y="3657600"/>
              <a:ext cx="381000" cy="1028700"/>
            </a:xfrm>
            <a:prstGeom prst="roundRect">
              <a:avLst>
                <a:gd name="adj" fmla="val 20000"/>
              </a:avLst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27436" y="40671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1028700" y="3657600"/>
              <a:ext cx="10544175" cy="1028700"/>
            </a:xfrm>
            <a:prstGeom prst="roundRect">
              <a:avLst>
                <a:gd name="adj" fmla="val 9259"/>
              </a:avLst>
            </a:prstGeom>
            <a:solidFill>
              <a:srgbClr val="F2811D">
                <a:alpha val="5000"/>
              </a:srgbClr>
            </a:solidFill>
            <a:ln w="14288">
              <a:solidFill>
                <a:srgbClr val="F6C79B"/>
              </a:solidFill>
              <a:custDash>
                <a:ds d="400000" sp="266666"/>
              </a:custDash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168718" y="3761899"/>
              <a:ext cx="40724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算法服务层 · 独立进程加载模型，提供 /infer，可单独部署 / 替换</a:t>
              </a:r>
            </a:p>
          </p:txBody>
        </p:sp>
        <p:grpSp>
          <p:nvGrpSpPr>
            <p:cNvPr id="105" name="Group 105"/>
            <p:cNvGrpSpPr/>
            <p:nvPr/>
          </p:nvGrpSpPr>
          <p:grpSpPr>
            <a:xfrm>
              <a:off x="1238250" y="3962400"/>
              <a:ext cx="2428875" cy="628650"/>
              <a:chOff x="1238250" y="3962400"/>
              <a:chExt cx="2428875" cy="628650"/>
            </a:xfrm>
          </p:grpSpPr>
          <p:sp>
            <p:nvSpPr>
              <p:cNvPr id="91" name="Rectangle 91"/>
              <p:cNvSpPr/>
              <p:nvPr/>
            </p:nvSpPr>
            <p:spPr>
              <a:xfrm>
                <a:off x="1238250" y="39624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02" name="Group 102"/>
              <p:cNvGrpSpPr/>
              <p:nvPr/>
            </p:nvGrpSpPr>
            <p:grpSpPr>
              <a:xfrm>
                <a:off x="1402556" y="4126706"/>
                <a:ext cx="185737" cy="185738"/>
                <a:chOff x="1402556" y="4126706"/>
                <a:chExt cx="185737" cy="185738"/>
              </a:xfrm>
            </p:grpSpPr>
            <p:sp>
              <p:nvSpPr>
                <p:cNvPr id="92" name="Freeform 92"/>
                <p:cNvSpPr/>
                <p:nvPr/>
              </p:nvSpPr>
              <p:spPr>
                <a:xfrm>
                  <a:off x="1423194" y="4147344"/>
                  <a:ext cx="144463" cy="144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144462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134144" y="0"/>
                      </a:lnTo>
                      <a:cubicBezTo>
                        <a:pt x="139843" y="0"/>
                        <a:pt x="144463" y="4620"/>
                        <a:pt x="144463" y="10319"/>
                      </a:cubicBezTo>
                      <a:lnTo>
                        <a:pt x="144463" y="134144"/>
                      </a:lnTo>
                      <a:cubicBezTo>
                        <a:pt x="144463" y="139843"/>
                        <a:pt x="139843" y="144462"/>
                        <a:pt x="134144" y="144462"/>
                      </a:cubicBezTo>
                      <a:lnTo>
                        <a:pt x="10319" y="144462"/>
                      </a:lnTo>
                      <a:cubicBezTo>
                        <a:pt x="4620" y="144462"/>
                        <a:pt x="0" y="139843"/>
                        <a:pt x="0" y="134144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3" name="Freeform 93"/>
                <p:cNvSpPr/>
                <p:nvPr/>
              </p:nvSpPr>
              <p:spPr>
                <a:xfrm>
                  <a:off x="1464469" y="4188619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0"/>
                      </a:moveTo>
                      <a:lnTo>
                        <a:pt x="61912" y="0"/>
                      </a:lnTo>
                      <a:lnTo>
                        <a:pt x="61912" y="61912"/>
                      </a:lnTo>
                      <a:lnTo>
                        <a:pt x="0" y="619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4" name="Freeform 94"/>
                <p:cNvSpPr/>
                <p:nvPr/>
              </p:nvSpPr>
              <p:spPr>
                <a:xfrm>
                  <a:off x="1402556" y="4198938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5" name="Freeform 95"/>
                <p:cNvSpPr/>
                <p:nvPr/>
              </p:nvSpPr>
              <p:spPr>
                <a:xfrm>
                  <a:off x="1402556" y="4240212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6" name="Freeform 96"/>
                <p:cNvSpPr/>
                <p:nvPr/>
              </p:nvSpPr>
              <p:spPr>
                <a:xfrm>
                  <a:off x="1474788" y="4126706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0"/>
                      </a:moveTo>
                      <a:lnTo>
                        <a:pt x="0" y="2063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7" name="Freeform 97"/>
                <p:cNvSpPr/>
                <p:nvPr/>
              </p:nvSpPr>
              <p:spPr>
                <a:xfrm>
                  <a:off x="1516062" y="4126706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0"/>
                      </a:moveTo>
                      <a:lnTo>
                        <a:pt x="0" y="2063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1567656" y="4198938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20637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9" name="Freeform 99"/>
                <p:cNvSpPr/>
                <p:nvPr/>
              </p:nvSpPr>
              <p:spPr>
                <a:xfrm>
                  <a:off x="1567656" y="4240212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20637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00" name="Freeform 100"/>
                <p:cNvSpPr/>
                <p:nvPr/>
              </p:nvSpPr>
              <p:spPr>
                <a:xfrm>
                  <a:off x="1516062" y="4291806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206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01" name="Freeform 101"/>
                <p:cNvSpPr/>
                <p:nvPr/>
              </p:nvSpPr>
              <p:spPr>
                <a:xfrm>
                  <a:off x="1474788" y="4291806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206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</p:grpSp>
          <p:sp>
            <p:nvSpPr>
              <p:cNvPr id="103" name="TextBox 103"/>
              <p:cNvSpPr txBox="1"/>
              <p:nvPr/>
            </p:nvSpPr>
            <p:spPr>
              <a:xfrm>
                <a:off x="1701165" y="4115752"/>
                <a:ext cx="8132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/infer 接口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1703070" y="4341495"/>
                <a:ext cx="1120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图入 · 结构化结果出</a:t>
                </a: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3838575" y="3962400"/>
              <a:ext cx="2428875" cy="628650"/>
              <a:chOff x="3838575" y="3962400"/>
              <a:chExt cx="2428875" cy="628650"/>
            </a:xfrm>
          </p:grpSpPr>
          <p:sp>
            <p:nvSpPr>
              <p:cNvPr id="106" name="Rectangle 106"/>
              <p:cNvSpPr/>
              <p:nvPr/>
            </p:nvSpPr>
            <p:spPr>
              <a:xfrm>
                <a:off x="3838575" y="39624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15" name="Group 115"/>
              <p:cNvGrpSpPr/>
              <p:nvPr/>
            </p:nvGrpSpPr>
            <p:grpSpPr>
              <a:xfrm>
                <a:off x="4013200" y="4137025"/>
                <a:ext cx="186078" cy="190897"/>
                <a:chOff x="4013200" y="4137025"/>
                <a:chExt cx="186078" cy="190897"/>
              </a:xfrm>
            </p:grpSpPr>
            <p:sp>
              <p:nvSpPr>
                <p:cNvPr id="107" name="Freeform 107"/>
                <p:cNvSpPr/>
                <p:nvPr/>
              </p:nvSpPr>
              <p:spPr>
                <a:xfrm>
                  <a:off x="4013200" y="4137025"/>
                  <a:ext cx="165100" cy="17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175419">
                      <a:moveTo>
                        <a:pt x="82550" y="165100"/>
                      </a:moveTo>
                      <a:lnTo>
                        <a:pt x="51594" y="175419"/>
                      </a:lnTo>
                      <a:lnTo>
                        <a:pt x="51594" y="87709"/>
                      </a:lnTo>
                      <a:lnTo>
                        <a:pt x="5366" y="36859"/>
                      </a:lnTo>
                      <a:cubicBezTo>
                        <a:pt x="1914" y="33061"/>
                        <a:pt x="1" y="28112"/>
                        <a:pt x="0" y="22980"/>
                      </a:cubicBezTo>
                      <a:lnTo>
                        <a:pt x="0" y="0"/>
                      </a:lnTo>
                      <a:lnTo>
                        <a:pt x="165100" y="0"/>
                      </a:lnTo>
                      <a:lnTo>
                        <a:pt x="165100" y="22412"/>
                      </a:lnTo>
                      <a:cubicBezTo>
                        <a:pt x="165099" y="27885"/>
                        <a:pt x="162924" y="33134"/>
                        <a:pt x="159053" y="37003"/>
                      </a:cubicBezTo>
                      <a:lnTo>
                        <a:pt x="113506" y="82550"/>
                      </a:lnTo>
                      <a:lnTo>
                        <a:pt x="113506" y="9802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08" name="Freeform 108"/>
                <p:cNvSpPr/>
                <p:nvPr/>
              </p:nvSpPr>
              <p:spPr>
                <a:xfrm>
                  <a:off x="4147354" y="4271169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09" name="Freeform 109"/>
                <p:cNvSpPr/>
                <p:nvPr/>
              </p:nvSpPr>
              <p:spPr>
                <a:xfrm>
                  <a:off x="4167992" y="4255691"/>
                  <a:ext cx="9525" cy="15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478">
                      <a:moveTo>
                        <a:pt x="0" y="0"/>
                      </a:moveTo>
                      <a:lnTo>
                        <a:pt x="0" y="1547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10" name="Freeform 110"/>
                <p:cNvSpPr/>
                <p:nvPr/>
              </p:nvSpPr>
              <p:spPr>
                <a:xfrm>
                  <a:off x="4167992" y="4312444"/>
                  <a:ext cx="9525" cy="15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478">
                      <a:moveTo>
                        <a:pt x="0" y="0"/>
                      </a:moveTo>
                      <a:lnTo>
                        <a:pt x="0" y="1547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11" name="Freeform 111"/>
                <p:cNvSpPr/>
                <p:nvPr/>
              </p:nvSpPr>
              <p:spPr>
                <a:xfrm>
                  <a:off x="4185864" y="4273748"/>
                  <a:ext cx="1340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4" h="9525">
                      <a:moveTo>
                        <a:pt x="13404" y="0"/>
                      </a:moveTo>
                      <a:lnTo>
                        <a:pt x="0" y="7739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12" name="Freeform 112"/>
                <p:cNvSpPr/>
                <p:nvPr/>
              </p:nvSpPr>
              <p:spPr>
                <a:xfrm>
                  <a:off x="4136715" y="4302125"/>
                  <a:ext cx="1341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" h="9525">
                      <a:moveTo>
                        <a:pt x="13414" y="0"/>
                      </a:moveTo>
                      <a:lnTo>
                        <a:pt x="0" y="7739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4136715" y="4273748"/>
                  <a:ext cx="1341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" h="9525">
                      <a:moveTo>
                        <a:pt x="0" y="0"/>
                      </a:moveTo>
                      <a:lnTo>
                        <a:pt x="13414" y="7739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14" name="Freeform 114"/>
                <p:cNvSpPr/>
                <p:nvPr/>
              </p:nvSpPr>
              <p:spPr>
                <a:xfrm>
                  <a:off x="4185864" y="4302125"/>
                  <a:ext cx="1341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" h="9525">
                      <a:moveTo>
                        <a:pt x="0" y="0"/>
                      </a:moveTo>
                      <a:lnTo>
                        <a:pt x="13414" y="7739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</p:grpSp>
          <p:sp>
            <p:nvSpPr>
              <p:cNvPr id="116" name="TextBox 116"/>
              <p:cNvSpPr txBox="1"/>
              <p:nvPr/>
            </p:nvSpPr>
            <p:spPr>
              <a:xfrm>
                <a:off x="4301490" y="4115752"/>
                <a:ext cx="8793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OpenCV 管线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4303395" y="4341495"/>
                <a:ext cx="10009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预处理 + 果实分割</a:t>
                </a:r>
              </a:p>
            </p:txBody>
          </p:sp>
        </p:grpSp>
        <p:grpSp>
          <p:nvGrpSpPr>
            <p:cNvPr id="128" name="Group 128"/>
            <p:cNvGrpSpPr/>
            <p:nvPr/>
          </p:nvGrpSpPr>
          <p:grpSpPr>
            <a:xfrm>
              <a:off x="6438900" y="3962400"/>
              <a:ext cx="2428875" cy="628650"/>
              <a:chOff x="6438900" y="3962400"/>
              <a:chExt cx="2428875" cy="628650"/>
            </a:xfrm>
          </p:grpSpPr>
          <p:sp>
            <p:nvSpPr>
              <p:cNvPr id="119" name="Rectangle 119"/>
              <p:cNvSpPr/>
              <p:nvPr/>
            </p:nvSpPr>
            <p:spPr>
              <a:xfrm>
                <a:off x="6438900" y="39624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25" name="Group 125"/>
              <p:cNvGrpSpPr/>
              <p:nvPr/>
            </p:nvGrpSpPr>
            <p:grpSpPr>
              <a:xfrm>
                <a:off x="6613525" y="4137025"/>
                <a:ext cx="165100" cy="165100"/>
                <a:chOff x="6613525" y="4137025"/>
                <a:chExt cx="165100" cy="165100"/>
              </a:xfrm>
            </p:grpSpPr>
            <p:sp>
              <p:nvSpPr>
                <p:cNvPr id="120" name="Freeform 120"/>
                <p:cNvSpPr/>
                <p:nvPr/>
              </p:nvSpPr>
              <p:spPr>
                <a:xfrm>
                  <a:off x="6613525" y="4137025"/>
                  <a:ext cx="4127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30956">
                      <a:moveTo>
                        <a:pt x="0" y="30956"/>
                      </a:moveTo>
                      <a:lnTo>
                        <a:pt x="0" y="20638"/>
                      </a:lnTo>
                      <a:cubicBezTo>
                        <a:pt x="0" y="9240"/>
                        <a:pt x="9240" y="0"/>
                        <a:pt x="20637" y="0"/>
                      </a:cubicBezTo>
                      <a:lnTo>
                        <a:pt x="41275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21" name="Freeform 121"/>
                <p:cNvSpPr/>
                <p:nvPr/>
              </p:nvSpPr>
              <p:spPr>
                <a:xfrm>
                  <a:off x="6613525" y="4271169"/>
                  <a:ext cx="4127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30956">
                      <a:moveTo>
                        <a:pt x="0" y="0"/>
                      </a:moveTo>
                      <a:lnTo>
                        <a:pt x="0" y="10319"/>
                      </a:lnTo>
                      <a:cubicBezTo>
                        <a:pt x="0" y="21717"/>
                        <a:pt x="9240" y="30956"/>
                        <a:pt x="20637" y="30956"/>
                      </a:cubicBezTo>
                      <a:lnTo>
                        <a:pt x="41275" y="30956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22" name="Freeform 122"/>
                <p:cNvSpPr/>
                <p:nvPr/>
              </p:nvSpPr>
              <p:spPr>
                <a:xfrm>
                  <a:off x="6737350" y="4137025"/>
                  <a:ext cx="4127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30956">
                      <a:moveTo>
                        <a:pt x="0" y="0"/>
                      </a:moveTo>
                      <a:lnTo>
                        <a:pt x="20637" y="0"/>
                      </a:lnTo>
                      <a:cubicBezTo>
                        <a:pt x="32035" y="0"/>
                        <a:pt x="41275" y="9240"/>
                        <a:pt x="41275" y="20638"/>
                      </a:cubicBezTo>
                      <a:lnTo>
                        <a:pt x="41275" y="30956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23" name="Freeform 123"/>
                <p:cNvSpPr/>
                <p:nvPr/>
              </p:nvSpPr>
              <p:spPr>
                <a:xfrm>
                  <a:off x="6737350" y="4271169"/>
                  <a:ext cx="4127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30956">
                      <a:moveTo>
                        <a:pt x="0" y="30956"/>
                      </a:moveTo>
                      <a:lnTo>
                        <a:pt x="20637" y="30956"/>
                      </a:lnTo>
                      <a:cubicBezTo>
                        <a:pt x="32035" y="30956"/>
                        <a:pt x="41275" y="21717"/>
                        <a:pt x="41275" y="10319"/>
                      </a:cubicBezTo>
                      <a:lnTo>
                        <a:pt x="41275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24" name="Freeform 124"/>
                <p:cNvSpPr/>
                <p:nvPr/>
              </p:nvSpPr>
              <p:spPr>
                <a:xfrm>
                  <a:off x="6623844" y="4219575"/>
                  <a:ext cx="144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9525">
                      <a:moveTo>
                        <a:pt x="0" y="0"/>
                      </a:moveTo>
                      <a:lnTo>
                        <a:pt x="144463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</p:grpSp>
          <p:sp>
            <p:nvSpPr>
              <p:cNvPr id="126" name="TextBox 126"/>
              <p:cNvSpPr txBox="1"/>
              <p:nvPr/>
            </p:nvSpPr>
            <p:spPr>
              <a:xfrm>
                <a:off x="6901815" y="41157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YOLOv8 检测</a:t>
                </a:r>
              </a:p>
            </p:txBody>
          </p:sp>
          <p:sp>
            <p:nvSpPr>
              <p:cNvPr id="127" name="TextBox 127"/>
              <p:cNvSpPr txBox="1"/>
              <p:nvPr/>
            </p:nvSpPr>
            <p:spPr>
              <a:xfrm>
                <a:off x="6903720" y="4341495"/>
                <a:ext cx="11149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缺陷框+类别+置信度</a:t>
                </a:r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>
              <a:off x="9039225" y="3962400"/>
              <a:ext cx="2428875" cy="628650"/>
              <a:chOff x="9039225" y="3962400"/>
              <a:chExt cx="2428875" cy="628650"/>
            </a:xfrm>
          </p:grpSpPr>
          <p:sp>
            <p:nvSpPr>
              <p:cNvPr id="129" name="Rectangle 129"/>
              <p:cNvSpPr/>
              <p:nvPr/>
            </p:nvSpPr>
            <p:spPr>
              <a:xfrm>
                <a:off x="9039225" y="39624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37" name="Group 137"/>
              <p:cNvGrpSpPr/>
              <p:nvPr/>
            </p:nvGrpSpPr>
            <p:grpSpPr>
              <a:xfrm>
                <a:off x="9213850" y="4137025"/>
                <a:ext cx="165100" cy="165100"/>
                <a:chOff x="9213850" y="4137025"/>
                <a:chExt cx="165100" cy="165100"/>
              </a:xfrm>
            </p:grpSpPr>
            <p:sp>
              <p:nvSpPr>
                <p:cNvPr id="130" name="Freeform 130"/>
                <p:cNvSpPr/>
                <p:nvPr/>
              </p:nvSpPr>
              <p:spPr>
                <a:xfrm>
                  <a:off x="9213850" y="4137025"/>
                  <a:ext cx="165100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165100">
                      <a:moveTo>
                        <a:pt x="10319" y="0"/>
                      </a:moveTo>
                      <a:lnTo>
                        <a:pt x="154781" y="0"/>
                      </a:lnTo>
                      <a:cubicBezTo>
                        <a:pt x="160480" y="0"/>
                        <a:pt x="165100" y="4620"/>
                        <a:pt x="165100" y="10319"/>
                      </a:cubicBezTo>
                      <a:lnTo>
                        <a:pt x="165100" y="61912"/>
                      </a:lnTo>
                      <a:cubicBezTo>
                        <a:pt x="165100" y="67611"/>
                        <a:pt x="160480" y="72231"/>
                        <a:pt x="154781" y="72231"/>
                      </a:cubicBezTo>
                      <a:lnTo>
                        <a:pt x="82550" y="72231"/>
                      </a:lnTo>
                      <a:cubicBezTo>
                        <a:pt x="76851" y="72231"/>
                        <a:pt x="72231" y="76851"/>
                        <a:pt x="72231" y="82550"/>
                      </a:cubicBezTo>
                      <a:lnTo>
                        <a:pt x="72231" y="154781"/>
                      </a:lnTo>
                      <a:cubicBezTo>
                        <a:pt x="72231" y="160480"/>
                        <a:pt x="67611" y="165100"/>
                        <a:pt x="61912" y="165100"/>
                      </a:cubicBezTo>
                      <a:lnTo>
                        <a:pt x="10319" y="165100"/>
                      </a:lnTo>
                      <a:cubicBezTo>
                        <a:pt x="4620" y="165100"/>
                        <a:pt x="0" y="160480"/>
                        <a:pt x="0" y="154781"/>
                      </a:cubicBezTo>
                      <a:lnTo>
                        <a:pt x="0" y="10319"/>
                      </a:lnTo>
                      <a:cubicBezTo>
                        <a:pt x="0" y="4620"/>
                        <a:pt x="4620" y="0"/>
                        <a:pt x="10319" y="0"/>
                      </a:cubicBez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31" name="Freeform 131"/>
                <p:cNvSpPr/>
                <p:nvPr/>
              </p:nvSpPr>
              <p:spPr>
                <a:xfrm>
                  <a:off x="9213850" y="4178300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32" name="Freeform 132"/>
                <p:cNvSpPr/>
                <p:nvPr/>
              </p:nvSpPr>
              <p:spPr>
                <a:xfrm>
                  <a:off x="9213850" y="4219575"/>
                  <a:ext cx="309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9525">
                      <a:moveTo>
                        <a:pt x="0" y="0"/>
                      </a:moveTo>
                      <a:lnTo>
                        <a:pt x="30956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33" name="Freeform 133"/>
                <p:cNvSpPr/>
                <p:nvPr/>
              </p:nvSpPr>
              <p:spPr>
                <a:xfrm>
                  <a:off x="9213850" y="4260850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34" name="Freeform 134"/>
                <p:cNvSpPr/>
                <p:nvPr/>
              </p:nvSpPr>
              <p:spPr>
                <a:xfrm>
                  <a:off x="9255125" y="4137025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0"/>
                      </a:moveTo>
                      <a:lnTo>
                        <a:pt x="0" y="2063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35" name="Freeform 135"/>
                <p:cNvSpPr/>
                <p:nvPr/>
              </p:nvSpPr>
              <p:spPr>
                <a:xfrm>
                  <a:off x="9296400" y="4137025"/>
                  <a:ext cx="952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956">
                      <a:moveTo>
                        <a:pt x="0" y="0"/>
                      </a:moveTo>
                      <a:lnTo>
                        <a:pt x="0" y="30956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36" name="Freeform 136"/>
                <p:cNvSpPr/>
                <p:nvPr/>
              </p:nvSpPr>
              <p:spPr>
                <a:xfrm>
                  <a:off x="9337675" y="4137025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0"/>
                      </a:moveTo>
                      <a:lnTo>
                        <a:pt x="0" y="2063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</p:grpSp>
          <p:sp>
            <p:nvSpPr>
              <p:cNvPr id="138" name="TextBox 138"/>
              <p:cNvSpPr txBox="1"/>
              <p:nvPr/>
            </p:nvSpPr>
            <p:spPr>
              <a:xfrm>
                <a:off x="9502140" y="41157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规则分级引擎</a:t>
                </a:r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9504045" y="4341495"/>
                <a:ext cx="99498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果径/着色率/占比</a:t>
                </a:r>
              </a:p>
            </p:txBody>
          </p:sp>
        </p:grpSp>
      </p:grpSp>
      <p:grpSp>
        <p:nvGrpSpPr>
          <p:cNvPr id="144" name="Group 144"/>
          <p:cNvGrpSpPr/>
          <p:nvPr/>
        </p:nvGrpSpPr>
        <p:grpSpPr>
          <a:xfrm>
            <a:off x="4762500" y="4705350"/>
            <a:ext cx="3048000" cy="211931"/>
            <a:chOff x="4762500" y="4705350"/>
            <a:chExt cx="3048000" cy="211931"/>
          </a:xfrm>
        </p:grpSpPr>
        <p:sp>
          <p:nvSpPr>
            <p:cNvPr id="142" name="Rectangle 142"/>
            <p:cNvSpPr/>
            <p:nvPr/>
          </p:nvSpPr>
          <p:spPr>
            <a:xfrm>
              <a:off x="4762500" y="4705350"/>
              <a:ext cx="3048000" cy="190500"/>
            </a:xfrm>
            <a:prstGeom prst="roundRect">
              <a:avLst>
                <a:gd name="adj" fmla="val 50000"/>
              </a:avLst>
            </a:prstGeom>
            <a:solidFill>
              <a:srgbClr val="1F2A33">
                <a:alpha val="6000"/>
              </a:srgbClr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5473197" y="4749641"/>
              <a:ext cx="16266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↕ SQLAlchemy ORM · 文件 I/O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571500" y="4933950"/>
            <a:ext cx="11001375" cy="914400"/>
            <a:chOff x="571500" y="4933950"/>
            <a:chExt cx="11001375" cy="914400"/>
          </a:xfrm>
        </p:grpSpPr>
        <p:sp>
          <p:nvSpPr>
            <p:cNvPr id="145" name="Rectangle 145"/>
            <p:cNvSpPr/>
            <p:nvPr/>
          </p:nvSpPr>
          <p:spPr>
            <a:xfrm>
              <a:off x="571500" y="4933950"/>
              <a:ext cx="381000" cy="914400"/>
            </a:xfrm>
            <a:prstGeom prst="roundRect">
              <a:avLst>
                <a:gd name="adj" fmla="val 20000"/>
              </a:avLst>
            </a:prstGeom>
            <a:solidFill>
              <a:srgbClr val="5B6B73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627436" y="52863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1028700" y="4933950"/>
              <a:ext cx="10544175" cy="914400"/>
            </a:xfrm>
            <a:prstGeom prst="roundRect">
              <a:avLst>
                <a:gd name="adj" fmla="val 10417"/>
              </a:avLst>
            </a:prstGeom>
            <a:solidFill>
              <a:srgbClr val="5B6B73">
                <a:alpha val="5000"/>
              </a:srgbClr>
            </a:solidFill>
            <a:ln w="14288">
              <a:solidFill>
                <a:srgbClr val="CBD5E1"/>
              </a:solidFill>
              <a:custDash>
                <a:ds d="400000" sp="266666"/>
              </a:custDash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1168718" y="5038249"/>
              <a:ext cx="30144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数据层 · MySQL 业务数据 + 本地文件 + 模型权重</a:t>
              </a:r>
            </a:p>
          </p:txBody>
        </p:sp>
        <p:grpSp>
          <p:nvGrpSpPr>
            <p:cNvPr id="156" name="Group 156"/>
            <p:cNvGrpSpPr/>
            <p:nvPr/>
          </p:nvGrpSpPr>
          <p:grpSpPr>
            <a:xfrm>
              <a:off x="1238250" y="5238750"/>
              <a:ext cx="3286125" cy="514350"/>
              <a:chOff x="1238250" y="5238750"/>
              <a:chExt cx="3286125" cy="514350"/>
            </a:xfrm>
          </p:grpSpPr>
          <p:sp>
            <p:nvSpPr>
              <p:cNvPr id="149" name="Rectangle 149"/>
              <p:cNvSpPr/>
              <p:nvPr/>
            </p:nvSpPr>
            <p:spPr>
              <a:xfrm>
                <a:off x="1238250" y="5238750"/>
                <a:ext cx="3286125" cy="514350"/>
              </a:xfrm>
              <a:prstGeom prst="roundRect">
                <a:avLst>
                  <a:gd name="adj" fmla="val 14815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53" name="Group 153"/>
              <p:cNvGrpSpPr/>
              <p:nvPr/>
            </p:nvGrpSpPr>
            <p:grpSpPr>
              <a:xfrm>
                <a:off x="1431925" y="5403056"/>
                <a:ext cx="165100" cy="185738"/>
                <a:chOff x="1431925" y="5403056"/>
                <a:chExt cx="165100" cy="185738"/>
              </a:xfrm>
            </p:grpSpPr>
            <p:sp>
              <p:nvSpPr>
                <p:cNvPr id="150" name="Freeform 150"/>
                <p:cNvSpPr/>
                <p:nvPr/>
              </p:nvSpPr>
              <p:spPr>
                <a:xfrm>
                  <a:off x="1431925" y="5403056"/>
                  <a:ext cx="165100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61912">
                      <a:moveTo>
                        <a:pt x="0" y="30956"/>
                      </a:moveTo>
                      <a:cubicBezTo>
                        <a:pt x="0" y="48053"/>
                        <a:pt x="36959" y="61912"/>
                        <a:pt x="82550" y="61912"/>
                      </a:cubicBezTo>
                      <a:cubicBezTo>
                        <a:pt x="128141" y="61912"/>
                        <a:pt x="165100" y="48053"/>
                        <a:pt x="165100" y="30956"/>
                      </a:cubicBezTo>
                      <a:cubicBezTo>
                        <a:pt x="165100" y="13860"/>
                        <a:pt x="128141" y="0"/>
                        <a:pt x="82550" y="0"/>
                      </a:cubicBezTo>
                      <a:cubicBezTo>
                        <a:pt x="36959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51" name="Freeform 151"/>
                <p:cNvSpPr/>
                <p:nvPr/>
              </p:nvSpPr>
              <p:spPr>
                <a:xfrm>
                  <a:off x="1431925" y="5434012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52" name="Freeform 152"/>
                <p:cNvSpPr/>
                <p:nvPr/>
              </p:nvSpPr>
              <p:spPr>
                <a:xfrm>
                  <a:off x="1431925" y="5495925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</p:grpSp>
          <p:sp>
            <p:nvSpPr>
              <p:cNvPr id="154" name="TextBox 154"/>
              <p:cNvSpPr txBox="1"/>
              <p:nvPr/>
            </p:nvSpPr>
            <p:spPr>
              <a:xfrm>
                <a:off x="1720215" y="5344478"/>
                <a:ext cx="9749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MySQL 业务库</a:t>
                </a:r>
              </a:p>
            </p:txBody>
          </p:sp>
          <p:sp>
            <p:nvSpPr>
              <p:cNvPr id="155" name="TextBox 155"/>
              <p:cNvSpPr txBox="1"/>
              <p:nvPr/>
            </p:nvSpPr>
            <p:spPr>
              <a:xfrm>
                <a:off x="1722120" y="5551170"/>
                <a:ext cx="6409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10 张核心表</a:t>
                </a:r>
              </a:p>
            </p:txBody>
          </p:sp>
        </p:grpSp>
        <p:grpSp>
          <p:nvGrpSpPr>
            <p:cNvPr id="165" name="Group 165"/>
            <p:cNvGrpSpPr/>
            <p:nvPr/>
          </p:nvGrpSpPr>
          <p:grpSpPr>
            <a:xfrm>
              <a:off x="4714875" y="5238750"/>
              <a:ext cx="3286125" cy="514350"/>
              <a:chOff x="4714875" y="5238750"/>
              <a:chExt cx="3286125" cy="514350"/>
            </a:xfrm>
          </p:grpSpPr>
          <p:sp>
            <p:nvSpPr>
              <p:cNvPr id="157" name="Rectangle 157"/>
              <p:cNvSpPr/>
              <p:nvPr/>
            </p:nvSpPr>
            <p:spPr>
              <a:xfrm>
                <a:off x="4714875" y="5238750"/>
                <a:ext cx="3286125" cy="514350"/>
              </a:xfrm>
              <a:prstGeom prst="roundRect">
                <a:avLst>
                  <a:gd name="adj" fmla="val 14815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62" name="Group 162"/>
              <p:cNvGrpSpPr/>
              <p:nvPr/>
            </p:nvGrpSpPr>
            <p:grpSpPr>
              <a:xfrm>
                <a:off x="4898231" y="5403056"/>
                <a:ext cx="185738" cy="185738"/>
                <a:chOff x="4898231" y="5403056"/>
                <a:chExt cx="185738" cy="185738"/>
              </a:xfrm>
            </p:grpSpPr>
            <p:sp>
              <p:nvSpPr>
                <p:cNvPr id="158" name="Freeform 158"/>
                <p:cNvSpPr/>
                <p:nvPr/>
              </p:nvSpPr>
              <p:spPr>
                <a:xfrm>
                  <a:off x="5022056" y="54546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03" y="0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59" name="Freeform 159"/>
                <p:cNvSpPr/>
                <p:nvPr/>
              </p:nvSpPr>
              <p:spPr>
                <a:xfrm>
                  <a:off x="4898231" y="54030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0" y="30956"/>
                      </a:moveTo>
                      <a:cubicBezTo>
                        <a:pt x="0" y="13860"/>
                        <a:pt x="13860" y="0"/>
                        <a:pt x="30956" y="0"/>
                      </a:cubicBezTo>
                      <a:lnTo>
                        <a:pt x="154781" y="0"/>
                      </a:lnTo>
                      <a:cubicBezTo>
                        <a:pt x="171878" y="0"/>
                        <a:pt x="185738" y="13860"/>
                        <a:pt x="185738" y="30956"/>
                      </a:cubicBezTo>
                      <a:lnTo>
                        <a:pt x="185738" y="154781"/>
                      </a:lnTo>
                      <a:cubicBezTo>
                        <a:pt x="185738" y="171878"/>
                        <a:pt x="171878" y="185738"/>
                        <a:pt x="154781" y="185738"/>
                      </a:cubicBezTo>
                      <a:lnTo>
                        <a:pt x="30956" y="185738"/>
                      </a:lnTo>
                      <a:cubicBezTo>
                        <a:pt x="13860" y="185738"/>
                        <a:pt x="0" y="171878"/>
                        <a:pt x="0" y="154781"/>
                      </a:cubicBezTo>
                      <a:lnTo>
                        <a:pt x="0" y="30956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60" name="Freeform 160"/>
                <p:cNvSpPr/>
                <p:nvPr/>
              </p:nvSpPr>
              <p:spPr>
                <a:xfrm>
                  <a:off x="4898231" y="5476392"/>
                  <a:ext cx="134144" cy="60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4" h="60808">
                      <a:moveTo>
                        <a:pt x="0" y="60808"/>
                      </a:moveTo>
                      <a:lnTo>
                        <a:pt x="51594" y="9215"/>
                      </a:lnTo>
                      <a:cubicBezTo>
                        <a:pt x="61170" y="0"/>
                        <a:pt x="72974" y="0"/>
                        <a:pt x="82550" y="9215"/>
                      </a:cubicBezTo>
                      <a:lnTo>
                        <a:pt x="134144" y="60808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61" name="Freeform 161"/>
                <p:cNvSpPr/>
                <p:nvPr/>
              </p:nvSpPr>
              <p:spPr>
                <a:xfrm>
                  <a:off x="5011738" y="5497029"/>
                  <a:ext cx="72231" cy="40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40171">
                      <a:moveTo>
                        <a:pt x="0" y="19533"/>
                      </a:moveTo>
                      <a:lnTo>
                        <a:pt x="10319" y="9215"/>
                      </a:lnTo>
                      <a:cubicBezTo>
                        <a:pt x="19895" y="0"/>
                        <a:pt x="31699" y="0"/>
                        <a:pt x="41275" y="9215"/>
                      </a:cubicBezTo>
                      <a:lnTo>
                        <a:pt x="72231" y="40171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</p:grpSp>
          <p:sp>
            <p:nvSpPr>
              <p:cNvPr id="163" name="TextBox 163"/>
              <p:cNvSpPr txBox="1"/>
              <p:nvPr/>
            </p:nvSpPr>
            <p:spPr>
              <a:xfrm>
                <a:off x="5196840" y="5344478"/>
                <a:ext cx="11881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文件存储 uploads</a:t>
                </a:r>
              </a:p>
            </p:txBody>
          </p:sp>
          <p:sp>
            <p:nvSpPr>
              <p:cNvPr id="164" name="TextBox 164"/>
              <p:cNvSpPr txBox="1"/>
              <p:nvPr/>
            </p:nvSpPr>
            <p:spPr>
              <a:xfrm>
                <a:off x="5198745" y="5551170"/>
                <a:ext cx="7609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原图 + 标注图</a:t>
                </a:r>
              </a:p>
            </p:txBody>
          </p:sp>
        </p:grpSp>
        <p:grpSp>
          <p:nvGrpSpPr>
            <p:cNvPr id="174" name="Group 174"/>
            <p:cNvGrpSpPr/>
            <p:nvPr/>
          </p:nvGrpSpPr>
          <p:grpSpPr>
            <a:xfrm>
              <a:off x="8191500" y="5238750"/>
              <a:ext cx="3276600" cy="514350"/>
              <a:chOff x="8191500" y="5238750"/>
              <a:chExt cx="3276600" cy="514350"/>
            </a:xfrm>
          </p:grpSpPr>
          <p:sp>
            <p:nvSpPr>
              <p:cNvPr id="166" name="Rectangle 166"/>
              <p:cNvSpPr/>
              <p:nvPr/>
            </p:nvSpPr>
            <p:spPr>
              <a:xfrm>
                <a:off x="8191500" y="5238750"/>
                <a:ext cx="3276600" cy="514350"/>
              </a:xfrm>
              <a:prstGeom prst="roundRect">
                <a:avLst>
                  <a:gd name="adj" fmla="val 14815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71" name="Group 171"/>
              <p:cNvGrpSpPr/>
              <p:nvPr/>
            </p:nvGrpSpPr>
            <p:grpSpPr>
              <a:xfrm>
                <a:off x="8385175" y="5403056"/>
                <a:ext cx="165100" cy="185738"/>
                <a:chOff x="8385175" y="5403056"/>
                <a:chExt cx="165100" cy="185738"/>
              </a:xfrm>
            </p:grpSpPr>
            <p:sp>
              <p:nvSpPr>
                <p:cNvPr id="167" name="Freeform 167"/>
                <p:cNvSpPr/>
                <p:nvPr/>
              </p:nvSpPr>
              <p:spPr>
                <a:xfrm>
                  <a:off x="8385175" y="5403056"/>
                  <a:ext cx="165100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185738">
                      <a:moveTo>
                        <a:pt x="82550" y="0"/>
                      </a:moveTo>
                      <a:lnTo>
                        <a:pt x="165100" y="46434"/>
                      </a:lnTo>
                      <a:lnTo>
                        <a:pt x="165100" y="139303"/>
                      </a:lnTo>
                      <a:lnTo>
                        <a:pt x="82550" y="185738"/>
                      </a:lnTo>
                      <a:lnTo>
                        <a:pt x="0" y="139303"/>
                      </a:lnTo>
                      <a:lnTo>
                        <a:pt x="0" y="46434"/>
                      </a:lnTo>
                      <a:lnTo>
                        <a:pt x="82550" y="0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68" name="Freeform 168"/>
                <p:cNvSpPr/>
                <p:nvPr/>
              </p:nvSpPr>
              <p:spPr>
                <a:xfrm>
                  <a:off x="8467725" y="5449491"/>
                  <a:ext cx="82550" cy="46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46434">
                      <a:moveTo>
                        <a:pt x="0" y="46434"/>
                      </a:moveTo>
                      <a:lnTo>
                        <a:pt x="82550" y="0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69" name="Freeform 169"/>
                <p:cNvSpPr/>
                <p:nvPr/>
              </p:nvSpPr>
              <p:spPr>
                <a:xfrm>
                  <a:off x="8467725" y="5495925"/>
                  <a:ext cx="9525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2869">
                      <a:moveTo>
                        <a:pt x="0" y="0"/>
                      </a:moveTo>
                      <a:lnTo>
                        <a:pt x="0" y="92869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70" name="Freeform 170"/>
                <p:cNvSpPr/>
                <p:nvPr/>
              </p:nvSpPr>
              <p:spPr>
                <a:xfrm>
                  <a:off x="8385175" y="5449491"/>
                  <a:ext cx="82550" cy="46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46434">
                      <a:moveTo>
                        <a:pt x="82550" y="4643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</p:grpSp>
          <p:sp>
            <p:nvSpPr>
              <p:cNvPr id="172" name="TextBox 172"/>
              <p:cNvSpPr txBox="1"/>
              <p:nvPr/>
            </p:nvSpPr>
            <p:spPr>
              <a:xfrm>
                <a:off x="8673465" y="5344478"/>
                <a:ext cx="121751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模型权重 weights</a:t>
                </a:r>
              </a:p>
            </p:txBody>
          </p:sp>
          <p:sp>
            <p:nvSpPr>
              <p:cNvPr id="173" name="TextBox 173"/>
              <p:cNvSpPr txBox="1"/>
              <p:nvPr/>
            </p:nvSpPr>
            <p:spPr>
              <a:xfrm>
                <a:off x="8675370" y="5551170"/>
                <a:ext cx="6409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best.pt 等</a:t>
                </a:r>
              </a:p>
            </p:txBody>
          </p:sp>
        </p:grpSp>
      </p:grpSp>
      <p:grpSp>
        <p:nvGrpSpPr>
          <p:cNvPr id="178" name="Group 178"/>
          <p:cNvGrpSpPr/>
          <p:nvPr/>
        </p:nvGrpSpPr>
        <p:grpSpPr>
          <a:xfrm>
            <a:off x="560070" y="6513195"/>
            <a:ext cx="11071860" cy="182880"/>
            <a:chOff x="560070" y="6513195"/>
            <a:chExt cx="11071860" cy="182880"/>
          </a:xfrm>
        </p:grpSpPr>
        <p:sp>
          <p:nvSpPr>
            <p:cNvPr id="176" name="TextBox 176"/>
            <p:cNvSpPr txBox="1"/>
            <p:nvPr/>
          </p:nvSpPr>
          <p:spPr>
            <a:xfrm>
              <a:off x="560070" y="65131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11297031" y="6513195"/>
              <a:ext cx="334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11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  <p:bldP spid="83" grpId="0"/>
      <p:bldP spid="86" grpId="0"/>
      <p:bldP spid="141" grpId="0"/>
      <p:bldP spid="144" grpId="0"/>
      <p:bldP spid="1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23850"/>
            <a:ext cx="6389599" cy="633412"/>
            <a:chOff x="571500" y="323850"/>
            <a:chExt cx="6389599" cy="633412"/>
          </a:xfrm>
        </p:grpSpPr>
        <p:sp>
          <p:nvSpPr>
            <p:cNvPr id="3" name="Rectangle 3"/>
            <p:cNvSpPr/>
            <p:nvPr/>
          </p:nvSpPr>
          <p:spPr>
            <a:xfrm>
              <a:off x="571500" y="323850"/>
              <a:ext cx="57150" cy="4762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570" y="350520"/>
              <a:ext cx="621052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核心算法方案：双引擎 · 可解释 · 可兜底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743902"/>
              <a:ext cx="49622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传统 CV 做品质分级 + 深度学习 YOLOv8 做缺陷检测——分级附量化依据，非黑盒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7700" y="1037749"/>
            <a:ext cx="4476322" cy="198120"/>
            <a:chOff x="647700" y="1037749"/>
            <a:chExt cx="4476322" cy="198120"/>
          </a:xfrm>
        </p:grpSpPr>
        <p:sp>
          <p:nvSpPr>
            <p:cNvPr id="7" name="Ellipse 7"/>
            <p:cNvSpPr/>
            <p:nvPr/>
          </p:nvSpPr>
          <p:spPr>
            <a:xfrm>
              <a:off x="647700" y="1038225"/>
              <a:ext cx="114300" cy="114300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6768" y="1037749"/>
              <a:ext cx="18950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传统 CV（分割 / 特征 / 分级）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3028950" y="1038225"/>
              <a:ext cx="114300" cy="11430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188018" y="1037749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深度学习 YOLOv8（缺陷检测）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667000" y="2781300"/>
            <a:ext cx="6762750" cy="152400"/>
            <a:chOff x="2667000" y="2781300"/>
            <a:chExt cx="6762750" cy="152400"/>
          </a:xfrm>
        </p:grpSpPr>
        <p:sp>
          <p:nvSpPr>
            <p:cNvPr id="12" name="Freeform 12"/>
            <p:cNvSpPr/>
            <p:nvPr/>
          </p:nvSpPr>
          <p:spPr>
            <a:xfrm>
              <a:off x="2667000" y="27813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0" y="0"/>
                  </a:ln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876800" y="27813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0" y="0"/>
                  </a:ln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086600" y="27813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0" y="0"/>
                  </a:ln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296400" y="27813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0" y="0"/>
                  </a:ln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71500" y="1409700"/>
            <a:ext cx="2076450" cy="2819400"/>
            <a:chOff x="571500" y="1409700"/>
            <a:chExt cx="2076450" cy="2819400"/>
          </a:xfrm>
        </p:grpSpPr>
        <p:sp>
          <p:nvSpPr>
            <p:cNvPr id="17" name="Rectangle 17"/>
            <p:cNvSpPr/>
            <p:nvPr/>
          </p:nvSpPr>
          <p:spPr>
            <a:xfrm>
              <a:off x="571500" y="1409700"/>
              <a:ext cx="2076450" cy="2819400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14288">
              <a:solidFill>
                <a:srgbClr val="A9D2C8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8" name="Freeform 18"/>
            <p:cNvSpPr/>
            <p:nvPr/>
          </p:nvSpPr>
          <p:spPr>
            <a:xfrm>
              <a:off x="571500" y="1409700"/>
              <a:ext cx="2076450" cy="533400"/>
            </a:xfrm>
            <a:custGeom>
              <a:avLst/>
              <a:gdLst/>
              <a:ahLst/>
              <a:cxnLst/>
              <a:rect l="l" t="t" r="r" b="b"/>
              <a:pathLst>
                <a:path w="2076450" h="533400">
                  <a:moveTo>
                    <a:pt x="76200" y="0"/>
                  </a:moveTo>
                  <a:lnTo>
                    <a:pt x="2000250" y="0"/>
                  </a:lnTo>
                  <a:cubicBezTo>
                    <a:pt x="2042334" y="0"/>
                    <a:pt x="2076450" y="34116"/>
                    <a:pt x="2076450" y="76200"/>
                  </a:cubicBezTo>
                  <a:lnTo>
                    <a:pt x="2076450" y="533400"/>
                  </a:lnTo>
                  <a:lnTo>
                    <a:pt x="0" y="5334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4850" y="15240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6967" y="1593056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0608" y="1576864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预处理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" y="20574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6148" y="2111216"/>
              <a:ext cx="4137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传统 CV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38188" y="25098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3918" y="247602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缩放归一化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38188" y="27574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3918" y="272367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高斯去噪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38188" y="30051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3918" y="29713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灰度世界白平衡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5800" y="3467100"/>
              <a:ext cx="1847850" cy="609600"/>
            </a:xfrm>
            <a:prstGeom prst="roundRect">
              <a:avLst>
                <a:gd name="adj" fmla="val 9375"/>
              </a:avLst>
            </a:prstGeom>
            <a:solidFill>
              <a:srgbClr val="0E7C66">
                <a:alpha val="7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0575" y="3595688"/>
              <a:ext cx="2290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3791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标准化图像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781300" y="1409700"/>
            <a:ext cx="2076450" cy="2819400"/>
            <a:chOff x="2781300" y="1409700"/>
            <a:chExt cx="2076450" cy="2819400"/>
          </a:xfrm>
        </p:grpSpPr>
        <p:sp>
          <p:nvSpPr>
            <p:cNvPr id="34" name="Rectangle 34"/>
            <p:cNvSpPr/>
            <p:nvPr/>
          </p:nvSpPr>
          <p:spPr>
            <a:xfrm>
              <a:off x="2781300" y="1409700"/>
              <a:ext cx="2076450" cy="2819400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14288">
              <a:solidFill>
                <a:srgbClr val="A9D2C8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5" name="Freeform 35"/>
            <p:cNvSpPr/>
            <p:nvPr/>
          </p:nvSpPr>
          <p:spPr>
            <a:xfrm>
              <a:off x="2781300" y="1409700"/>
              <a:ext cx="2076450" cy="533400"/>
            </a:xfrm>
            <a:custGeom>
              <a:avLst/>
              <a:gdLst/>
              <a:ahLst/>
              <a:cxnLst/>
              <a:rect l="l" t="t" r="r" b="b"/>
              <a:pathLst>
                <a:path w="2076450" h="533400">
                  <a:moveTo>
                    <a:pt x="76200" y="0"/>
                  </a:moveTo>
                  <a:lnTo>
                    <a:pt x="2000250" y="0"/>
                  </a:lnTo>
                  <a:cubicBezTo>
                    <a:pt x="2042334" y="0"/>
                    <a:pt x="2076450" y="34116"/>
                    <a:pt x="2076450" y="76200"/>
                  </a:cubicBezTo>
                  <a:lnTo>
                    <a:pt x="2076450" y="533400"/>
                  </a:lnTo>
                  <a:lnTo>
                    <a:pt x="0" y="5334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914650" y="15240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947077" y="15930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60408" y="1576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果实分割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914650" y="20574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145948" y="2111216"/>
              <a:ext cx="4137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传统 CV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2947988" y="25098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073718" y="2476024"/>
              <a:ext cx="798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HSV 阈值分割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2947988" y="27574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073718" y="272367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形态学开闭运算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2947988" y="30051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073718" y="29713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外接圆估果径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895600" y="3467100"/>
              <a:ext cx="1847850" cy="609600"/>
            </a:xfrm>
            <a:prstGeom prst="roundRect">
              <a:avLst>
                <a:gd name="adj" fmla="val 9375"/>
              </a:avLst>
            </a:prstGeom>
            <a:solidFill>
              <a:srgbClr val="0E7C66">
                <a:alpha val="7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00375" y="3595688"/>
              <a:ext cx="2290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996565" y="3791902"/>
              <a:ext cx="1019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果实掩膜 · ROI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991100" y="1409700"/>
            <a:ext cx="2076450" cy="2819400"/>
            <a:chOff x="4991100" y="1409700"/>
            <a:chExt cx="2076450" cy="2819400"/>
          </a:xfrm>
        </p:grpSpPr>
        <p:sp>
          <p:nvSpPr>
            <p:cNvPr id="51" name="Rectangle 51"/>
            <p:cNvSpPr/>
            <p:nvPr/>
          </p:nvSpPr>
          <p:spPr>
            <a:xfrm>
              <a:off x="4991100" y="1409700"/>
              <a:ext cx="2076450" cy="2819400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14288">
              <a:solidFill>
                <a:srgbClr val="F6C79B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2" name="Freeform 52"/>
            <p:cNvSpPr/>
            <p:nvPr/>
          </p:nvSpPr>
          <p:spPr>
            <a:xfrm>
              <a:off x="4991100" y="1409700"/>
              <a:ext cx="2076450" cy="533400"/>
            </a:xfrm>
            <a:custGeom>
              <a:avLst/>
              <a:gdLst/>
              <a:ahLst/>
              <a:cxnLst/>
              <a:rect l="l" t="t" r="r" b="b"/>
              <a:pathLst>
                <a:path w="2076450" h="533400">
                  <a:moveTo>
                    <a:pt x="76200" y="0"/>
                  </a:moveTo>
                  <a:lnTo>
                    <a:pt x="2000250" y="0"/>
                  </a:lnTo>
                  <a:cubicBezTo>
                    <a:pt x="2042334" y="0"/>
                    <a:pt x="2076450" y="34116"/>
                    <a:pt x="2076450" y="76200"/>
                  </a:cubicBezTo>
                  <a:lnTo>
                    <a:pt x="2076450" y="533400"/>
                  </a:lnTo>
                  <a:lnTo>
                    <a:pt x="0" y="5334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2811D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24450" y="15240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156877" y="15930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470208" y="1576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缺陷检测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124450" y="2057400"/>
              <a:ext cx="952500" cy="209550"/>
            </a:xfrm>
            <a:prstGeom prst="roundRect">
              <a:avLst>
                <a:gd name="adj" fmla="val 50000"/>
              </a:avLst>
            </a:prstGeom>
            <a:solidFill>
              <a:srgbClr val="F2811D">
                <a:alpha val="12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59194" y="21112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深度学习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5157788" y="2509838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83518" y="2476024"/>
              <a:ext cx="798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YOLOv8n / s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157788" y="2757488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83518" y="2723674"/>
              <a:ext cx="12794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病斑/裂纹/碰伤/畸形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157788" y="3005138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83518" y="2971324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框 + 类别 + 置信度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105400" y="3467100"/>
              <a:ext cx="1847850" cy="609600"/>
            </a:xfrm>
            <a:prstGeom prst="roundRect">
              <a:avLst>
                <a:gd name="adj" fmla="val 9375"/>
              </a:avLst>
            </a:prstGeom>
            <a:solidFill>
              <a:srgbClr val="F2811D">
                <a:alpha val="9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210175" y="3595688"/>
              <a:ext cx="2290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206365" y="3791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缺陷框列表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200900" y="1409700"/>
            <a:ext cx="2076450" cy="2819400"/>
            <a:chOff x="7200900" y="1409700"/>
            <a:chExt cx="2076450" cy="2819400"/>
          </a:xfrm>
        </p:grpSpPr>
        <p:sp>
          <p:nvSpPr>
            <p:cNvPr id="68" name="Rectangle 68"/>
            <p:cNvSpPr/>
            <p:nvPr/>
          </p:nvSpPr>
          <p:spPr>
            <a:xfrm>
              <a:off x="7200900" y="1409700"/>
              <a:ext cx="2076450" cy="2819400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14288">
              <a:solidFill>
                <a:srgbClr val="A9D2C8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69" name="Freeform 69"/>
            <p:cNvSpPr/>
            <p:nvPr/>
          </p:nvSpPr>
          <p:spPr>
            <a:xfrm>
              <a:off x="7200900" y="1409700"/>
              <a:ext cx="2076450" cy="533400"/>
            </a:xfrm>
            <a:custGeom>
              <a:avLst/>
              <a:gdLst/>
              <a:ahLst/>
              <a:cxnLst/>
              <a:rect l="l" t="t" r="r" b="b"/>
              <a:pathLst>
                <a:path w="2076450" h="533400">
                  <a:moveTo>
                    <a:pt x="76200" y="0"/>
                  </a:moveTo>
                  <a:lnTo>
                    <a:pt x="2000250" y="0"/>
                  </a:lnTo>
                  <a:cubicBezTo>
                    <a:pt x="2042334" y="0"/>
                    <a:pt x="2076450" y="34116"/>
                    <a:pt x="2076450" y="76200"/>
                  </a:cubicBezTo>
                  <a:lnTo>
                    <a:pt x="2076450" y="533400"/>
                  </a:lnTo>
                  <a:lnTo>
                    <a:pt x="0" y="5334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334250" y="15240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366677" y="15930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80008" y="1576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特征计算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334250" y="20574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565548" y="2111216"/>
              <a:ext cx="4137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传统 CV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367588" y="25098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493318" y="24760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果径（像素→mm）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367588" y="27574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93318" y="2723674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着色率（橙色 %）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367588" y="30051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493318" y="2971324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缺陷面积占比 %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315200" y="3467100"/>
              <a:ext cx="1847850" cy="609600"/>
            </a:xfrm>
            <a:prstGeom prst="roundRect">
              <a:avLst>
                <a:gd name="adj" fmla="val 9375"/>
              </a:avLst>
            </a:prstGeom>
            <a:solidFill>
              <a:srgbClr val="0E7C66">
                <a:alpha val="7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419975" y="3595688"/>
              <a:ext cx="2290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416165" y="37919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量化指标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410700" y="1409700"/>
            <a:ext cx="2076450" cy="2819400"/>
            <a:chOff x="9410700" y="1409700"/>
            <a:chExt cx="2076450" cy="2819400"/>
          </a:xfrm>
        </p:grpSpPr>
        <p:sp>
          <p:nvSpPr>
            <p:cNvPr id="85" name="Rectangle 85"/>
            <p:cNvSpPr/>
            <p:nvPr/>
          </p:nvSpPr>
          <p:spPr>
            <a:xfrm>
              <a:off x="9410700" y="1409700"/>
              <a:ext cx="2076450" cy="2819400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14288">
              <a:solidFill>
                <a:srgbClr val="A9D2C8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86" name="Freeform 86"/>
            <p:cNvSpPr/>
            <p:nvPr/>
          </p:nvSpPr>
          <p:spPr>
            <a:xfrm>
              <a:off x="9410700" y="1409700"/>
              <a:ext cx="2076450" cy="533400"/>
            </a:xfrm>
            <a:custGeom>
              <a:avLst/>
              <a:gdLst/>
              <a:ahLst/>
              <a:cxnLst/>
              <a:rect l="l" t="t" r="r" b="b"/>
              <a:pathLst>
                <a:path w="2076450" h="533400">
                  <a:moveTo>
                    <a:pt x="76200" y="0"/>
                  </a:moveTo>
                  <a:lnTo>
                    <a:pt x="2000250" y="0"/>
                  </a:lnTo>
                  <a:cubicBezTo>
                    <a:pt x="2042334" y="0"/>
                    <a:pt x="2076450" y="34116"/>
                    <a:pt x="2076450" y="76200"/>
                  </a:cubicBezTo>
                  <a:lnTo>
                    <a:pt x="2076450" y="533400"/>
                  </a:lnTo>
                  <a:lnTo>
                    <a:pt x="0" y="5334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544050" y="15240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576477" y="15930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889808" y="1576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规则分级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544050" y="2057400"/>
              <a:ext cx="952500" cy="2095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778794" y="21112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规则引擎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9577388" y="25098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703118" y="24760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多指标阈值判定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9577388" y="27574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703118" y="2723674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一级 / 二级 / 等外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9577388" y="30051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703118" y="29713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阈值可在线配置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9525000" y="3467100"/>
              <a:ext cx="1847850" cy="609600"/>
            </a:xfrm>
            <a:prstGeom prst="roundRect">
              <a:avLst>
                <a:gd name="adj" fmla="val 9375"/>
              </a:avLst>
            </a:prstGeom>
            <a:solidFill>
              <a:srgbClr val="0E7C66">
                <a:alpha val="7000"/>
              </a:srgbClr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9629775" y="3595688"/>
              <a:ext cx="2290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625965" y="3791902"/>
              <a:ext cx="783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等级 + 依据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571500" y="4438650"/>
            <a:ext cx="6858000" cy="1638300"/>
            <a:chOff x="571500" y="4438650"/>
            <a:chExt cx="6858000" cy="1638300"/>
          </a:xfrm>
        </p:grpSpPr>
        <p:sp>
          <p:nvSpPr>
            <p:cNvPr id="102" name="Rectangle 102"/>
            <p:cNvSpPr/>
            <p:nvPr/>
          </p:nvSpPr>
          <p:spPr>
            <a:xfrm>
              <a:off x="571500" y="4438650"/>
              <a:ext cx="6858000" cy="1638300"/>
            </a:xfrm>
            <a:prstGeom prst="roundRect">
              <a:avLst>
                <a:gd name="adj" fmla="val 697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66762" y="4602956"/>
              <a:ext cx="30214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分级规则（自拟可量化标准，阈值可配置）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781050" y="487680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837106" y="4942999"/>
              <a:ext cx="611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一级 精品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625918" y="4942999"/>
              <a:ext cx="31256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果径达标 且 着色率 ≥ 85% 且 缺陷占比 &lt; 2% 且 无裂纹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781050" y="521970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837106" y="5285899"/>
              <a:ext cx="611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二级 合格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625918" y="5285899"/>
              <a:ext cx="2657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着色率 ≥ 70% 且 缺陷占比 &lt; 5% 且 无严重畸形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781050" y="556260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rgbClr val="E0544A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25842" y="562879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等外品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625918" y="5628799"/>
              <a:ext cx="2937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着色率 &lt; 70% 或 缺陷占比 ≥ 5% 或 存在裂纹 / 腐烂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620000" y="4438650"/>
            <a:ext cx="3952875" cy="1638300"/>
            <a:chOff x="7620000" y="4438650"/>
            <a:chExt cx="3952875" cy="1638300"/>
          </a:xfrm>
        </p:grpSpPr>
        <p:sp>
          <p:nvSpPr>
            <p:cNvPr id="114" name="Rectangle 114"/>
            <p:cNvSpPr/>
            <p:nvPr/>
          </p:nvSpPr>
          <p:spPr>
            <a:xfrm>
              <a:off x="7620000" y="4438650"/>
              <a:ext cx="3952875" cy="1638300"/>
            </a:xfrm>
            <a:prstGeom prst="roundRect">
              <a:avLst>
                <a:gd name="adj" fmla="val 6977"/>
              </a:avLst>
            </a:prstGeom>
            <a:solidFill>
              <a:srgbClr val="F2811D">
                <a:alpha val="8000"/>
              </a:srgbClr>
            </a:solidFill>
            <a:ln>
              <a:noFill/>
            </a:ln>
          </p:spPr>
        </p:sp>
        <p:grpSp>
          <p:nvGrpSpPr>
            <p:cNvPr id="117" name="Group 117"/>
            <p:cNvGrpSpPr/>
            <p:nvPr/>
          </p:nvGrpSpPr>
          <p:grpSpPr>
            <a:xfrm>
              <a:off x="7847891" y="4662488"/>
              <a:ext cx="217007" cy="200024"/>
              <a:chOff x="7847891" y="4662488"/>
              <a:chExt cx="217007" cy="200024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7847891" y="4662488"/>
                <a:ext cx="217007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7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4" y="34922"/>
                      <a:pt x="89052" y="22965"/>
                      <a:pt x="115009" y="0"/>
                    </a:cubicBezTo>
                    <a:cubicBezTo>
                      <a:pt x="140966" y="22965"/>
                      <a:pt x="174844" y="34922"/>
                      <a:pt x="209466" y="33338"/>
                    </a:cubicBezTo>
                    <a:cubicBezTo>
                      <a:pt x="217007" y="58997"/>
                      <a:pt x="216659" y="86332"/>
                      <a:pt x="208466" y="111792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7996238" y="4818062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118" name="TextBox 118"/>
            <p:cNvSpPr txBox="1"/>
            <p:nvPr/>
          </p:nvSpPr>
          <p:spPr>
            <a:xfrm>
              <a:off x="8176260" y="4699635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双保险 · 可兜底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835741" y="5034201"/>
              <a:ext cx="23345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DL 效果不佳时，</a:t>
              </a:r>
              <a:r>
                <a:rPr lang="zh-CN" sz="101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传统 CV 分级链路</a:t>
              </a:r>
              <a:r>
                <a:rPr lang="zh-CN" sz="101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独立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835741" y="5262801"/>
              <a:ext cx="178093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可用，保证演示一定有结果。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7835741" y="5567601"/>
              <a:ext cx="179443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mAP 目标设演示级 </a:t>
              </a:r>
              <a:r>
                <a:rPr lang="zh-CN" sz="101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0.6</a:t>
              </a:r>
              <a:r>
                <a:rPr lang="zh-CN" sz="101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，得分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835741" y="5796201"/>
              <a:ext cx="206447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不绑定算法精度——呼应课设策略。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560070" y="6513195"/>
            <a:ext cx="11071860" cy="182880"/>
            <a:chOff x="560070" y="6513195"/>
            <a:chExt cx="11071860" cy="182880"/>
          </a:xfrm>
        </p:grpSpPr>
        <p:sp>
          <p:nvSpPr>
            <p:cNvPr id="124" name="TextBox 124"/>
            <p:cNvSpPr txBox="1"/>
            <p:nvPr/>
          </p:nvSpPr>
          <p:spPr>
            <a:xfrm>
              <a:off x="560070" y="65131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267027" y="651319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33" grpId="0"/>
      <p:bldP spid="50" grpId="0"/>
      <p:bldP spid="67" grpId="0"/>
      <p:bldP spid="84" grpId="0"/>
      <p:bldP spid="101" grpId="0"/>
      <p:bldP spid="113" grpId="0"/>
      <p:bldP spid="1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61950"/>
            <a:ext cx="4946523" cy="652462"/>
            <a:chOff x="571500" y="361950"/>
            <a:chExt cx="4946523" cy="652462"/>
          </a:xfrm>
        </p:grpSpPr>
        <p:sp>
          <p:nvSpPr>
            <p:cNvPr id="3" name="Rectangle 3"/>
            <p:cNvSpPr/>
            <p:nvPr/>
          </p:nvSpPr>
          <p:spPr>
            <a:xfrm>
              <a:off x="571500" y="3619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570" y="407670"/>
              <a:ext cx="34213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数据库与核心数据设计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01052"/>
              <a:ext cx="4731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MySQL 8 · 10 张核心表——围绕"任务→结果→缺陷"主线建模，配置类独立成表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43025" y="1752600"/>
            <a:ext cx="4067175" cy="3638550"/>
            <a:chOff x="1343025" y="1752600"/>
            <a:chExt cx="4067175" cy="3638550"/>
          </a:xfrm>
        </p:grpSpPr>
        <p:sp>
          <p:nvSpPr>
            <p:cNvPr id="7" name="Line 7"/>
            <p:cNvSpPr/>
            <p:nvPr/>
          </p:nvSpPr>
          <p:spPr>
            <a:xfrm>
              <a:off x="2057400" y="177165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343025" y="2057400"/>
              <a:ext cx="9525" cy="800100"/>
            </a:xfrm>
            <a:custGeom>
              <a:avLst/>
              <a:gdLst/>
              <a:ahLst/>
              <a:cxnLst/>
              <a:rect l="l" t="t" r="r" b="b"/>
              <a:pathLst>
                <a:path w="9525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343025" y="3409950"/>
              <a:ext cx="9525" cy="800100"/>
            </a:xfrm>
            <a:custGeom>
              <a:avLst/>
              <a:gdLst/>
              <a:ahLst/>
              <a:cxnLst/>
              <a:rect l="l" t="t" r="r" b="b"/>
              <a:pathLst>
                <a:path w="9525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057400" y="3143250"/>
              <a:ext cx="914400" cy="142875"/>
            </a:xfrm>
            <a:custGeom>
              <a:avLst/>
              <a:gdLst/>
              <a:ahLst/>
              <a:cxnLst/>
              <a:rect l="l" t="t" r="r" b="b"/>
              <a:pathLst>
                <a:path w="914400" h="142875">
                  <a:moveTo>
                    <a:pt x="0" y="0"/>
                  </a:moveTo>
                  <a:lnTo>
                    <a:pt x="914400" y="142875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714750" y="2076450"/>
              <a:ext cx="9525" cy="1028700"/>
            </a:xfrm>
            <a:custGeom>
              <a:avLst/>
              <a:gdLst/>
              <a:ahLst/>
              <a:cxnLst/>
              <a:rect l="l" t="t" r="r" b="b"/>
              <a:pathLst>
                <a:path w="9525" h="1028700">
                  <a:moveTo>
                    <a:pt x="0" y="0"/>
                  </a:moveTo>
                  <a:lnTo>
                    <a:pt x="0" y="102870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714750" y="37147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457700" y="1752600"/>
              <a:ext cx="952500" cy="152400"/>
            </a:xfrm>
            <a:custGeom>
              <a:avLst/>
              <a:gdLst/>
              <a:ahLst/>
              <a:cxnLst/>
              <a:rect l="l" t="t" r="r" b="b"/>
              <a:pathLst>
                <a:path w="952500" h="152400">
                  <a:moveTo>
                    <a:pt x="0" y="0"/>
                  </a:moveTo>
                  <a:lnTo>
                    <a:pt x="952500" y="15240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457700" y="3333750"/>
              <a:ext cx="952500" cy="19050"/>
            </a:xfrm>
            <a:custGeom>
              <a:avLst/>
              <a:gdLst/>
              <a:ahLst/>
              <a:cxnLst/>
              <a:rect l="l" t="t" r="r" b="b"/>
              <a:pathLst>
                <a:path w="952500" h="19050">
                  <a:moveTo>
                    <a:pt x="0" y="0"/>
                  </a:moveTo>
                  <a:lnTo>
                    <a:pt x="952500" y="1905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457700" y="3543300"/>
              <a:ext cx="952500" cy="1162050"/>
            </a:xfrm>
            <a:custGeom>
              <a:avLst/>
              <a:gdLst/>
              <a:ahLst/>
              <a:cxnLst/>
              <a:rect l="l" t="t" r="r" b="b"/>
              <a:pathLst>
                <a:path w="952500" h="1162050">
                  <a:moveTo>
                    <a:pt x="0" y="0"/>
                  </a:moveTo>
                  <a:lnTo>
                    <a:pt x="952500" y="116205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343025" y="46291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4288">
              <a:solidFill>
                <a:srgbClr val="94A3B8"/>
              </a:solidFill>
              <a:custDash>
                <a:ds d="266666" sp="200000"/>
              </a:custDash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398270" y="1598295"/>
            <a:ext cx="3870665" cy="3173730"/>
            <a:chOff x="1398270" y="1598295"/>
            <a:chExt cx="3870665" cy="3173730"/>
          </a:xfrm>
        </p:grpSpPr>
        <p:sp>
          <p:nvSpPr>
            <p:cNvPr id="18" name="TextBox 18"/>
            <p:cNvSpPr txBox="1"/>
            <p:nvPr/>
          </p:nvSpPr>
          <p:spPr>
            <a:xfrm>
              <a:off x="2369820" y="159829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07970" y="15982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98270" y="218884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98270" y="26841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98270" y="354139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98270" y="403669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88870" y="296989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07970" y="31794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79520" y="222694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79520" y="29317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79520" y="386524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79520" y="45891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51070" y="16744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08270" y="180784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1070" y="31984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08270" y="325564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28650" y="1504950"/>
            <a:ext cx="6267450" cy="4402931"/>
            <a:chOff x="628650" y="1504950"/>
            <a:chExt cx="6267450" cy="4402931"/>
          </a:xfrm>
        </p:grpSpPr>
        <p:sp>
          <p:nvSpPr>
            <p:cNvPr id="35" name="Rectangle 35"/>
            <p:cNvSpPr/>
            <p:nvPr/>
          </p:nvSpPr>
          <p:spPr>
            <a:xfrm>
              <a:off x="628650" y="1504950"/>
              <a:ext cx="142875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4288">
              <a:solidFill>
                <a:srgbClr val="0E7C6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9615" y="1601152"/>
              <a:ext cx="688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user 用户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04850" y="179070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2472" y="1873091"/>
              <a:ext cx="13301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username · role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8650" y="2857500"/>
              <a:ext cx="142875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4288">
              <a:solidFill>
                <a:srgbClr val="0E7C6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9615" y="2953702"/>
              <a:ext cx="11513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product_sample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04850" y="314325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2472" y="3225641"/>
              <a:ext cx="15171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image_path · origin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8650" y="4210050"/>
              <a:ext cx="142875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2E9E5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9615" y="4306252"/>
              <a:ext cx="8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traceability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04850" y="449580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2472" y="455914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origin · qr_code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8650" y="5391150"/>
              <a:ext cx="142875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5B6B7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9615" y="5487352"/>
              <a:ext cx="1004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operation_log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04850" y="567690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2472" y="5740241"/>
              <a:ext cx="103858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action · ip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971800" y="1504950"/>
              <a:ext cx="14859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4288">
              <a:solidFill>
                <a:srgbClr val="0E7C6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072765" y="1601152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detection_task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3048000" y="17907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075622" y="1873091"/>
              <a:ext cx="13961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task_no · status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971800" y="3105150"/>
              <a:ext cx="1485900" cy="609600"/>
            </a:xfrm>
            <a:prstGeom prst="roundRect">
              <a:avLst>
                <a:gd name="adj" fmla="val 12500"/>
              </a:avLst>
            </a:prstGeom>
            <a:solidFill>
              <a:srgbClr val="0E7C66">
                <a:alpha val="6000"/>
              </a:srgbClr>
            </a:solidFill>
            <a:ln w="19050">
              <a:solidFill>
                <a:srgbClr val="0E7C6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072765" y="3201352"/>
              <a:ext cx="1246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detection_result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3048000" y="33909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CFE3DD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075622" y="3473291"/>
              <a:ext cx="11320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grade · 指标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71800" y="4762500"/>
              <a:ext cx="14859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4288">
              <a:solidFill>
                <a:srgbClr val="F2811D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072765" y="4858702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defect_label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3048000" y="50482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075622" y="5130641"/>
              <a:ext cx="10935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type · bbox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410200" y="1657350"/>
              <a:ext cx="14859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5B6B73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511165" y="1753552"/>
              <a:ext cx="7911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model_info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486400" y="19431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514022" y="2006441"/>
              <a:ext cx="13301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version · map50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410200" y="3105150"/>
              <a:ext cx="14859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F2811D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511165" y="3201352"/>
              <a:ext cx="11587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grade_standard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5486400" y="33909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514022" y="3454241"/>
              <a:ext cx="13191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阈值 · is_active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410200" y="4457700"/>
              <a:ext cx="14859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F2811D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511165" y="45539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price_reference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5486400" y="47434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514022" y="4806791"/>
              <a:ext cx="11871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grade · price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617220" y="6094095"/>
            <a:ext cx="40433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E-R 图（实体关系）· 主键统一 id BIGINT，均含 created_at / updated_at</a:t>
            </a:r>
          </a:p>
        </p:txBody>
      </p:sp>
      <p:grpSp>
        <p:nvGrpSpPr>
          <p:cNvPr id="117" name="Group 117"/>
          <p:cNvGrpSpPr/>
          <p:nvPr/>
        </p:nvGrpSpPr>
        <p:grpSpPr>
          <a:xfrm>
            <a:off x="7524750" y="1428750"/>
            <a:ext cx="4048125" cy="4457700"/>
            <a:chOff x="7524750" y="1428750"/>
            <a:chExt cx="4048125" cy="4457700"/>
          </a:xfrm>
        </p:grpSpPr>
        <p:sp>
          <p:nvSpPr>
            <p:cNvPr id="77" name="Rectangle 77"/>
            <p:cNvSpPr/>
            <p:nvPr/>
          </p:nvSpPr>
          <p:spPr>
            <a:xfrm>
              <a:off x="7524750" y="1428750"/>
              <a:ext cx="4048125" cy="4457700"/>
            </a:xfrm>
            <a:prstGeom prst="roundRect">
              <a:avLst>
                <a:gd name="adj" fmla="val 2824"/>
              </a:avLst>
            </a:prstGeom>
            <a:solidFill>
              <a:srgbClr val="F4F7F6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765256" y="1650206"/>
              <a:ext cx="185738" cy="185738"/>
              <a:chOff x="7765256" y="1650206"/>
              <a:chExt cx="185738" cy="185738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765256" y="16502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65100" y="0"/>
                    </a:lnTo>
                    <a:cubicBezTo>
                      <a:pt x="176498" y="0"/>
                      <a:pt x="185738" y="9240"/>
                      <a:pt x="185738" y="20637"/>
                    </a:cubicBezTo>
                    <a:lnTo>
                      <a:pt x="185738" y="165100"/>
                    </a:lnTo>
                    <a:cubicBezTo>
                      <a:pt x="185738" y="176498"/>
                      <a:pt x="176498" y="185738"/>
                      <a:pt x="165100" y="185738"/>
                    </a:cubicBezTo>
                    <a:lnTo>
                      <a:pt x="20637" y="185738"/>
                    </a:lnTo>
                    <a:cubicBezTo>
                      <a:pt x="9240" y="185738"/>
                      <a:pt x="0" y="176498"/>
                      <a:pt x="0" y="165100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65256" y="1722438"/>
                <a:ext cx="1857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9525">
                    <a:moveTo>
                      <a:pt x="0" y="0"/>
                    </a:moveTo>
                    <a:lnTo>
                      <a:pt x="18573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837488" y="1650206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8041958" y="1672114"/>
              <a:ext cx="228176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detection_result 核心字段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721918" y="1952149"/>
              <a:ext cx="2365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一次检测结果，承载等级与全部量化指标</a:t>
              </a:r>
            </a:p>
          </p:txBody>
        </p:sp>
        <p:grpSp>
          <p:nvGrpSpPr>
            <p:cNvPr id="107" name="Group 107"/>
            <p:cNvGrpSpPr/>
            <p:nvPr/>
          </p:nvGrpSpPr>
          <p:grpSpPr>
            <a:xfrm>
              <a:off x="7734300" y="2228850"/>
              <a:ext cx="3629025" cy="2878931"/>
              <a:chOff x="7734300" y="2228850"/>
              <a:chExt cx="3629025" cy="2878931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7734300" y="2228850"/>
                <a:ext cx="3629025" cy="47625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7873365" y="2325052"/>
                <a:ext cx="4309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grade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7875270" y="2531745"/>
                <a:ext cx="20511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评定等级 ENUM(grade1/grade2/out)</a:t>
                </a:r>
              </a:p>
            </p:txBody>
          </p:sp>
          <p:sp>
            <p:nvSpPr>
              <p:cNvPr id="87" name="Rectangle 87"/>
              <p:cNvSpPr/>
              <p:nvPr/>
            </p:nvSpPr>
            <p:spPr>
              <a:xfrm>
                <a:off x="7734300" y="2762250"/>
                <a:ext cx="3629025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7873365" y="2858452"/>
                <a:ext cx="9675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diameter_mm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10719435" y="287464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果径估计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7876222" y="303514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DECIMAL(6,2)</a:t>
                </a:r>
              </a:p>
            </p:txBody>
          </p:sp>
          <p:sp>
            <p:nvSpPr>
              <p:cNvPr id="91" name="Rectangle 91"/>
              <p:cNvSpPr/>
              <p:nvPr/>
            </p:nvSpPr>
            <p:spPr>
              <a:xfrm>
                <a:off x="7734300" y="3238500"/>
                <a:ext cx="3629025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7873365" y="3334702"/>
                <a:ext cx="8426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color_ratio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10737437" y="3350895"/>
                <a:ext cx="48491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着色率 %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7876222" y="351139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DECIMAL(5,2)</a:t>
                </a:r>
              </a:p>
            </p:txBody>
          </p:sp>
          <p:sp>
            <p:nvSpPr>
              <p:cNvPr id="95" name="Rectangle 95"/>
              <p:cNvSpPr/>
              <p:nvPr/>
            </p:nvSpPr>
            <p:spPr>
              <a:xfrm>
                <a:off x="7734300" y="3714750"/>
                <a:ext cx="3629025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873365" y="3810952"/>
                <a:ext cx="9602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defect_ratio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10377392" y="382714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缺陷面积占比 %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7876222" y="398764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DECIMAL(5,2)</a:t>
                </a:r>
              </a:p>
            </p:txBody>
          </p:sp>
          <p:sp>
            <p:nvSpPr>
              <p:cNvPr id="99" name="Rectangle 99"/>
              <p:cNvSpPr/>
              <p:nvPr/>
            </p:nvSpPr>
            <p:spPr>
              <a:xfrm>
                <a:off x="7734300" y="4191000"/>
                <a:ext cx="3629025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7873365" y="4287202"/>
                <a:ext cx="7985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confidence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10599420" y="4303395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综合置信度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7876222" y="446389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DECIMAL(4,3)</a:t>
                </a:r>
              </a:p>
            </p:txBody>
          </p:sp>
          <p:sp>
            <p:nvSpPr>
              <p:cNvPr id="103" name="Rectangle 103"/>
              <p:cNvSpPr/>
              <p:nvPr/>
            </p:nvSpPr>
            <p:spPr>
              <a:xfrm>
                <a:off x="7734300" y="4667250"/>
                <a:ext cx="3629025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7873365" y="4763452"/>
                <a:ext cx="7176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ref_price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9381268" y="4779645"/>
                <a:ext cx="184108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参考价 · annotated_path 标注图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7876222" y="494014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DECIMAL(8,2)</a:t>
                </a:r>
              </a:p>
            </p:txBody>
          </p:sp>
        </p:grpSp>
        <p:sp>
          <p:nvSpPr>
            <p:cNvPr id="108" name="Rectangle 108"/>
            <p:cNvSpPr/>
            <p:nvPr/>
          </p:nvSpPr>
          <p:spPr>
            <a:xfrm>
              <a:off x="7734300" y="5200650"/>
              <a:ext cx="3629025" cy="533400"/>
            </a:xfrm>
            <a:prstGeom prst="roundRect">
              <a:avLst>
                <a:gd name="adj" fmla="val 14286"/>
              </a:avLst>
            </a:prstGeom>
            <a:solidFill>
              <a:srgbClr val="0E7C66">
                <a:alpha val="7000"/>
              </a:srgbClr>
            </a:solidFill>
            <a:ln>
              <a:noFill/>
            </a:ln>
          </p:spPr>
        </p:sp>
        <p:grpSp>
          <p:nvGrpSpPr>
            <p:cNvPr id="114" name="Group 114"/>
            <p:cNvGrpSpPr/>
            <p:nvPr/>
          </p:nvGrpSpPr>
          <p:grpSpPr>
            <a:xfrm>
              <a:off x="7883524" y="5368917"/>
              <a:ext cx="157164" cy="157171"/>
              <a:chOff x="7883524" y="5368917"/>
              <a:chExt cx="157164" cy="157171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7927181" y="5412581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52388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7944644" y="5368917"/>
                <a:ext cx="78603" cy="74538"/>
              </a:xfrm>
              <a:custGeom>
                <a:avLst/>
                <a:gdLst/>
                <a:ahLst/>
                <a:cxnLst/>
                <a:rect l="l" t="t" r="r" b="b"/>
                <a:pathLst>
                  <a:path w="78603" h="74538">
                    <a:moveTo>
                      <a:pt x="0" y="17471"/>
                    </a:moveTo>
                    <a:lnTo>
                      <a:pt x="4043" y="12791"/>
                    </a:lnTo>
                    <a:cubicBezTo>
                      <a:pt x="12230" y="4601"/>
                      <a:pt x="23336" y="0"/>
                      <a:pt x="34916" y="0"/>
                    </a:cubicBezTo>
                    <a:cubicBezTo>
                      <a:pt x="46497" y="0"/>
                      <a:pt x="57603" y="4601"/>
                      <a:pt x="65790" y="12791"/>
                    </a:cubicBezTo>
                    <a:cubicBezTo>
                      <a:pt x="73993" y="20971"/>
                      <a:pt x="78603" y="32081"/>
                      <a:pt x="78602" y="43666"/>
                    </a:cubicBezTo>
                    <a:cubicBezTo>
                      <a:pt x="78600" y="55252"/>
                      <a:pt x="73987" y="66360"/>
                      <a:pt x="65781" y="74538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7883524" y="5430044"/>
                <a:ext cx="75116" cy="82820"/>
              </a:xfrm>
              <a:custGeom>
                <a:avLst/>
                <a:gdLst/>
                <a:ahLst/>
                <a:cxnLst/>
                <a:rect l="l" t="t" r="r" b="b"/>
                <a:pathLst>
                  <a:path w="75116" h="82820">
                    <a:moveTo>
                      <a:pt x="75116" y="65781"/>
                    </a:moveTo>
                    <a:cubicBezTo>
                      <a:pt x="57873" y="82820"/>
                      <a:pt x="30132" y="82820"/>
                      <a:pt x="12889" y="65781"/>
                    </a:cubicBezTo>
                    <a:cubicBezTo>
                      <a:pt x="4641" y="57626"/>
                      <a:pt x="0" y="46510"/>
                      <a:pt x="0" y="34912"/>
                    </a:cubicBezTo>
                    <a:cubicBezTo>
                      <a:pt x="0" y="23314"/>
                      <a:pt x="4641" y="12197"/>
                      <a:pt x="12889" y="4043"/>
                    </a:cubicBezTo>
                    <a:lnTo>
                      <a:pt x="17464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7988300" y="5499894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8014494" y="5473700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0"/>
                    </a:moveTo>
                    <a:lnTo>
                      <a:pt x="0" y="52388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8104346" y="5336143"/>
              <a:ext cx="194839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task 1—N result · result 1—N defect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104346" y="5526643"/>
              <a:ext cx="183913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sample 1—1 trace · task N—1 model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560070" y="6513195"/>
            <a:ext cx="11071860" cy="182880"/>
            <a:chOff x="560070" y="6513195"/>
            <a:chExt cx="11071860" cy="182880"/>
          </a:xfrm>
        </p:grpSpPr>
        <p:sp>
          <p:nvSpPr>
            <p:cNvPr id="118" name="TextBox 118"/>
            <p:cNvSpPr txBox="1"/>
            <p:nvPr/>
          </p:nvSpPr>
          <p:spPr>
            <a:xfrm>
              <a:off x="560070" y="65131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267027" y="651319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4" grpId="0"/>
      <p:bldP spid="75" grpId="0"/>
      <p:bldP spid="1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61950"/>
            <a:ext cx="8405851" cy="652462"/>
            <a:chOff x="571500" y="361950"/>
            <a:chExt cx="8405851" cy="652462"/>
          </a:xfrm>
        </p:grpSpPr>
        <p:sp>
          <p:nvSpPr>
            <p:cNvPr id="3" name="Rectangle 3"/>
            <p:cNvSpPr/>
            <p:nvPr/>
          </p:nvSpPr>
          <p:spPr>
            <a:xfrm>
              <a:off x="571500" y="3619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570" y="407670"/>
              <a:ext cx="822678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项目实施计划与里程碑</a:t>
              </a:r>
              <a:r>
                <a:rPr lang="zh-CN" sz="13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（按课设阶段规划 · 假设 4 周）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01052"/>
              <a:ext cx="59914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需求 → 概要 → 详细 → 实现 → 测试，阶段产出即里程碑；关键路径并行启动，不等训练前才找数据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676400"/>
            <a:ext cx="11049000" cy="3363516"/>
            <a:chOff x="571500" y="1676400"/>
            <a:chExt cx="11049000" cy="3363516"/>
          </a:xfrm>
        </p:grpSpPr>
        <p:sp>
          <p:nvSpPr>
            <p:cNvPr id="7" name="Rectangle 7"/>
            <p:cNvSpPr/>
            <p:nvPr/>
          </p:nvSpPr>
          <p:spPr>
            <a:xfrm>
              <a:off x="571500" y="1676400"/>
              <a:ext cx="11049000" cy="428625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2533650"/>
              <a:ext cx="11049000" cy="428625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3390900"/>
              <a:ext cx="11049000" cy="428625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4248150"/>
              <a:ext cx="11049000" cy="428625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2941" y="1833801"/>
              <a:ext cx="132289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选题确认 · 需求分析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2941" y="2262426"/>
              <a:ext cx="142213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 xml:space="preserve">数据采集与标注 </a:t>
              </a:r>
              <a:r>
                <a:rPr lang="zh-CN" sz="825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★关键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2941" y="2691051"/>
              <a:ext cx="103935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概要 / 详细设计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2941" y="3119676"/>
              <a:ext cx="132289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建库 · 分级原型出图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2941" y="3548301"/>
              <a:ext cx="128036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前端页面 · 后端 API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2941" y="3976926"/>
              <a:ext cx="201046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 xml:space="preserve">YOLOv8 训练调优 · 集成 </a:t>
              </a:r>
              <a:r>
                <a:rPr lang="zh-CN" sz="825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★关键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2941" y="4405551"/>
              <a:ext cx="144339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 xml:space="preserve">算法 / 接口联调 </a:t>
              </a:r>
              <a:r>
                <a:rPr lang="zh-CN" sz="825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★关键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2941" y="4834176"/>
              <a:ext cx="176946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系统测试 · 报告 · 答辩排练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838450" y="1333500"/>
            <a:ext cx="8791575" cy="3781425"/>
            <a:chOff x="2838450" y="1333500"/>
            <a:chExt cx="8791575" cy="3781425"/>
          </a:xfrm>
        </p:grpSpPr>
        <p:sp>
          <p:nvSpPr>
            <p:cNvPr id="20" name="Rectangle 20"/>
            <p:cNvSpPr/>
            <p:nvPr/>
          </p:nvSpPr>
          <p:spPr>
            <a:xfrm>
              <a:off x="2838450" y="1333500"/>
              <a:ext cx="8782050" cy="285750"/>
            </a:xfrm>
            <a:prstGeom prst="rect">
              <a:avLst/>
            </a:prstGeom>
            <a:solidFill>
              <a:srgbClr val="0E7C66">
                <a:alpha val="8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29981" y="1418749"/>
              <a:ext cx="10076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W1 · 立项与需求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13191" y="1418749"/>
              <a:ext cx="10418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W2 · 设计与原型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81725" y="1418749"/>
              <a:ext cx="9053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W3 · 编码实现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35958" y="1418749"/>
              <a:ext cx="11783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W4 · 联调测试交付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2838450" y="1333500"/>
              <a:ext cx="8791575" cy="3771900"/>
              <a:chOff x="2838450" y="1333500"/>
              <a:chExt cx="8791575" cy="3771900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2838450" y="1333500"/>
                <a:ext cx="9525" cy="3771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71900">
                    <a:moveTo>
                      <a:pt x="0" y="0"/>
                    </a:moveTo>
                    <a:lnTo>
                      <a:pt x="0" y="3771900"/>
                    </a:lnTo>
                  </a:path>
                </a:pathLst>
              </a:custGeom>
              <a:noFill/>
              <a:ln w="14288">
                <a:solidFill>
                  <a:srgbClr val="E2E8E9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5029200" y="1333500"/>
                <a:ext cx="9525" cy="3771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71900">
                    <a:moveTo>
                      <a:pt x="0" y="0"/>
                    </a:moveTo>
                    <a:lnTo>
                      <a:pt x="0" y="3771900"/>
                    </a:lnTo>
                  </a:path>
                </a:pathLst>
              </a:custGeom>
              <a:noFill/>
              <a:ln w="14288">
                <a:solidFill>
                  <a:srgbClr val="E2E8E9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7229475" y="1333500"/>
                <a:ext cx="9525" cy="3771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71900">
                    <a:moveTo>
                      <a:pt x="0" y="0"/>
                    </a:moveTo>
                    <a:lnTo>
                      <a:pt x="0" y="3771900"/>
                    </a:lnTo>
                  </a:path>
                </a:pathLst>
              </a:custGeom>
              <a:noFill/>
              <a:ln w="14288">
                <a:solidFill>
                  <a:srgbClr val="E2E8E9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9429750" y="1333500"/>
                <a:ext cx="9525" cy="3771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71900">
                    <a:moveTo>
                      <a:pt x="0" y="0"/>
                    </a:moveTo>
                    <a:lnTo>
                      <a:pt x="0" y="3771900"/>
                    </a:lnTo>
                  </a:path>
                </a:pathLst>
              </a:custGeom>
              <a:noFill/>
              <a:ln w="14288">
                <a:solidFill>
                  <a:srgbClr val="E2E8E9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11620500" y="1333500"/>
                <a:ext cx="9525" cy="3771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71900">
                    <a:moveTo>
                      <a:pt x="0" y="0"/>
                    </a:moveTo>
                    <a:lnTo>
                      <a:pt x="0" y="3771900"/>
                    </a:lnTo>
                  </a:path>
                </a:pathLst>
              </a:custGeom>
              <a:noFill/>
              <a:ln w="14288">
                <a:solidFill>
                  <a:srgbClr val="E2E8E9"/>
                </a:solidFill>
              </a:ln>
            </p:spPr>
          </p:sp>
        </p:grpSp>
        <p:sp>
          <p:nvSpPr>
            <p:cNvPr id="31" name="Line 31"/>
            <p:cNvSpPr/>
            <p:nvPr/>
          </p:nvSpPr>
          <p:spPr>
            <a:xfrm>
              <a:off x="2838450" y="5105400"/>
              <a:ext cx="8782050" cy="9525"/>
            </a:xfrm>
            <a:custGeom>
              <a:avLst/>
              <a:gdLst/>
              <a:ahLst/>
              <a:cxnLst/>
              <a:rect l="l" t="t" r="r" b="b"/>
              <a:pathLst>
                <a:path w="8782050" h="9525">
                  <a:moveTo>
                    <a:pt x="0" y="0"/>
                  </a:moveTo>
                  <a:lnTo>
                    <a:pt x="878205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2895600" y="1781175"/>
              <a:ext cx="8667750" cy="3225403"/>
              <a:chOff x="2895600" y="1781175"/>
              <a:chExt cx="8667750" cy="3225403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895600" y="1781175"/>
                <a:ext cx="2076450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0E7C66"/>
                  </a:gs>
                  <a:gs pos="100000">
                    <a:srgbClr val="0A5A4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322065" y="1830943"/>
                <a:ext cx="1223520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用例 / DFD / 数据字典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3429000" y="2209800"/>
                <a:ext cx="5143500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2811D"/>
                  </a:gs>
                  <a:gs pos="100000">
                    <a:srgbClr val="E0544A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996503" y="2259568"/>
                <a:ext cx="20084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公开集 + 网络采集 + 自建 · 清洗标注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5086350" y="2638425"/>
                <a:ext cx="2085975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0E7C66"/>
                  </a:gs>
                  <a:gs pos="100000">
                    <a:srgbClr val="0A5A4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491681" y="2688193"/>
                <a:ext cx="126578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结构图/E-R/类图/时序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5715000" y="3067050"/>
                <a:ext cx="2095500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0E7C66"/>
                  </a:gs>
                  <a:gs pos="100000">
                    <a:srgbClr val="0A5A4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320061" y="3116818"/>
                <a:ext cx="8853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建库 · 分级出图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6667500" y="3495675"/>
                <a:ext cx="2524125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0E7C66"/>
                  </a:gs>
                  <a:gs pos="100000">
                    <a:srgbClr val="0A5A4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319078" y="3545443"/>
                <a:ext cx="1211444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前端各页 + 后端各 API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286625" y="3924300"/>
                <a:ext cx="2085975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2811D"/>
                  </a:gs>
                  <a:gs pos="100000">
                    <a:srgbClr val="E0544A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761396" y="3974068"/>
                <a:ext cx="112690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训练调优 · 算法集成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8572500" y="4352925"/>
                <a:ext cx="1905000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2811D"/>
                  </a:gs>
                  <a:gs pos="100000">
                    <a:srgbClr val="E0544A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212134" y="4402693"/>
                <a:ext cx="62573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端到端联调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9486900" y="4781550"/>
                <a:ext cx="2076450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0E7C66"/>
                  </a:gs>
                  <a:gs pos="100000">
                    <a:srgbClr val="0A5A4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0012996" y="4831318"/>
                <a:ext cx="102425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测试 · 视频 · 打包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2838450" y="5219700"/>
            <a:ext cx="8782050" cy="664369"/>
            <a:chOff x="2838450" y="5219700"/>
            <a:chExt cx="8782050" cy="664369"/>
          </a:xfrm>
        </p:grpSpPr>
        <p:sp>
          <p:nvSpPr>
            <p:cNvPr id="50" name="Line 50"/>
            <p:cNvSpPr/>
            <p:nvPr/>
          </p:nvSpPr>
          <p:spPr>
            <a:xfrm>
              <a:off x="2838450" y="5219700"/>
              <a:ext cx="8782050" cy="9525"/>
            </a:xfrm>
            <a:custGeom>
              <a:avLst/>
              <a:gdLst/>
              <a:ahLst/>
              <a:cxnLst/>
              <a:rect l="l" t="t" r="r" b="b"/>
              <a:pathLst>
                <a:path w="8782050" h="9525">
                  <a:moveTo>
                    <a:pt x="0" y="0"/>
                  </a:moveTo>
                  <a:lnTo>
                    <a:pt x="878205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3819525" y="5314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A5A4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361723" y="5685949"/>
              <a:ext cx="11442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M1</a:t>
              </a:r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 · 立项需求闭环</a:t>
              </a:r>
            </a:p>
          </p:txBody>
        </p:sp>
        <p:sp>
          <p:nvSpPr>
            <p:cNvPr id="53" name="Polygon 53"/>
            <p:cNvSpPr/>
            <p:nvPr/>
          </p:nvSpPr>
          <p:spPr>
            <a:xfrm>
              <a:off x="6019800" y="5314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A5A4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544933" y="5685949"/>
              <a:ext cx="11783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M2</a:t>
              </a:r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 · 设计原型出图</a:t>
              </a:r>
            </a:p>
          </p:txBody>
        </p:sp>
        <p:sp>
          <p:nvSpPr>
            <p:cNvPr id="55" name="Polygon 55"/>
            <p:cNvSpPr/>
            <p:nvPr/>
          </p:nvSpPr>
          <p:spPr>
            <a:xfrm>
              <a:off x="8220075" y="5314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2811D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71486" y="5685949"/>
              <a:ext cx="9257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M3</a:t>
              </a:r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 · MVP 闭环</a:t>
              </a:r>
            </a:p>
          </p:txBody>
        </p:sp>
        <p:sp>
          <p:nvSpPr>
            <p:cNvPr id="57" name="Polygon 57"/>
            <p:cNvSpPr/>
            <p:nvPr/>
          </p:nvSpPr>
          <p:spPr>
            <a:xfrm>
              <a:off x="10410825" y="5314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A5A4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935958" y="5685949"/>
              <a:ext cx="11783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M4</a:t>
              </a:r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 · 测试交付答辩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5905500"/>
            <a:ext cx="10969335" cy="615553"/>
            <a:chOff x="571500" y="5905500"/>
            <a:chExt cx="10969335" cy="615553"/>
          </a:xfrm>
        </p:grpSpPr>
        <p:sp>
          <p:nvSpPr>
            <p:cNvPr id="60" name="Rectangle 60"/>
            <p:cNvSpPr/>
            <p:nvPr/>
          </p:nvSpPr>
          <p:spPr>
            <a:xfrm>
              <a:off x="571500" y="5905500"/>
              <a:ext cx="7239000" cy="495300"/>
            </a:xfrm>
            <a:prstGeom prst="roundRect">
              <a:avLst>
                <a:gd name="adj" fmla="val 19231"/>
              </a:avLst>
            </a:prstGeom>
            <a:solidFill>
              <a:srgbClr val="F2811D">
                <a:alpha val="8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1500" y="59055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90575" y="6067425"/>
              <a:ext cx="171450" cy="171450"/>
              <a:chOff x="790575" y="6067425"/>
              <a:chExt cx="171450" cy="17145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90575" y="62007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23925" y="60674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09625" y="6086475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57150" y="133350"/>
                    </a:moveTo>
                    <a:lnTo>
                      <a:pt x="109538" y="133350"/>
                    </a:lnTo>
                    <a:cubicBezTo>
                      <a:pt x="127949" y="133350"/>
                      <a:pt x="142875" y="118424"/>
                      <a:pt x="142875" y="100012"/>
                    </a:cubicBezTo>
                    <a:cubicBezTo>
                      <a:pt x="142875" y="81601"/>
                      <a:pt x="127949" y="66675"/>
                      <a:pt x="109538" y="66675"/>
                    </a:cubicBezTo>
                    <a:lnTo>
                      <a:pt x="33338" y="66675"/>
                    </a:ln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73468" y="60193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关键路径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73468" y="6219349"/>
              <a:ext cx="36083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数据采集（W1 启动）</a:t>
              </a:r>
              <a:r>
                <a:rPr lang="zh-CN" sz="975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 xml:space="preserve"> → </a:t>
              </a:r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模型训练（W3）</a:t>
              </a:r>
              <a:r>
                <a:rPr lang="zh-CN" sz="975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 xml:space="preserve"> → </a:t>
              </a:r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系统联调（W4）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8039100" y="5956697"/>
              <a:ext cx="2634412" cy="419100"/>
              <a:chOff x="8039100" y="5956697"/>
              <a:chExt cx="2634412" cy="4191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8039100" y="5962650"/>
                <a:ext cx="209550" cy="114300"/>
              </a:xfrm>
              <a:prstGeom prst="roundRect">
                <a:avLst>
                  <a:gd name="adj" fmla="val 25000"/>
                </a:avLst>
              </a:prstGeom>
              <a:gradFill>
                <a:gsLst>
                  <a:gs pos="0">
                    <a:srgbClr val="0E7C66"/>
                  </a:gs>
                  <a:gs pos="100000">
                    <a:srgbClr val="0A5A4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8293894" y="5956697"/>
                <a:ext cx="548878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常规任务</a:t>
                </a: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8039100" y="6191250"/>
                <a:ext cx="209550" cy="114300"/>
              </a:xfrm>
              <a:prstGeom prst="roundRect">
                <a:avLst>
                  <a:gd name="adj" fmla="val 25000"/>
                </a:avLst>
              </a:prstGeom>
              <a:gradFill>
                <a:gsLst>
                  <a:gs pos="0">
                    <a:srgbClr val="F2811D"/>
                  </a:gs>
                  <a:gs pos="100000">
                    <a:srgbClr val="E0544A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8293894" y="6185297"/>
                <a:ext cx="811411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关键路径任务</a:t>
                </a:r>
              </a:p>
            </p:txBody>
          </p:sp>
          <p:sp>
            <p:nvSpPr>
              <p:cNvPr id="72" name="Polygon 72"/>
              <p:cNvSpPr/>
              <p:nvPr/>
            </p:nvSpPr>
            <p:spPr>
              <a:xfrm>
                <a:off x="9163050" y="60198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76200" y="0"/>
                    </a:moveTo>
                    <a:lnTo>
                      <a:pt x="152400" y="76200"/>
                    </a:lnTo>
                    <a:lnTo>
                      <a:pt x="76200" y="1524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A5A49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9379744" y="5956697"/>
                <a:ext cx="417612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里程碑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380696" y="6193393"/>
                <a:ext cx="1292816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2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M3 为 MVP 闭环关键节点</a:t>
                </a:r>
              </a:p>
            </p:txBody>
          </p:sp>
        </p:grpSp>
        <p:sp>
          <p:nvSpPr>
            <p:cNvPr id="76" name="TextBox 76"/>
            <p:cNvSpPr txBox="1"/>
            <p:nvPr/>
          </p:nvSpPr>
          <p:spPr>
            <a:xfrm>
              <a:off x="10466546" y="6031468"/>
              <a:ext cx="942022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若课程周数不同，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466546" y="6193393"/>
              <a:ext cx="107428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按 3 周压缩版调整，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466546" y="6345793"/>
              <a:ext cx="84426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UML 文档不删减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560070" y="65703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67027" y="65703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9" grpId="0"/>
      <p:bldP spid="59" grpId="0"/>
      <p:bldP spid="7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9100"/>
            <a:ext cx="6648688" cy="716756"/>
            <a:chOff x="571500" y="419100"/>
            <a:chExt cx="6648688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7053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团队分工与协作机制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07256"/>
              <a:ext cx="64343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算法配双人攻坚 · 后端集成由组长把控 · 前端测试文档一人贯通 —— 分工可追溯（协作占 30 分）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409700"/>
            <a:ext cx="2590800" cy="3409950"/>
            <a:chOff x="571500" y="1409700"/>
            <a:chExt cx="2590800" cy="3409950"/>
          </a:xfrm>
        </p:grpSpPr>
        <p:sp>
          <p:nvSpPr>
            <p:cNvPr id="7" name="Rectangle 7"/>
            <p:cNvSpPr/>
            <p:nvPr/>
          </p:nvSpPr>
          <p:spPr>
            <a:xfrm>
              <a:off x="571500" y="1409700"/>
              <a:ext cx="2590800" cy="3409950"/>
            </a:xfrm>
            <a:prstGeom prst="roundRect">
              <a:avLst>
                <a:gd name="adj" fmla="val 5882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14097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400050"/>
                  </a:lnTo>
                  <a:lnTo>
                    <a:pt x="0" y="400050"/>
                  </a:ln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02131" y="1554956"/>
              <a:ext cx="7295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组长 · PM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447800" y="1866900"/>
              <a:ext cx="838200" cy="838200"/>
            </a:xfrm>
            <a:prstGeom prst="ellipse">
              <a:avLst/>
            </a:prstGeom>
            <a:solidFill>
              <a:srgbClr val="0E7C66">
                <a:alpha val="12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543050" y="1962150"/>
              <a:ext cx="647700" cy="647700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752600" y="2171700"/>
              <a:ext cx="228600" cy="228600"/>
              <a:chOff x="1752600" y="2171700"/>
              <a:chExt cx="228600" cy="2286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752600" y="2171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828800" y="22225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792834" y="2336792"/>
                <a:ext cx="148158" cy="36266"/>
              </a:xfrm>
              <a:custGeom>
                <a:avLst/>
                <a:gdLst/>
                <a:ahLst/>
                <a:cxnLst/>
                <a:rect l="l" t="t" r="r" b="b"/>
                <a:pathLst>
                  <a:path w="148158" h="36266">
                    <a:moveTo>
                      <a:pt x="0" y="36190"/>
                    </a:moveTo>
                    <a:cubicBezTo>
                      <a:pt x="6455" y="14707"/>
                      <a:pt x="26235" y="1"/>
                      <a:pt x="48666" y="8"/>
                    </a:cubicBezTo>
                    <a:lnTo>
                      <a:pt x="99466" y="8"/>
                    </a:lnTo>
                    <a:cubicBezTo>
                      <a:pt x="121928" y="0"/>
                      <a:pt x="141729" y="14744"/>
                      <a:pt x="148158" y="36266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532811" y="28098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陈绍杰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0238" y="3080147"/>
              <a:ext cx="111332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后端 + 架构 + 集成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57250" y="331470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14388" y="3484245"/>
              <a:ext cx="1625726" cy="601980"/>
              <a:chOff x="814388" y="3484245"/>
              <a:chExt cx="1625726" cy="60198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814388" y="350996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41070" y="348424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总体架构设计与技术选型</a:t>
                </a:r>
              </a:p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814388" y="371951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41070" y="3693795"/>
                <a:ext cx="12050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后端 API · 数据库建模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814388" y="392906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41070" y="3903345"/>
                <a:ext cx="149904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集成联调 · 报告统稿 · 答辩</a:t>
                </a:r>
              </a:p>
            </p:txBody>
          </p:sp>
        </p:grpSp>
        <p:sp>
          <p:nvSpPr>
            <p:cNvPr id="26" name="Rectangle 26"/>
            <p:cNvSpPr/>
            <p:nvPr/>
          </p:nvSpPr>
          <p:spPr>
            <a:xfrm>
              <a:off x="800100" y="428625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14416" y="4336018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系统设计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0100" y="453390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03446" y="4583668"/>
              <a:ext cx="112690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系统实现 · 报告统稿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390900" y="1409700"/>
            <a:ext cx="2590800" cy="3409950"/>
            <a:chOff x="3390900" y="1409700"/>
            <a:chExt cx="2590800" cy="3409950"/>
          </a:xfrm>
        </p:grpSpPr>
        <p:sp>
          <p:nvSpPr>
            <p:cNvPr id="31" name="Rectangle 31"/>
            <p:cNvSpPr/>
            <p:nvPr/>
          </p:nvSpPr>
          <p:spPr>
            <a:xfrm>
              <a:off x="3390900" y="1409700"/>
              <a:ext cx="2590800" cy="3409950"/>
            </a:xfrm>
            <a:prstGeom prst="roundRect">
              <a:avLst>
                <a:gd name="adj" fmla="val 5882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581400" y="14097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400050"/>
                  </a:lnTo>
                  <a:lnTo>
                    <a:pt x="0" y="400050"/>
                  </a:ln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811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78213" y="1554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算法负责人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4267200" y="1866900"/>
              <a:ext cx="838200" cy="838200"/>
            </a:xfrm>
            <a:prstGeom prst="ellipse">
              <a:avLst/>
            </a:prstGeom>
            <a:solidFill>
              <a:srgbClr val="F2811D">
                <a:alpha val="12000"/>
              </a:srgb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362450" y="1962150"/>
              <a:ext cx="647700" cy="64770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4572000" y="2171700"/>
              <a:ext cx="228600" cy="228600"/>
              <a:chOff x="4572000" y="2171700"/>
              <a:chExt cx="228600" cy="228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597400" y="21971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165100" y="0"/>
                    </a:lnTo>
                    <a:cubicBezTo>
                      <a:pt x="172114" y="0"/>
                      <a:pt x="177800" y="5686"/>
                      <a:pt x="177800" y="12700"/>
                    </a:cubicBezTo>
                    <a:lnTo>
                      <a:pt x="177800" y="165100"/>
                    </a:lnTo>
                    <a:cubicBezTo>
                      <a:pt x="177800" y="172114"/>
                      <a:pt x="172114" y="177800"/>
                      <a:pt x="165100" y="177800"/>
                    </a:cubicBezTo>
                    <a:lnTo>
                      <a:pt x="12700" y="177800"/>
                    </a:lnTo>
                    <a:cubicBezTo>
                      <a:pt x="5686" y="177800"/>
                      <a:pt x="0" y="172114"/>
                      <a:pt x="0" y="1651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648200" y="2247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76200"/>
                    </a:lnTo>
                    <a:lnTo>
                      <a:pt x="0" y="762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572000" y="22606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572000" y="23114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660900" y="21717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711700" y="21717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775200" y="22606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775200" y="23114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711700" y="23749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660900" y="23749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4352211" y="28098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黄权达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149328" y="3080147"/>
              <a:ext cx="107394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YOLOv8 缺陷检测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3676650" y="331470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3633788" y="3484245"/>
              <a:ext cx="1709737" cy="601980"/>
              <a:chOff x="3633788" y="3484245"/>
              <a:chExt cx="1709737" cy="60198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3633788" y="3509962"/>
                <a:ext cx="47625" cy="47625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3760470" y="3484245"/>
                <a:ext cx="14630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YOLOv8 缺陷检测训练调优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3633788" y="3719512"/>
                <a:ext cx="47625" cy="47625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3760470" y="36937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模型部署与推理服务</a:t>
                </a:r>
              </a:p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3633788" y="3929062"/>
                <a:ext cx="47625" cy="47625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3760470" y="390334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算法评估（mAP / 混淆矩阵）</a:t>
                </a:r>
              </a:p>
            </p:txBody>
          </p:sp>
        </p:grpSp>
        <p:sp>
          <p:nvSpPr>
            <p:cNvPr id="57" name="Rectangle 57"/>
            <p:cNvSpPr/>
            <p:nvPr/>
          </p:nvSpPr>
          <p:spPr>
            <a:xfrm>
              <a:off x="3619500" y="428625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F2811D">
                <a:alpha val="12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433816" y="4336018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算法实现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619500" y="453390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F2811D">
                <a:alpha val="12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433816" y="4583668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模型评估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210300" y="1409700"/>
            <a:ext cx="2590800" cy="3409950"/>
            <a:chOff x="6210300" y="1409700"/>
            <a:chExt cx="2590800" cy="3409950"/>
          </a:xfrm>
        </p:grpSpPr>
        <p:sp>
          <p:nvSpPr>
            <p:cNvPr id="62" name="Rectangle 62"/>
            <p:cNvSpPr/>
            <p:nvPr/>
          </p:nvSpPr>
          <p:spPr>
            <a:xfrm>
              <a:off x="6210300" y="1409700"/>
              <a:ext cx="2590800" cy="3409950"/>
            </a:xfrm>
            <a:prstGeom prst="roundRect">
              <a:avLst>
                <a:gd name="adj" fmla="val 5882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6400800" y="14097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400050"/>
                  </a:lnTo>
                  <a:lnTo>
                    <a:pt x="0" y="400050"/>
                  </a:ln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A5A4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07039" y="1554956"/>
              <a:ext cx="997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算法副 · 数据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086600" y="1866900"/>
              <a:ext cx="838200" cy="838200"/>
            </a:xfrm>
            <a:prstGeom prst="ellipse">
              <a:avLst/>
            </a:prstGeom>
            <a:solidFill>
              <a:srgbClr val="0A5A49">
                <a:alpha val="12000"/>
              </a:srgbClr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181850" y="1962150"/>
              <a:ext cx="647700" cy="647700"/>
            </a:xfrm>
            <a:prstGeom prst="ellipse">
              <a:avLst/>
            </a:prstGeom>
            <a:solidFill>
              <a:srgbClr val="0A5A49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404100" y="2171700"/>
              <a:ext cx="203200" cy="228600"/>
              <a:chOff x="7404100" y="2171700"/>
              <a:chExt cx="203200" cy="2286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404100" y="217170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404100" y="22098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404100" y="22860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171611" y="28098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张嘉豪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932630" y="3080147"/>
              <a:ext cx="114614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数据工程 + 传统 CV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6496050" y="331470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491288" y="3484245"/>
              <a:ext cx="1667732" cy="601980"/>
              <a:chOff x="6491288" y="3484245"/>
              <a:chExt cx="1667732" cy="601980"/>
            </a:xfrm>
          </p:grpSpPr>
          <p:sp>
            <p:nvSpPr>
              <p:cNvPr id="74" name="Ellipse 74"/>
              <p:cNvSpPr/>
              <p:nvPr/>
            </p:nvSpPr>
            <p:spPr>
              <a:xfrm>
                <a:off x="6491288" y="350996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6617970" y="3484245"/>
                <a:ext cx="15410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数据集采集/清洗/标注/划分</a:t>
                </a:r>
              </a:p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6491288" y="371951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6617970" y="3693795"/>
                <a:ext cx="9469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传统 CV 量化分级</a:t>
                </a:r>
              </a:p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6491288" y="392906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6617970" y="3903345"/>
                <a:ext cx="14570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需求分析 · DFD · 数据字典</a:t>
                </a:r>
              </a:p>
            </p:txBody>
          </p:sp>
        </p:grpSp>
        <p:sp>
          <p:nvSpPr>
            <p:cNvPr id="81" name="Rectangle 81"/>
            <p:cNvSpPr/>
            <p:nvPr/>
          </p:nvSpPr>
          <p:spPr>
            <a:xfrm>
              <a:off x="6438900" y="428625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0A5A49">
                <a:alpha val="10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253216" y="4336018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系统分析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438900" y="453390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0A5A49">
                <a:alpha val="10000"/>
              </a:srgbClr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253216" y="4583668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数据工程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029700" y="1409700"/>
            <a:ext cx="2590800" cy="3409950"/>
            <a:chOff x="9029700" y="1409700"/>
            <a:chExt cx="2590800" cy="3409950"/>
          </a:xfrm>
        </p:grpSpPr>
        <p:sp>
          <p:nvSpPr>
            <p:cNvPr id="86" name="Rectangle 86"/>
            <p:cNvSpPr/>
            <p:nvPr/>
          </p:nvSpPr>
          <p:spPr>
            <a:xfrm>
              <a:off x="9029700" y="1409700"/>
              <a:ext cx="2590800" cy="3409950"/>
            </a:xfrm>
            <a:prstGeom prst="roundRect">
              <a:avLst>
                <a:gd name="adj" fmla="val 5882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7" name="Freeform 87"/>
            <p:cNvSpPr/>
            <p:nvPr/>
          </p:nvSpPr>
          <p:spPr>
            <a:xfrm>
              <a:off x="9220200" y="14097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400050"/>
                  </a:lnTo>
                  <a:lnTo>
                    <a:pt x="0" y="400050"/>
                  </a:ln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E9E5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657106" y="1554956"/>
              <a:ext cx="13359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前端 · 测试 · 文档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9906000" y="1866900"/>
              <a:ext cx="838200" cy="838200"/>
            </a:xfrm>
            <a:prstGeom prst="ellipse">
              <a:avLst/>
            </a:prstGeom>
            <a:solidFill>
              <a:srgbClr val="2E9E5B">
                <a:alpha val="12000"/>
              </a:srgbClr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10001250" y="1962150"/>
              <a:ext cx="647700" cy="64770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10210800" y="2184400"/>
              <a:ext cx="228600" cy="203200"/>
              <a:chOff x="10210800" y="2184400"/>
              <a:chExt cx="228600" cy="2032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10210800" y="22352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50800" y="0"/>
                    </a:moveTo>
                    <a:lnTo>
                      <a:pt x="0" y="50800"/>
                    </a:lnTo>
                    <a:lnTo>
                      <a:pt x="50800" y="1016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10388600" y="22352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0" y="0"/>
                    </a:moveTo>
                    <a:lnTo>
                      <a:pt x="50800" y="50800"/>
                    </a:lnTo>
                    <a:lnTo>
                      <a:pt x="0" y="1016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10299700" y="2184400"/>
                <a:ext cx="508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03200">
                    <a:moveTo>
                      <a:pt x="50800" y="0"/>
                    </a:moveTo>
                    <a:lnTo>
                      <a:pt x="0" y="203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9991011" y="28098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黄浩然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847198" y="3080147"/>
              <a:ext cx="95580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Vue 前端 + 测试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9315450" y="331470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9310688" y="3484245"/>
              <a:ext cx="1427702" cy="601980"/>
              <a:chOff x="9310688" y="3484245"/>
              <a:chExt cx="1427702" cy="601980"/>
            </a:xfrm>
          </p:grpSpPr>
          <p:sp>
            <p:nvSpPr>
              <p:cNvPr id="98" name="Ellipse 98"/>
              <p:cNvSpPr/>
              <p:nvPr/>
            </p:nvSpPr>
            <p:spPr>
              <a:xfrm>
                <a:off x="9310688" y="350996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9437370" y="3484245"/>
                <a:ext cx="13010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Vue3 前端 · 结果可视化</a:t>
                </a:r>
              </a:p>
            </p:txBody>
          </p:sp>
          <p:sp>
            <p:nvSpPr>
              <p:cNvPr id="100" name="Ellipse 100"/>
              <p:cNvSpPr/>
              <p:nvPr/>
            </p:nvSpPr>
            <p:spPr>
              <a:xfrm>
                <a:off x="9310688" y="371951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9437370" y="3693795"/>
                <a:ext cx="1120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报表导出 · 测试用例</a:t>
                </a:r>
              </a:p>
            </p:txBody>
          </p:sp>
          <p:sp>
            <p:nvSpPr>
              <p:cNvPr id="102" name="Ellipse 102"/>
              <p:cNvSpPr/>
              <p:nvPr/>
            </p:nvSpPr>
            <p:spPr>
              <a:xfrm>
                <a:off x="9310688" y="392906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9437370" y="3903345"/>
                <a:ext cx="1120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演示视频 · 文档协助</a:t>
                </a:r>
              </a:p>
            </p:txBody>
          </p:sp>
        </p:grpSp>
        <p:sp>
          <p:nvSpPr>
            <p:cNvPr id="105" name="Rectangle 105"/>
            <p:cNvSpPr/>
            <p:nvPr/>
          </p:nvSpPr>
          <p:spPr>
            <a:xfrm>
              <a:off x="9258300" y="428625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2E9E5B">
                <a:alpha val="12000"/>
              </a:srgbClr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0072616" y="4336018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前端实现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9258300" y="453390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2E9E5B">
                <a:alpha val="12000"/>
              </a:srgbClr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0003176" y="4583668"/>
              <a:ext cx="64384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测试 · 文档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571500" y="4972050"/>
            <a:ext cx="11049000" cy="1143000"/>
            <a:chOff x="571500" y="4972050"/>
            <a:chExt cx="11049000" cy="1143000"/>
          </a:xfrm>
        </p:grpSpPr>
        <p:sp>
          <p:nvSpPr>
            <p:cNvPr id="110" name="Rectangle 110"/>
            <p:cNvSpPr/>
            <p:nvPr/>
          </p:nvSpPr>
          <p:spPr>
            <a:xfrm>
              <a:off x="571500" y="4972050"/>
              <a:ext cx="11049000" cy="1143000"/>
            </a:xfrm>
            <a:prstGeom prst="roundRect">
              <a:avLst>
                <a:gd name="adj" fmla="val 11667"/>
              </a:avLst>
            </a:prstGeom>
            <a:solidFill>
              <a:srgbClr val="0E7C66">
                <a:alpha val="6000"/>
              </a:srgbClr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571500" y="49720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118" name="Group 118"/>
            <p:cNvGrpSpPr/>
            <p:nvPr/>
          </p:nvGrpSpPr>
          <p:grpSpPr>
            <a:xfrm>
              <a:off x="843756" y="5178425"/>
              <a:ext cx="130970" cy="139700"/>
              <a:chOff x="843756" y="5178425"/>
              <a:chExt cx="130970" cy="1397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843756" y="528320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843756" y="5178425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931069" y="5178425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61219" y="5213350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878681" y="5239544"/>
                <a:ext cx="69850" cy="61119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1119">
                    <a:moveTo>
                      <a:pt x="0" y="61119"/>
                    </a:moveTo>
                    <a:lnTo>
                      <a:pt x="52388" y="61119"/>
                    </a:lnTo>
                    <a:cubicBezTo>
                      <a:pt x="62032" y="61119"/>
                      <a:pt x="69850" y="53301"/>
                      <a:pt x="69850" y="43656"/>
                    </a:cubicBez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922338" y="5239544"/>
                <a:ext cx="52388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26194">
                    <a:moveTo>
                      <a:pt x="0" y="26194"/>
                    </a:moveTo>
                    <a:lnTo>
                      <a:pt x="26194" y="0"/>
                    </a:lnTo>
                    <a:lnTo>
                      <a:pt x="52388" y="26194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1071562" y="5183981"/>
              <a:ext cx="33601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协作机制 · 接口契约先行，分支并行，组长合并</a:t>
              </a:r>
            </a:p>
          </p:txBody>
        </p:sp>
        <p:grpSp>
          <p:nvGrpSpPr>
            <p:cNvPr id="132" name="Group 132"/>
            <p:cNvGrpSpPr/>
            <p:nvPr/>
          </p:nvGrpSpPr>
          <p:grpSpPr>
            <a:xfrm>
              <a:off x="876300" y="5467350"/>
              <a:ext cx="9906000" cy="285750"/>
              <a:chOff x="876300" y="5467350"/>
              <a:chExt cx="9906000" cy="285750"/>
            </a:xfrm>
          </p:grpSpPr>
          <p:grpSp>
            <p:nvGrpSpPr>
              <p:cNvPr id="123" name="Group 123"/>
              <p:cNvGrpSpPr/>
              <p:nvPr/>
            </p:nvGrpSpPr>
            <p:grpSpPr>
              <a:xfrm>
                <a:off x="2819400" y="5543550"/>
                <a:ext cx="5848350" cy="114300"/>
                <a:chOff x="2819400" y="5543550"/>
                <a:chExt cx="5848350" cy="114300"/>
              </a:xfrm>
            </p:grpSpPr>
            <p:sp>
              <p:nvSpPr>
                <p:cNvPr id="120" name="Freeform 120"/>
                <p:cNvSpPr/>
                <p:nvPr/>
              </p:nvSpPr>
              <p:spPr>
                <a:xfrm>
                  <a:off x="2819400" y="5543550"/>
                  <a:ext cx="5143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" h="114300">
                      <a:moveTo>
                        <a:pt x="0" y="57150"/>
                      </a:moveTo>
                      <a:lnTo>
                        <a:pt x="514350" y="57150"/>
                      </a:lnTo>
                      <a:moveTo>
                        <a:pt x="419100" y="0"/>
                      </a:moveTo>
                      <a:lnTo>
                        <a:pt x="514350" y="57150"/>
                      </a:lnTo>
                      <a:lnTo>
                        <a:pt x="419100" y="114300"/>
                      </a:lnTo>
                    </a:path>
                  </a:pathLst>
                </a:custGeom>
                <a:noFill/>
                <a:ln w="19050" cap="rnd">
                  <a:solidFill>
                    <a:srgbClr val="0E7C66">
                      <a:alpha val="50000"/>
                    </a:srgbClr>
                  </a:solidFill>
                </a:ln>
              </p:spPr>
            </p:sp>
            <p:sp>
              <p:nvSpPr>
                <p:cNvPr id="121" name="Freeform 121"/>
                <p:cNvSpPr/>
                <p:nvPr/>
              </p:nvSpPr>
              <p:spPr>
                <a:xfrm>
                  <a:off x="5486400" y="5543550"/>
                  <a:ext cx="5143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" h="114300">
                      <a:moveTo>
                        <a:pt x="0" y="57150"/>
                      </a:moveTo>
                      <a:lnTo>
                        <a:pt x="514350" y="57150"/>
                      </a:lnTo>
                      <a:moveTo>
                        <a:pt x="419100" y="0"/>
                      </a:moveTo>
                      <a:lnTo>
                        <a:pt x="514350" y="57150"/>
                      </a:lnTo>
                      <a:lnTo>
                        <a:pt x="419100" y="114300"/>
                      </a:lnTo>
                    </a:path>
                  </a:pathLst>
                </a:custGeom>
                <a:noFill/>
                <a:ln w="19050" cap="rnd">
                  <a:solidFill>
                    <a:srgbClr val="0E7C66">
                      <a:alpha val="50000"/>
                    </a:srgbClr>
                  </a:solidFill>
                </a:ln>
              </p:spPr>
            </p:sp>
            <p:sp>
              <p:nvSpPr>
                <p:cNvPr id="122" name="Freeform 122"/>
                <p:cNvSpPr/>
                <p:nvPr/>
              </p:nvSpPr>
              <p:spPr>
                <a:xfrm>
                  <a:off x="8153400" y="5543550"/>
                  <a:ext cx="5143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" h="114300">
                      <a:moveTo>
                        <a:pt x="0" y="57150"/>
                      </a:moveTo>
                      <a:lnTo>
                        <a:pt x="514350" y="57150"/>
                      </a:lnTo>
                      <a:moveTo>
                        <a:pt x="419100" y="0"/>
                      </a:moveTo>
                      <a:lnTo>
                        <a:pt x="514350" y="57150"/>
                      </a:lnTo>
                      <a:lnTo>
                        <a:pt x="419100" y="114300"/>
                      </a:lnTo>
                    </a:path>
                  </a:pathLst>
                </a:custGeom>
                <a:noFill/>
                <a:ln w="19050" cap="rnd">
                  <a:solidFill>
                    <a:srgbClr val="0E7C66">
                      <a:alpha val="50000"/>
                    </a:srgbClr>
                  </a:solidFill>
                </a:ln>
              </p:spPr>
            </p:sp>
          </p:grpSp>
          <p:sp>
            <p:nvSpPr>
              <p:cNvPr id="124" name="Rectangle 124"/>
              <p:cNvSpPr/>
              <p:nvPr/>
            </p:nvSpPr>
            <p:spPr>
              <a:xfrm>
                <a:off x="876300" y="5467350"/>
                <a:ext cx="1905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1348847" y="5552599"/>
                <a:ext cx="9599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① 接口契约先行</a:t>
                </a:r>
              </a:p>
            </p:txBody>
          </p:sp>
          <p:sp>
            <p:nvSpPr>
              <p:cNvPr id="126" name="Rectangle 126"/>
              <p:cNvSpPr/>
              <p:nvPr/>
            </p:nvSpPr>
            <p:spPr>
              <a:xfrm>
                <a:off x="3543300" y="5467350"/>
                <a:ext cx="1905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7" name="TextBox 127"/>
              <p:cNvSpPr txBox="1"/>
              <p:nvPr/>
            </p:nvSpPr>
            <p:spPr>
              <a:xfrm>
                <a:off x="3770116" y="5552599"/>
                <a:ext cx="145136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② Git 分支 feat/* 并行</a:t>
                </a:r>
              </a:p>
            </p:txBody>
          </p:sp>
          <p:sp>
            <p:nvSpPr>
              <p:cNvPr id="128" name="Rectangle 128"/>
              <p:cNvSpPr/>
              <p:nvPr/>
            </p:nvSpPr>
            <p:spPr>
              <a:xfrm>
                <a:off x="6210300" y="5467350"/>
                <a:ext cx="1905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6467832" y="5552599"/>
                <a:ext cx="13899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③ 组长合并 + 每日同步</a:t>
                </a:r>
              </a:p>
            </p:txBody>
          </p:sp>
          <p:sp>
            <p:nvSpPr>
              <p:cNvPr id="130" name="Rectangle 130"/>
              <p:cNvSpPr/>
              <p:nvPr/>
            </p:nvSpPr>
            <p:spPr>
              <a:xfrm>
                <a:off x="8877300" y="5467350"/>
                <a:ext cx="1905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9281588" y="5552599"/>
                <a:ext cx="10964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④ 文档分阶段统稿</a:t>
                </a:r>
              </a:p>
            </p:txBody>
          </p:sp>
        </p:grpSp>
        <p:sp>
          <p:nvSpPr>
            <p:cNvPr id="133" name="TextBox 133"/>
            <p:cNvSpPr txBox="1"/>
            <p:nvPr/>
          </p:nvSpPr>
          <p:spPr>
            <a:xfrm>
              <a:off x="864870" y="5884545"/>
              <a:ext cx="6353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算法是难点 → 配双人（</a:t>
              </a:r>
              <a:r>
                <a:rPr lang="zh-CN" sz="90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黄权达 + 张嘉豪</a:t>
              </a:r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）；后端是集成枢纽 → 组长把控；前端 + 测试 + 文档由一人贯通，保演示与交付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135" name="TextBox 135"/>
            <p:cNvSpPr txBox="1"/>
            <p:nvPr/>
          </p:nvSpPr>
          <p:spPr>
            <a:xfrm>
              <a:off x="560070" y="64750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1267027" y="647509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61" grpId="0"/>
      <p:bldP spid="85" grpId="0"/>
      <p:bldP spid="109" grpId="0"/>
      <p:bldP spid="1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61950"/>
            <a:ext cx="6227683" cy="652462"/>
            <a:chOff x="571500" y="361950"/>
            <a:chExt cx="6227683" cy="652462"/>
          </a:xfrm>
        </p:grpSpPr>
        <p:sp>
          <p:nvSpPr>
            <p:cNvPr id="3" name="Rectangle 3"/>
            <p:cNvSpPr/>
            <p:nvPr/>
          </p:nvSpPr>
          <p:spPr>
            <a:xfrm>
              <a:off x="571500" y="3619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570" y="407670"/>
              <a:ext cx="30853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测试方案与验收标准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01052"/>
              <a:ext cx="60124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五层测试构成多层质量保障，并为系统下明确『完成定义（DoD）』——每条可逐项核验，交付有据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1283494"/>
            <a:ext cx="6286500" cy="4888706"/>
            <a:chOff x="571500" y="1283494"/>
            <a:chExt cx="6286500" cy="4888706"/>
          </a:xfrm>
        </p:grpSpPr>
        <p:grpSp>
          <p:nvGrpSpPr>
            <p:cNvPr id="10" name="Group 10"/>
            <p:cNvGrpSpPr/>
            <p:nvPr/>
          </p:nvGrpSpPr>
          <p:grpSpPr>
            <a:xfrm>
              <a:off x="640867" y="1283494"/>
              <a:ext cx="108905" cy="157162"/>
              <a:chOff x="640867" y="1283494"/>
              <a:chExt cx="108905" cy="1571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43811" y="1388269"/>
                <a:ext cx="1030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029" h="9525">
                    <a:moveTo>
                      <a:pt x="0" y="0"/>
                    </a:moveTo>
                    <a:lnTo>
                      <a:pt x="103029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40867" y="1283494"/>
                <a:ext cx="10890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8905" h="157162">
                    <a:moveTo>
                      <a:pt x="71920" y="0"/>
                    </a:moveTo>
                    <a:lnTo>
                      <a:pt x="71920" y="64105"/>
                    </a:lnTo>
                    <a:cubicBezTo>
                      <a:pt x="90651" y="70720"/>
                      <a:pt x="104029" y="87359"/>
                      <a:pt x="106467" y="107073"/>
                    </a:cubicBezTo>
                    <a:cubicBezTo>
                      <a:pt x="108905" y="126787"/>
                      <a:pt x="99983" y="146184"/>
                      <a:pt x="83428" y="157162"/>
                    </a:cubicBezTo>
                    <a:lnTo>
                      <a:pt x="25496" y="157162"/>
                    </a:lnTo>
                    <a:cubicBezTo>
                      <a:pt x="8931" y="146188"/>
                      <a:pt x="0" y="126787"/>
                      <a:pt x="2436" y="107066"/>
                    </a:cubicBezTo>
                    <a:cubicBezTo>
                      <a:pt x="4873" y="87345"/>
                      <a:pt x="18257" y="70700"/>
                      <a:pt x="36995" y="64087"/>
                    </a:cubicBezTo>
                    <a:lnTo>
                      <a:pt x="36995" y="0"/>
                    </a:lnTo>
                    <a:lnTo>
                      <a:pt x="7192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69131" y="1283494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0108" y="1291114"/>
              <a:ext cx="20229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测试矩阵 · 五层质量保障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1562100"/>
              <a:ext cx="6286500" cy="2400300"/>
            </a:xfrm>
            <a:prstGeom prst="roundRect">
              <a:avLst>
                <a:gd name="adj" fmla="val 3175"/>
              </a:avLst>
            </a:prstGeom>
            <a:solidFill>
              <a:srgbClr val="FFFFFF"/>
            </a:solidFill>
            <a:ln w="14288">
              <a:solidFill>
                <a:srgbClr val="E2E8E9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71500" y="1562100"/>
              <a:ext cx="6286500" cy="342900"/>
            </a:xfrm>
            <a:custGeom>
              <a:avLst/>
              <a:gdLst/>
              <a:ahLst/>
              <a:cxnLst/>
              <a:rect l="l" t="t" r="r" b="b"/>
              <a:pathLst>
                <a:path w="62865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6210300" y="0"/>
                  </a:lnTo>
                  <a:cubicBezTo>
                    <a:pt x="6252384" y="0"/>
                    <a:pt x="6286500" y="34116"/>
                    <a:pt x="6286500" y="76200"/>
                  </a:cubicBezTo>
                  <a:lnTo>
                    <a:pt x="62865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2944" y="1679972"/>
              <a:ext cx="5488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测试类型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69294" y="1679972"/>
              <a:ext cx="69983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工具 / 方法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3394" y="1679972"/>
              <a:ext cx="2863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重点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81025" y="2314575"/>
              <a:ext cx="6267450" cy="409575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81025" y="3133725"/>
              <a:ext cx="6267450" cy="409575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1866900" y="1905000"/>
              <a:ext cx="9525" cy="2047875"/>
            </a:xfrm>
            <a:custGeom>
              <a:avLst/>
              <a:gdLst/>
              <a:ahLst/>
              <a:cxnLst/>
              <a:rect l="l" t="t" r="r" b="b"/>
              <a:pathLst>
                <a:path w="9525" h="2047875">
                  <a:moveTo>
                    <a:pt x="0" y="0"/>
                  </a:moveTo>
                  <a:lnTo>
                    <a:pt x="0" y="2047875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191000" y="1905000"/>
              <a:ext cx="9525" cy="2047875"/>
            </a:xfrm>
            <a:custGeom>
              <a:avLst/>
              <a:gdLst/>
              <a:ahLst/>
              <a:cxnLst/>
              <a:rect l="l" t="t" r="r" b="b"/>
              <a:pathLst>
                <a:path w="9525" h="2047875">
                  <a:moveTo>
                    <a:pt x="0" y="0"/>
                  </a:moveTo>
                  <a:lnTo>
                    <a:pt x="0" y="2047875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2468" y="20569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功能测试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69770" y="2065020"/>
              <a:ext cx="760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用例表 · 黑盒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94346" y="2069068"/>
              <a:ext cx="208066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上传 / 分级 / 缺陷 / 溯源 / 导出 全流程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2468" y="2466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接口测试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69770" y="2474595"/>
              <a:ext cx="10429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Postman + pytest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94346" y="2478643"/>
              <a:ext cx="166661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入参出参 · 状态码 · 自动化回归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2468" y="28760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算法评估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69770" y="288417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mAP · 混淆矩阵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94346" y="2888218"/>
              <a:ext cx="1419332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缺陷检测精度 · 独立测试集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2468" y="32856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系统联调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69770" y="3293745"/>
              <a:ext cx="760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端到端 + 并发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94346" y="3297793"/>
              <a:ext cx="138482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前后端算法链路 · ≥ 5 并发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2468" y="3695224"/>
              <a:ext cx="727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可用 / 兼容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69770" y="3703320"/>
              <a:ext cx="8809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多浏览器 + 手机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94346" y="3707368"/>
              <a:ext cx="171261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Chrome / Edge · 微信 H5 响应式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4114800"/>
              <a:ext cx="6286500" cy="2057400"/>
            </a:xfrm>
            <a:prstGeom prst="roundRect">
              <a:avLst>
                <a:gd name="adj" fmla="val 5556"/>
              </a:avLst>
            </a:prstGeom>
            <a:solidFill>
              <a:srgbClr val="F4F7F6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51681" y="4302919"/>
              <a:ext cx="130969" cy="116681"/>
              <a:chOff x="751681" y="4302919"/>
              <a:chExt cx="130969" cy="11668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51681" y="4302919"/>
                <a:ext cx="31750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844">
                    <a:moveTo>
                      <a:pt x="0" y="7937"/>
                    </a:moveTo>
                    <a:lnTo>
                      <a:pt x="11906" y="19844"/>
                    </a:ln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51681" y="4350544"/>
                <a:ext cx="31750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844">
                    <a:moveTo>
                      <a:pt x="0" y="7937"/>
                    </a:moveTo>
                    <a:lnTo>
                      <a:pt x="11906" y="19844"/>
                    </a:ln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51681" y="4398169"/>
                <a:ext cx="31750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844">
                    <a:moveTo>
                      <a:pt x="0" y="7937"/>
                    </a:moveTo>
                    <a:lnTo>
                      <a:pt x="11906" y="19844"/>
                    </a:ln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1212" y="431482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1212" y="436245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1212" y="441007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976312" y="4298156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典型测试用例（举例）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777199" y="4650326"/>
              <a:ext cx="160095" cy="137543"/>
              <a:chOff x="777199" y="4650326"/>
              <a:chExt cx="160095" cy="13754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57250" y="4700588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199" y="4650326"/>
                <a:ext cx="160095" cy="137543"/>
              </a:xfrm>
              <a:custGeom>
                <a:avLst/>
                <a:gdLst/>
                <a:ahLst/>
                <a:cxnLst/>
                <a:rect l="l" t="t" r="r" b="b"/>
                <a:pathLst>
                  <a:path w="160095" h="137543">
                    <a:moveTo>
                      <a:pt x="67057" y="7328"/>
                    </a:moveTo>
                    <a:lnTo>
                      <a:pt x="2716" y="114754"/>
                    </a:lnTo>
                    <a:cubicBezTo>
                      <a:pt x="16" y="119428"/>
                      <a:pt x="0" y="125184"/>
                      <a:pt x="2672" y="129873"/>
                    </a:cubicBezTo>
                    <a:cubicBezTo>
                      <a:pt x="5344" y="134563"/>
                      <a:pt x="10304" y="137482"/>
                      <a:pt x="15701" y="137543"/>
                    </a:cubicBezTo>
                    <a:lnTo>
                      <a:pt x="144400" y="137543"/>
                    </a:lnTo>
                    <a:cubicBezTo>
                      <a:pt x="149795" y="137481"/>
                      <a:pt x="154752" y="134562"/>
                      <a:pt x="157423" y="129875"/>
                    </a:cubicBezTo>
                    <a:cubicBezTo>
                      <a:pt x="160095" y="125188"/>
                      <a:pt x="160081" y="119436"/>
                      <a:pt x="157386" y="114762"/>
                    </a:cubicBezTo>
                    <a:lnTo>
                      <a:pt x="93044" y="7320"/>
                    </a:lnTo>
                    <a:cubicBezTo>
                      <a:pt x="90291" y="2776"/>
                      <a:pt x="85364" y="0"/>
                      <a:pt x="80051" y="0"/>
                    </a:cubicBezTo>
                    <a:cubicBezTo>
                      <a:pt x="74737" y="0"/>
                      <a:pt x="69810" y="2776"/>
                      <a:pt x="67057" y="7320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57250" y="4756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16318" y="4666774"/>
              <a:ext cx="25145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上传非图片文件 </a:t>
              </a:r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→ 应被拒绝并提示格式错误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785812" y="5011738"/>
              <a:ext cx="142876" cy="119062"/>
              <a:chOff x="785812" y="5011738"/>
              <a:chExt cx="142876" cy="11906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3438" y="5011738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31750"/>
                    </a:move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lnTo>
                      <a:pt x="47625" y="317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7562" y="5043488"/>
                <a:ext cx="79375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87312">
                    <a:moveTo>
                      <a:pt x="7938" y="0"/>
                    </a:moveTo>
                    <a:lnTo>
                      <a:pt x="71438" y="0"/>
                    </a:lnTo>
                    <a:cubicBezTo>
                      <a:pt x="76165" y="7085"/>
                      <a:pt x="78906" y="15308"/>
                      <a:pt x="79375" y="23812"/>
                    </a:cubicBezTo>
                    <a:lnTo>
                      <a:pt x="79375" y="47625"/>
                    </a:lnTo>
                    <a:cubicBezTo>
                      <a:pt x="79375" y="69544"/>
                      <a:pt x="61606" y="87312"/>
                      <a:pt x="39688" y="87312"/>
                    </a:cubicBezTo>
                    <a:cubicBezTo>
                      <a:pt x="17769" y="87312"/>
                      <a:pt x="0" y="69544"/>
                      <a:pt x="0" y="47625"/>
                    </a:cubicBezTo>
                    <a:lnTo>
                      <a:pt x="0" y="23812"/>
                    </a:lnTo>
                    <a:cubicBezTo>
                      <a:pt x="469" y="15308"/>
                      <a:pt x="3210" y="7085"/>
                      <a:pt x="7937" y="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85812" y="5075238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96938" y="5075238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57250" y="508317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93750" y="5106988"/>
                <a:ext cx="26591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6591" h="15875">
                    <a:moveTo>
                      <a:pt x="0" y="15875"/>
                    </a:moveTo>
                    <a:lnTo>
                      <a:pt x="26591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94159" y="5106988"/>
                <a:ext cx="26591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6591" h="15875">
                    <a:moveTo>
                      <a:pt x="26591" y="158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93750" y="5027612"/>
                <a:ext cx="29766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766" h="19050">
                    <a:moveTo>
                      <a:pt x="0" y="0"/>
                    </a:moveTo>
                    <a:lnTo>
                      <a:pt x="29766" y="190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90984" y="5027612"/>
                <a:ext cx="29766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766" h="19050">
                    <a:moveTo>
                      <a:pt x="29766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16318" y="5009674"/>
              <a:ext cx="2144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裂纹 / 病斑果 </a:t>
              </a:r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→ 判等外品并框出缺陷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793750" y="5362575"/>
              <a:ext cx="127000" cy="95250"/>
              <a:chOff x="793750" y="5362575"/>
              <a:chExt cx="127000" cy="952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93750" y="5362575"/>
                <a:ext cx="127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63500">
                    <a:moveTo>
                      <a:pt x="63500" y="0"/>
                    </a:moveTo>
                    <a:lnTo>
                      <a:pt x="0" y="31750"/>
                    </a:lnTo>
                    <a:lnTo>
                      <a:pt x="63500" y="63500"/>
                    </a:lnTo>
                    <a:lnTo>
                      <a:pt x="127000" y="31750"/>
                    </a:ln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93750" y="5426075"/>
                <a:ext cx="1270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31750">
                    <a:moveTo>
                      <a:pt x="0" y="0"/>
                    </a:moveTo>
                    <a:lnTo>
                      <a:pt x="63500" y="31750"/>
                    </a:ln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16318" y="5352574"/>
              <a:ext cx="23130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批量 10 张 </a:t>
              </a:r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→ 全部返回，按等级统计正确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785812" y="5681664"/>
              <a:ext cx="142873" cy="142873"/>
              <a:chOff x="785812" y="5681664"/>
              <a:chExt cx="142873" cy="14287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85812" y="5681664"/>
                <a:ext cx="142873" cy="142873"/>
              </a:xfrm>
              <a:custGeom>
                <a:avLst/>
                <a:gdLst/>
                <a:ahLst/>
                <a:cxnLst/>
                <a:rect l="l" t="t" r="r" b="b"/>
                <a:pathLst>
                  <a:path w="142873" h="142873">
                    <a:moveTo>
                      <a:pt x="107593" y="6690"/>
                    </a:moveTo>
                    <a:lnTo>
                      <a:pt x="136184" y="35281"/>
                    </a:lnTo>
                    <a:cubicBezTo>
                      <a:pt x="140467" y="39563"/>
                      <a:pt x="142873" y="45372"/>
                      <a:pt x="142873" y="51430"/>
                    </a:cubicBezTo>
                    <a:cubicBezTo>
                      <a:pt x="142873" y="57487"/>
                      <a:pt x="140467" y="63296"/>
                      <a:pt x="136184" y="67578"/>
                    </a:cubicBezTo>
                    <a:lnTo>
                      <a:pt x="115205" y="88557"/>
                    </a:lnTo>
                    <a:cubicBezTo>
                      <a:pt x="110922" y="92841"/>
                      <a:pt x="105113" y="95247"/>
                      <a:pt x="99056" y="95247"/>
                    </a:cubicBezTo>
                    <a:cubicBezTo>
                      <a:pt x="92999" y="95247"/>
                      <a:pt x="87190" y="92841"/>
                      <a:pt x="82907" y="88557"/>
                    </a:cubicBezTo>
                    <a:lnTo>
                      <a:pt x="80518" y="86168"/>
                    </a:lnTo>
                    <a:lnTo>
                      <a:pt x="28464" y="138222"/>
                    </a:lnTo>
                    <a:cubicBezTo>
                      <a:pt x="25826" y="140859"/>
                      <a:pt x="22345" y="142483"/>
                      <a:pt x="18629" y="142810"/>
                    </a:cubicBezTo>
                    <a:lnTo>
                      <a:pt x="17240" y="142873"/>
                    </a:lnTo>
                    <a:lnTo>
                      <a:pt x="7937" y="142873"/>
                    </a:lnTo>
                    <a:cubicBezTo>
                      <a:pt x="3913" y="142873"/>
                      <a:pt x="526" y="139861"/>
                      <a:pt x="56" y="135865"/>
                    </a:cubicBezTo>
                    <a:lnTo>
                      <a:pt x="0" y="134936"/>
                    </a:lnTo>
                    <a:lnTo>
                      <a:pt x="0" y="125633"/>
                    </a:lnTo>
                    <a:cubicBezTo>
                      <a:pt x="1" y="121906"/>
                      <a:pt x="1313" y="118298"/>
                      <a:pt x="3707" y="115441"/>
                    </a:cubicBezTo>
                    <a:lnTo>
                      <a:pt x="4651" y="114410"/>
                    </a:lnTo>
                    <a:lnTo>
                      <a:pt x="7937" y="111123"/>
                    </a:lnTo>
                    <a:lnTo>
                      <a:pt x="23812" y="111123"/>
                    </a:lnTo>
                    <a:lnTo>
                      <a:pt x="23812" y="95248"/>
                    </a:lnTo>
                    <a:lnTo>
                      <a:pt x="39688" y="95248"/>
                    </a:lnTo>
                    <a:lnTo>
                      <a:pt x="39688" y="79373"/>
                    </a:lnTo>
                    <a:lnTo>
                      <a:pt x="56706" y="62355"/>
                    </a:lnTo>
                    <a:lnTo>
                      <a:pt x="54316" y="59966"/>
                    </a:lnTo>
                    <a:cubicBezTo>
                      <a:pt x="50033" y="55684"/>
                      <a:pt x="47627" y="49875"/>
                      <a:pt x="47627" y="43817"/>
                    </a:cubicBezTo>
                    <a:cubicBezTo>
                      <a:pt x="47627" y="37760"/>
                      <a:pt x="50033" y="31951"/>
                      <a:pt x="54316" y="27669"/>
                    </a:cubicBezTo>
                    <a:lnTo>
                      <a:pt x="75295" y="6690"/>
                    </a:lnTo>
                    <a:cubicBezTo>
                      <a:pt x="79578" y="2406"/>
                      <a:pt x="85387" y="0"/>
                      <a:pt x="91444" y="0"/>
                    </a:cubicBezTo>
                    <a:cubicBezTo>
                      <a:pt x="97501" y="0"/>
                      <a:pt x="103310" y="2406"/>
                      <a:pt x="107593" y="6690"/>
                    </a:cubicBez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81062" y="5729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16318" y="5695474"/>
              <a:ext cx="1994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未登录调用接口 </a:t>
              </a:r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→ 返回 401 未授权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2946" y="5964793"/>
              <a:ext cx="388064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接口用 Postman + pytest 自动验证，算法用独立测试集出 mAP 与混淆矩阵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7124700" y="1283494"/>
            <a:ext cx="4495800" cy="4888706"/>
            <a:chOff x="7124700" y="1283494"/>
            <a:chExt cx="4495800" cy="4888706"/>
          </a:xfrm>
        </p:grpSpPr>
        <p:grpSp>
          <p:nvGrpSpPr>
            <p:cNvPr id="74" name="Group 74"/>
            <p:cNvGrpSpPr/>
            <p:nvPr/>
          </p:nvGrpSpPr>
          <p:grpSpPr>
            <a:xfrm>
              <a:off x="7187406" y="1283494"/>
              <a:ext cx="122237" cy="157162"/>
              <a:chOff x="7187406" y="1283494"/>
              <a:chExt cx="122237" cy="157162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187406" y="1300956"/>
                <a:ext cx="122237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39700">
                    <a:moveTo>
                      <a:pt x="34925" y="0"/>
                    </a:moveTo>
                    <a:lnTo>
                      <a:pt x="17462" y="0"/>
                    </a:lnTo>
                    <a:cubicBezTo>
                      <a:pt x="7818" y="0"/>
                      <a:pt x="0" y="7818"/>
                      <a:pt x="0" y="17462"/>
                    </a:cubicBezTo>
                    <a:lnTo>
                      <a:pt x="0" y="122237"/>
                    </a:lnTo>
                    <a:cubicBezTo>
                      <a:pt x="0" y="131882"/>
                      <a:pt x="7818" y="139700"/>
                      <a:pt x="17462" y="139700"/>
                    </a:cubicBezTo>
                    <a:lnTo>
                      <a:pt x="104775" y="139700"/>
                    </a:lnTo>
                    <a:cubicBezTo>
                      <a:pt x="114419" y="139700"/>
                      <a:pt x="122237" y="131882"/>
                      <a:pt x="122237" y="122237"/>
                    </a:cubicBezTo>
                    <a:lnTo>
                      <a:pt x="122237" y="17462"/>
                    </a:lnTo>
                    <a:cubicBezTo>
                      <a:pt x="122237" y="7818"/>
                      <a:pt x="114419" y="0"/>
                      <a:pt x="104775" y="0"/>
                    </a:cubicBezTo>
                    <a:lnTo>
                      <a:pt x="87312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222331" y="1283494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cubicBezTo>
                      <a:pt x="0" y="7818"/>
                      <a:pt x="7818" y="0"/>
                      <a:pt x="17463" y="0"/>
                    </a:cubicBezTo>
                    <a:lnTo>
                      <a:pt x="34925" y="0"/>
                    </a:lnTo>
                    <a:cubicBezTo>
                      <a:pt x="44569" y="0"/>
                      <a:pt x="52388" y="7818"/>
                      <a:pt x="52388" y="17463"/>
                    </a:cubicBezTo>
                    <a:cubicBezTo>
                      <a:pt x="52388" y="27107"/>
                      <a:pt x="44569" y="34925"/>
                      <a:pt x="34925" y="34925"/>
                    </a:cubicBezTo>
                    <a:lnTo>
                      <a:pt x="17463" y="34925"/>
                    </a:lnTo>
                    <a:cubicBezTo>
                      <a:pt x="7818" y="34925"/>
                      <a:pt x="0" y="27107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222331" y="1362075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7413308" y="1291114"/>
              <a:ext cx="23174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验收标准 · 完成定义（DoD）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124700" y="1619250"/>
              <a:ext cx="4495800" cy="1352550"/>
            </a:xfrm>
            <a:prstGeom prst="roundRect">
              <a:avLst>
                <a:gd name="adj" fmla="val 8451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124700" y="161925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62825" y="1800225"/>
              <a:ext cx="171450" cy="171450"/>
              <a:chOff x="7362825" y="1800225"/>
              <a:chExt cx="171450" cy="17145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62825" y="18002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419975" y="18669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7624762" y="1821656"/>
              <a:ext cx="14226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验收① 基础（必达）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7386638" y="2281238"/>
              <a:ext cx="47625" cy="47625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531418" y="2247424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系统可运行，四层链路全部打通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7386638" y="2586038"/>
              <a:ext cx="47625" cy="47625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531418" y="2552224"/>
              <a:ext cx="27616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MVP 闭环 </a:t>
              </a:r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无致命 bug</a:t>
              </a:r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（上传→分级→缺陷→展示）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124700" y="3086100"/>
              <a:ext cx="4495800" cy="1352550"/>
            </a:xfrm>
            <a:prstGeom prst="roundRect">
              <a:avLst>
                <a:gd name="adj" fmla="val 8451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124700" y="308610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362825" y="3267075"/>
              <a:ext cx="171450" cy="171450"/>
              <a:chOff x="7362825" y="3267075"/>
              <a:chExt cx="171450" cy="17145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439025" y="33432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400925" y="33051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7362825" y="32670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7624762" y="3288506"/>
              <a:ext cx="17376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验收② 算法（核心指标）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7386638" y="3748088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531418" y="3714274"/>
              <a:ext cx="1545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缺陷检测 </a:t>
              </a:r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mAP@0.5 ≥ 0.60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386638" y="4052888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531418" y="4019074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分级与人工 </a:t>
              </a:r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一致率 ≥ 80%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124700" y="4552950"/>
              <a:ext cx="4495800" cy="1619250"/>
            </a:xfrm>
            <a:prstGeom prst="roundRect">
              <a:avLst>
                <a:gd name="adj" fmla="val 705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7124700" y="4552950"/>
              <a:ext cx="57150" cy="16192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372350" y="4733925"/>
              <a:ext cx="152400" cy="171450"/>
              <a:chOff x="7372350" y="4733925"/>
              <a:chExt cx="152400" cy="17145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7372350" y="4733925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76200" y="0"/>
                    </a:moveTo>
                    <a:lnTo>
                      <a:pt x="152400" y="42862"/>
                    </a:lnTo>
                    <a:lnTo>
                      <a:pt x="152400" y="128588"/>
                    </a:lnTo>
                    <a:lnTo>
                      <a:pt x="76200" y="171450"/>
                    </a:lnTo>
                    <a:lnTo>
                      <a:pt x="0" y="128588"/>
                    </a:lnTo>
                    <a:lnTo>
                      <a:pt x="0" y="42862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7448550" y="4776788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0" y="42862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7448550" y="48196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7372350" y="4776788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428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7410450" y="4755356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7624762" y="4755356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验收③ 加分 + 交付规范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7386638" y="51958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31418" y="5162074"/>
              <a:ext cx="21830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溯源 / 价格 / 导出 等加分功能可演示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7386638" y="55006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531418" y="5466874"/>
              <a:ext cx="28136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UML 文档齐全规范（用例 / DFD / E-R / 类图…）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7386638" y="58054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7531418" y="5771674"/>
              <a:ext cx="26770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按规范打包、</a:t>
              </a:r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按时提交</a:t>
              </a:r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（第12组-《题目名》）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113" name="TextBox 113"/>
            <p:cNvSpPr txBox="1"/>
            <p:nvPr/>
          </p:nvSpPr>
          <p:spPr>
            <a:xfrm>
              <a:off x="560070" y="64750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267027" y="647509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1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61950"/>
            <a:ext cx="6605730" cy="652462"/>
            <a:chOff x="571500" y="361950"/>
            <a:chExt cx="6605730" cy="652462"/>
          </a:xfrm>
        </p:grpSpPr>
        <p:sp>
          <p:nvSpPr>
            <p:cNvPr id="3" name="Rectangle 3"/>
            <p:cNvSpPr/>
            <p:nvPr/>
          </p:nvSpPr>
          <p:spPr>
            <a:xfrm>
              <a:off x="571500" y="3619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570" y="407670"/>
              <a:ext cx="30853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创新亮点与风险应对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01052"/>
              <a:ext cx="6390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差异化创新主打『低风险、强演示』前三项，第四项作余力扩展；对周期 / 数据 / 算法 / 现场均有预案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4362" y="1128712"/>
            <a:ext cx="1202293" cy="235744"/>
            <a:chOff x="614362" y="1128712"/>
            <a:chExt cx="1202293" cy="235744"/>
          </a:xfrm>
        </p:grpSpPr>
        <p:grpSp>
          <p:nvGrpSpPr>
            <p:cNvPr id="10" name="Group 10"/>
            <p:cNvGrpSpPr/>
            <p:nvPr/>
          </p:nvGrpSpPr>
          <p:grpSpPr>
            <a:xfrm>
              <a:off x="614362" y="1128712"/>
              <a:ext cx="142875" cy="142875"/>
              <a:chOff x="614362" y="1128712"/>
              <a:chExt cx="142875" cy="1428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14362" y="112871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8"/>
                    </a:moveTo>
                    <a:lnTo>
                      <a:pt x="26194" y="26194"/>
                    </a:lnTo>
                    <a:moveTo>
                      <a:pt x="122237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42747" y="116046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67544" y="123983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42962" y="1135856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四大创新亮点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390650"/>
            <a:ext cx="2590800" cy="2114550"/>
            <a:chOff x="571500" y="1390650"/>
            <a:chExt cx="2590800" cy="2114550"/>
          </a:xfrm>
        </p:grpSpPr>
        <p:sp>
          <p:nvSpPr>
            <p:cNvPr id="13" name="Rectangle 13"/>
            <p:cNvSpPr/>
            <p:nvPr/>
          </p:nvSpPr>
          <p:spPr>
            <a:xfrm>
              <a:off x="571500" y="1390650"/>
              <a:ext cx="2590800" cy="2114550"/>
            </a:xfrm>
            <a:prstGeom prst="roundRect">
              <a:avLst>
                <a:gd name="adj" fmla="val 720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479284" y="1532572"/>
              <a:ext cx="498231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0E7C66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" y="16002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0E7C66">
                <a:alpha val="12000"/>
              </a:srgbClr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62025" y="1790700"/>
              <a:ext cx="171450" cy="142875"/>
              <a:chOff x="962025" y="1790700"/>
              <a:chExt cx="171450" cy="1428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028700" y="18288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62025" y="1790700"/>
                <a:ext cx="171450" cy="11389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3890">
                    <a:moveTo>
                      <a:pt x="77172" y="113890"/>
                    </a:moveTo>
                    <a:cubicBezTo>
                      <a:pt x="46653" y="110966"/>
                      <a:pt x="20936" y="92040"/>
                      <a:pt x="0" y="57150"/>
                    </a:cubicBezTo>
                    <a:cubicBezTo>
                      <a:pt x="22860" y="19050"/>
                      <a:pt x="51435" y="0"/>
                      <a:pt x="85725" y="0"/>
                    </a:cubicBezTo>
                    <a:cubicBezTo>
                      <a:pt x="120015" y="0"/>
                      <a:pt x="148590" y="19050"/>
                      <a:pt x="171450" y="57150"/>
                    </a:cubicBezTo>
                    <a:cubicBezTo>
                      <a:pt x="169449" y="60492"/>
                      <a:pt x="167343" y="63770"/>
                      <a:pt x="165135" y="6698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76325" y="18954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784384" y="2304812"/>
              <a:ext cx="1417606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双引擎可解释分级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9146" y="2554843"/>
              <a:ext cx="105444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量化指标 + DL 检测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8194" y="2832497"/>
              <a:ext cx="159900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果径 / 着色率 / 缺陷占比 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8194" y="3022997"/>
              <a:ext cx="154275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量化依据 + YOLOv8 融合，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8194" y="3213497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分级</a:t>
              </a:r>
              <a:r>
                <a:rPr lang="zh-CN" sz="938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有据可查、非黑盒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90900" y="1390650"/>
            <a:ext cx="2590800" cy="2114550"/>
            <a:chOff x="3390900" y="1390650"/>
            <a:chExt cx="2590800" cy="2114550"/>
          </a:xfrm>
        </p:grpSpPr>
        <p:sp>
          <p:nvSpPr>
            <p:cNvPr id="26" name="Rectangle 26"/>
            <p:cNvSpPr/>
            <p:nvPr/>
          </p:nvSpPr>
          <p:spPr>
            <a:xfrm>
              <a:off x="3390900" y="1390650"/>
              <a:ext cx="2590800" cy="2114550"/>
            </a:xfrm>
            <a:prstGeom prst="roundRect">
              <a:avLst>
                <a:gd name="adj" fmla="val 720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177919" y="1532572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F2811D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19500" y="16002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F2811D">
                <a:alpha val="12000"/>
              </a:srgbClr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3790950" y="1771650"/>
              <a:ext cx="152400" cy="152400"/>
              <a:chOff x="3790950" y="1771650"/>
              <a:chExt cx="152400" cy="1524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3867150" y="17716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790950" y="17907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3905250" y="17907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810000" y="18288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790950" y="18478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848100" y="18478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895725" y="18859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790950" y="1905000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933825" y="190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603784" y="2304812"/>
              <a:ext cx="1616868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标准可配置 · 模板化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08546" y="2554843"/>
              <a:ext cx="122955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在线调阈值，不动代码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07594" y="2832497"/>
              <a:ext cx="166776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内置砂糖橘 / 贡柑分级模板，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07594" y="30229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管理员可在线调整阈值，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07594" y="3213497"/>
              <a:ext cx="11489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标准</a:t>
              </a:r>
              <a:r>
                <a:rPr lang="zh-CN" sz="938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独立成表可维护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10300" y="1390650"/>
            <a:ext cx="2590800" cy="2114550"/>
            <a:chOff x="6210300" y="1390650"/>
            <a:chExt cx="2590800" cy="2114550"/>
          </a:xfrm>
        </p:grpSpPr>
        <p:sp>
          <p:nvSpPr>
            <p:cNvPr id="45" name="Rectangle 45"/>
            <p:cNvSpPr/>
            <p:nvPr/>
          </p:nvSpPr>
          <p:spPr>
            <a:xfrm>
              <a:off x="6210300" y="1390650"/>
              <a:ext cx="2590800" cy="2114550"/>
            </a:xfrm>
            <a:prstGeom prst="roundRect">
              <a:avLst>
                <a:gd name="adj" fmla="val 720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97319" y="1532572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0A5A49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38900" y="16002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0A5A49">
                <a:alpha val="12000"/>
              </a:srgbClr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610350" y="1771650"/>
              <a:ext cx="161925" cy="161925"/>
              <a:chOff x="6610350" y="1771650"/>
              <a:chExt cx="161925" cy="1619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610350" y="1771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38925" y="1895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05600" y="1771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638925" y="1800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610350" y="18669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34175" y="1800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05600" y="18669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62750" y="1866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05600" y="1866900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05600" y="19240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34175" y="18954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62750" y="189547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423184" y="2304812"/>
              <a:ext cx="1443596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溯源码 + 价格联动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27946" y="2554843"/>
              <a:ext cx="98802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一键生成溯源报告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26994" y="28324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结果一键生成可扫码溯源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26994" y="3022997"/>
              <a:ext cx="11489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报告，并按等级</a:t>
              </a:r>
              <a:r>
                <a:rPr lang="zh-CN" sz="938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联动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26994" y="3213497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参考价格</a:t>
              </a:r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，闭环到应用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029700" y="1390650"/>
            <a:ext cx="2590800" cy="2114550"/>
            <a:chOff x="9029700" y="1390650"/>
            <a:chExt cx="2590800" cy="2114550"/>
          </a:xfrm>
        </p:grpSpPr>
        <p:sp>
          <p:nvSpPr>
            <p:cNvPr id="67" name="Rectangle 67"/>
            <p:cNvSpPr/>
            <p:nvPr/>
          </p:nvSpPr>
          <p:spPr>
            <a:xfrm>
              <a:off x="9029700" y="1390650"/>
              <a:ext cx="2590800" cy="2114550"/>
            </a:xfrm>
            <a:prstGeom prst="roundRect">
              <a:avLst>
                <a:gd name="adj" fmla="val 720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816719" y="1532572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2E9E5B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258300" y="16002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2E9E5B">
                <a:alpha val="12000"/>
              </a:srgbClr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9429750" y="1790700"/>
              <a:ext cx="152400" cy="114300"/>
              <a:chOff x="9429750" y="1790700"/>
              <a:chExt cx="152400" cy="1143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429750" y="179070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76200" y="0"/>
                    </a:moveTo>
                    <a:lnTo>
                      <a:pt x="0" y="38100"/>
                    </a:lnTo>
                    <a:lnTo>
                      <a:pt x="76200" y="76200"/>
                    </a:lnTo>
                    <a:lnTo>
                      <a:pt x="152400" y="381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429750" y="1866900"/>
                <a:ext cx="1524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8100">
                    <a:moveTo>
                      <a:pt x="0" y="0"/>
                    </a:moveTo>
                    <a:lnTo>
                      <a:pt x="76200" y="38100"/>
                    </a:ln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73" name="Rectangle 73"/>
            <p:cNvSpPr/>
            <p:nvPr/>
          </p:nvSpPr>
          <p:spPr>
            <a:xfrm>
              <a:off x="10668000" y="1638300"/>
              <a:ext cx="723900" cy="209550"/>
            </a:xfrm>
            <a:prstGeom prst="roundRect">
              <a:avLst>
                <a:gd name="adj" fmla="val 50000"/>
              </a:avLst>
            </a:prstGeom>
            <a:solidFill>
              <a:srgbClr val="2E9E5B">
                <a:alpha val="15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788444" y="16921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余力扩展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242584" y="2304812"/>
              <a:ext cx="1071062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多品类可扩展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247346" y="2554843"/>
              <a:ext cx="74649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架构留扩展位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246394" y="2832497"/>
              <a:ext cx="141773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用公开苹果 / 番茄数据集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246394" y="30229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做对照，验证</a:t>
              </a:r>
              <a:r>
                <a:rPr lang="zh-CN" sz="938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可扩展性</a:t>
              </a:r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246394" y="3213497"/>
              <a:ext cx="89892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不挤占核心交付</a:t>
              </a:r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571500" y="3695700"/>
            <a:ext cx="11049000" cy="2495550"/>
            <a:chOff x="571500" y="3695700"/>
            <a:chExt cx="11049000" cy="2495550"/>
          </a:xfrm>
        </p:grpSpPr>
        <p:sp>
          <p:nvSpPr>
            <p:cNvPr id="81" name="Rectangle 81"/>
            <p:cNvSpPr/>
            <p:nvPr/>
          </p:nvSpPr>
          <p:spPr>
            <a:xfrm>
              <a:off x="571500" y="3695700"/>
              <a:ext cx="11049000" cy="2495550"/>
            </a:xfrm>
            <a:prstGeom prst="roundRect">
              <a:avLst>
                <a:gd name="adj" fmla="val 5344"/>
              </a:avLst>
            </a:prstGeom>
            <a:solidFill>
              <a:srgbClr val="F4F7F6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16819" y="3890443"/>
              <a:ext cx="176105" cy="151297"/>
              <a:chOff x="816819" y="3890443"/>
              <a:chExt cx="176105" cy="151297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904875" y="39457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16819" y="38904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04875" y="4006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70610" y="3899535"/>
              <a:ext cx="291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风险识别与应对 · 想在前面、有备而来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084320" y="3931920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影响等级：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4714875" y="3933825"/>
              <a:ext cx="95250" cy="95250"/>
            </a:xfrm>
            <a:prstGeom prst="ellipse">
              <a:avLst/>
            </a:prstGeom>
            <a:solidFill>
              <a:srgbClr val="E0544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846320" y="3931920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高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5095875" y="3933825"/>
              <a:ext cx="95250" cy="9525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227320" y="3931920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中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5476875" y="3933825"/>
              <a:ext cx="95250" cy="9525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608320" y="393192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低（均已降级）</a:t>
              </a:r>
            </a:p>
          </p:txBody>
        </p:sp>
        <p:grpSp>
          <p:nvGrpSpPr>
            <p:cNvPr id="107" name="Group 107"/>
            <p:cNvGrpSpPr/>
            <p:nvPr/>
          </p:nvGrpSpPr>
          <p:grpSpPr>
            <a:xfrm>
              <a:off x="800100" y="4248150"/>
              <a:ext cx="2495550" cy="1752600"/>
              <a:chOff x="800100" y="4248150"/>
              <a:chExt cx="2495550" cy="1752600"/>
            </a:xfrm>
          </p:grpSpPr>
          <p:sp>
            <p:nvSpPr>
              <p:cNvPr id="94" name="Rectangle 94"/>
              <p:cNvSpPr/>
              <p:nvPr/>
            </p:nvSpPr>
            <p:spPr>
              <a:xfrm>
                <a:off x="800100" y="4248150"/>
                <a:ext cx="2495550" cy="17526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952500" y="4476750"/>
                <a:ext cx="114300" cy="114300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1129189" y="4464129"/>
                <a:ext cx="636699" cy="220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88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数据不足</a:t>
                </a:r>
              </a:p>
            </p:txBody>
          </p:sp>
          <p:sp>
            <p:nvSpPr>
              <p:cNvPr id="97" name="Rectangle 97"/>
              <p:cNvSpPr/>
              <p:nvPr/>
            </p:nvSpPr>
            <p:spPr>
              <a:xfrm>
                <a:off x="2628900" y="4438650"/>
                <a:ext cx="4572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F2811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2673751" y="4492466"/>
                <a:ext cx="36749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影响中</a:t>
                </a:r>
              </a:p>
            </p:txBody>
          </p:sp>
          <p:sp>
            <p:nvSpPr>
              <p:cNvPr id="99" name="Line 99"/>
              <p:cNvSpPr/>
              <p:nvPr/>
            </p:nvSpPr>
            <p:spPr>
              <a:xfrm>
                <a:off x="990600" y="4762500"/>
                <a:ext cx="2114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4550" h="9525">
                    <a:moveTo>
                      <a:pt x="0" y="0"/>
                    </a:moveTo>
                    <a:lnTo>
                      <a:pt x="2114550" y="0"/>
                    </a:lnTo>
                  </a:path>
                </a:pathLst>
              </a:custGeom>
              <a:noFill/>
              <a:ln w="9525">
                <a:solidFill>
                  <a:srgbClr val="E2E8E9"/>
                </a:solidFill>
              </a:ln>
            </p:spPr>
          </p:sp>
          <p:grpSp>
            <p:nvGrpSpPr>
              <p:cNvPr id="102" name="Group 102"/>
              <p:cNvGrpSpPr/>
              <p:nvPr/>
            </p:nvGrpSpPr>
            <p:grpSpPr>
              <a:xfrm>
                <a:off x="973931" y="4917281"/>
                <a:ext cx="128588" cy="128588"/>
                <a:chOff x="973931" y="4917281"/>
                <a:chExt cx="128588" cy="128588"/>
              </a:xfrm>
            </p:grpSpPr>
            <p:sp>
              <p:nvSpPr>
                <p:cNvPr id="100" name="Freeform 100"/>
                <p:cNvSpPr/>
                <p:nvPr/>
              </p:nvSpPr>
              <p:spPr>
                <a:xfrm>
                  <a:off x="973931" y="491728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0" y="64294"/>
                      </a:moveTo>
                      <a:cubicBezTo>
                        <a:pt x="0" y="99802"/>
                        <a:pt x="28785" y="128588"/>
                        <a:pt x="64294" y="128588"/>
                      </a:cubicBezTo>
                      <a:cubicBezTo>
                        <a:pt x="99802" y="128588"/>
                        <a:pt x="128588" y="99802"/>
                        <a:pt x="128588" y="64294"/>
                      </a:cubicBezTo>
                      <a:cubicBezTo>
                        <a:pt x="128588" y="28785"/>
                        <a:pt x="99802" y="0"/>
                        <a:pt x="64294" y="0"/>
                      </a:cubicBezTo>
                      <a:cubicBezTo>
                        <a:pt x="28785" y="0"/>
                        <a:pt x="0" y="28785"/>
                        <a:pt x="0" y="64294"/>
                      </a:cubicBez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101" name="Freeform 101"/>
                <p:cNvSpPr/>
                <p:nvPr/>
              </p:nvSpPr>
              <p:spPr>
                <a:xfrm>
                  <a:off x="1016794" y="4967288"/>
                  <a:ext cx="42862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28575">
                      <a:moveTo>
                        <a:pt x="0" y="14288"/>
                      </a:moveTo>
                      <a:lnTo>
                        <a:pt x="14288" y="28575"/>
                      </a:lnTo>
                      <a:lnTo>
                        <a:pt x="42862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</p:grpSp>
          <p:sp>
            <p:nvSpPr>
              <p:cNvPr id="103" name="TextBox 103"/>
              <p:cNvSpPr txBox="1"/>
              <p:nvPr/>
            </p:nvSpPr>
            <p:spPr>
              <a:xfrm>
                <a:off x="1169194" y="4927997"/>
                <a:ext cx="286345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对策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978694" y="5194697"/>
                <a:ext cx="1023938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公开数据集打底，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978694" y="5404247"/>
                <a:ext cx="1230213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Roboflow 加速标注，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978694" y="5613797"/>
                <a:ext cx="1148953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三源混合凑演示规模</a:t>
                </a: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3448050" y="4248150"/>
              <a:ext cx="2495550" cy="1752600"/>
              <a:chOff x="3448050" y="4248150"/>
              <a:chExt cx="2495550" cy="1752600"/>
            </a:xfrm>
          </p:grpSpPr>
          <p:sp>
            <p:nvSpPr>
              <p:cNvPr id="108" name="Rectangle 108"/>
              <p:cNvSpPr/>
              <p:nvPr/>
            </p:nvSpPr>
            <p:spPr>
              <a:xfrm>
                <a:off x="3448050" y="4248150"/>
                <a:ext cx="2495550" cy="17526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3600450" y="4476750"/>
                <a:ext cx="114300" cy="114300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3777139" y="4464129"/>
                <a:ext cx="636699" cy="220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88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模型不稳</a:t>
                </a:r>
              </a:p>
            </p:txBody>
          </p:sp>
          <p:sp>
            <p:nvSpPr>
              <p:cNvPr id="111" name="Rectangle 111"/>
              <p:cNvSpPr/>
              <p:nvPr/>
            </p:nvSpPr>
            <p:spPr>
              <a:xfrm>
                <a:off x="5276850" y="4438650"/>
                <a:ext cx="4572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F2811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5321701" y="4492466"/>
                <a:ext cx="36749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影响中</a:t>
                </a:r>
              </a:p>
            </p:txBody>
          </p:sp>
          <p:sp>
            <p:nvSpPr>
              <p:cNvPr id="113" name="Line 113"/>
              <p:cNvSpPr/>
              <p:nvPr/>
            </p:nvSpPr>
            <p:spPr>
              <a:xfrm>
                <a:off x="3638550" y="4762500"/>
                <a:ext cx="2114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4550" h="9525">
                    <a:moveTo>
                      <a:pt x="0" y="0"/>
                    </a:moveTo>
                    <a:lnTo>
                      <a:pt x="2114550" y="0"/>
                    </a:lnTo>
                  </a:path>
                </a:pathLst>
              </a:custGeom>
              <a:noFill/>
              <a:ln w="9525">
                <a:solidFill>
                  <a:srgbClr val="E2E8E9"/>
                </a:solidFill>
              </a:ln>
            </p:spPr>
          </p:sp>
          <p:grpSp>
            <p:nvGrpSpPr>
              <p:cNvPr id="116" name="Group 116"/>
              <p:cNvGrpSpPr/>
              <p:nvPr/>
            </p:nvGrpSpPr>
            <p:grpSpPr>
              <a:xfrm>
                <a:off x="3621881" y="4917281"/>
                <a:ext cx="128588" cy="128588"/>
                <a:chOff x="3621881" y="4917281"/>
                <a:chExt cx="128588" cy="128588"/>
              </a:xfrm>
            </p:grpSpPr>
            <p:sp>
              <p:nvSpPr>
                <p:cNvPr id="114" name="Freeform 114"/>
                <p:cNvSpPr/>
                <p:nvPr/>
              </p:nvSpPr>
              <p:spPr>
                <a:xfrm>
                  <a:off x="3621881" y="491728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0" y="64294"/>
                      </a:moveTo>
                      <a:cubicBezTo>
                        <a:pt x="0" y="99802"/>
                        <a:pt x="28785" y="128588"/>
                        <a:pt x="64294" y="128588"/>
                      </a:cubicBezTo>
                      <a:cubicBezTo>
                        <a:pt x="99802" y="128588"/>
                        <a:pt x="128588" y="99802"/>
                        <a:pt x="128588" y="64294"/>
                      </a:cubicBezTo>
                      <a:cubicBezTo>
                        <a:pt x="128588" y="28785"/>
                        <a:pt x="99802" y="0"/>
                        <a:pt x="64294" y="0"/>
                      </a:cubicBezTo>
                      <a:cubicBezTo>
                        <a:pt x="28785" y="0"/>
                        <a:pt x="0" y="28785"/>
                        <a:pt x="0" y="64294"/>
                      </a:cubicBez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115" name="Freeform 115"/>
                <p:cNvSpPr/>
                <p:nvPr/>
              </p:nvSpPr>
              <p:spPr>
                <a:xfrm>
                  <a:off x="3664744" y="4967288"/>
                  <a:ext cx="42862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28575">
                      <a:moveTo>
                        <a:pt x="0" y="14288"/>
                      </a:moveTo>
                      <a:lnTo>
                        <a:pt x="14288" y="28575"/>
                      </a:lnTo>
                      <a:lnTo>
                        <a:pt x="42862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</p:grpSp>
          <p:sp>
            <p:nvSpPr>
              <p:cNvPr id="117" name="TextBox 117"/>
              <p:cNvSpPr txBox="1"/>
              <p:nvPr/>
            </p:nvSpPr>
            <p:spPr>
              <a:xfrm>
                <a:off x="3817144" y="4927997"/>
                <a:ext cx="286345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对策</a:t>
                </a: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3626644" y="5194697"/>
                <a:ext cx="986433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传统 CV 量化分级</a:t>
                </a:r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3626644" y="5404247"/>
                <a:ext cx="1073944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兜底，DL 欠佳也能</a:t>
                </a:r>
              </a:p>
            </p:txBody>
          </p:sp>
          <p:sp>
            <p:nvSpPr>
              <p:cNvPr id="120" name="TextBox 120"/>
              <p:cNvSpPr txBox="1"/>
              <p:nvPr/>
            </p:nvSpPr>
            <p:spPr>
              <a:xfrm>
                <a:off x="3626644" y="5613797"/>
                <a:ext cx="773906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保证系统可用</a:t>
                </a:r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6096000" y="4248150"/>
              <a:ext cx="2495550" cy="1752600"/>
              <a:chOff x="6096000" y="4248150"/>
              <a:chExt cx="2495550" cy="1752600"/>
            </a:xfrm>
          </p:grpSpPr>
          <p:sp>
            <p:nvSpPr>
              <p:cNvPr id="122" name="Rectangle 122"/>
              <p:cNvSpPr/>
              <p:nvPr/>
            </p:nvSpPr>
            <p:spPr>
              <a:xfrm>
                <a:off x="6096000" y="4248150"/>
                <a:ext cx="2495550" cy="17526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6248400" y="4476750"/>
                <a:ext cx="114300" cy="114300"/>
              </a:xfrm>
              <a:prstGeom prst="ellipse">
                <a:avLst/>
              </a:prstGeom>
              <a:solidFill>
                <a:srgbClr val="2E9E5B"/>
              </a:solidFill>
              <a:ln>
                <a:noFill/>
              </a:ln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6425089" y="4464129"/>
                <a:ext cx="476816" cy="220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88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无 GPU</a:t>
                </a:r>
              </a:p>
            </p:txBody>
          </p:sp>
          <p:sp>
            <p:nvSpPr>
              <p:cNvPr id="125" name="Rectangle 125"/>
              <p:cNvSpPr/>
              <p:nvPr/>
            </p:nvSpPr>
            <p:spPr>
              <a:xfrm>
                <a:off x="7924800" y="4438650"/>
                <a:ext cx="4572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2E9E5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969651" y="4492466"/>
                <a:ext cx="36749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1F7A45"/>
                    </a:solidFill>
                    <a:latin typeface="Arial"/>
                    <a:ea typeface="Microsoft YaHei"/>
                    <a:cs typeface="Arial"/>
                  </a:rPr>
                  <a:t>影响低</a:t>
                </a:r>
              </a:p>
            </p:txBody>
          </p:sp>
          <p:sp>
            <p:nvSpPr>
              <p:cNvPr id="127" name="Line 127"/>
              <p:cNvSpPr/>
              <p:nvPr/>
            </p:nvSpPr>
            <p:spPr>
              <a:xfrm>
                <a:off x="6286500" y="4762500"/>
                <a:ext cx="2114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4550" h="9525">
                    <a:moveTo>
                      <a:pt x="0" y="0"/>
                    </a:moveTo>
                    <a:lnTo>
                      <a:pt x="2114550" y="0"/>
                    </a:lnTo>
                  </a:path>
                </a:pathLst>
              </a:custGeom>
              <a:noFill/>
              <a:ln w="9525">
                <a:solidFill>
                  <a:srgbClr val="E2E8E9"/>
                </a:solidFill>
              </a:ln>
            </p:spPr>
          </p:sp>
          <p:grpSp>
            <p:nvGrpSpPr>
              <p:cNvPr id="130" name="Group 130"/>
              <p:cNvGrpSpPr/>
              <p:nvPr/>
            </p:nvGrpSpPr>
            <p:grpSpPr>
              <a:xfrm>
                <a:off x="6269831" y="4917281"/>
                <a:ext cx="128588" cy="128588"/>
                <a:chOff x="6269831" y="4917281"/>
                <a:chExt cx="128588" cy="128588"/>
              </a:xfrm>
            </p:grpSpPr>
            <p:sp>
              <p:nvSpPr>
                <p:cNvPr id="128" name="Freeform 128"/>
                <p:cNvSpPr/>
                <p:nvPr/>
              </p:nvSpPr>
              <p:spPr>
                <a:xfrm>
                  <a:off x="6269831" y="491728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0" y="64294"/>
                      </a:moveTo>
                      <a:cubicBezTo>
                        <a:pt x="0" y="99802"/>
                        <a:pt x="28785" y="128588"/>
                        <a:pt x="64294" y="128588"/>
                      </a:cubicBezTo>
                      <a:cubicBezTo>
                        <a:pt x="99802" y="128588"/>
                        <a:pt x="128588" y="99802"/>
                        <a:pt x="128588" y="64294"/>
                      </a:cubicBezTo>
                      <a:cubicBezTo>
                        <a:pt x="128588" y="28785"/>
                        <a:pt x="99802" y="0"/>
                        <a:pt x="64294" y="0"/>
                      </a:cubicBezTo>
                      <a:cubicBezTo>
                        <a:pt x="28785" y="0"/>
                        <a:pt x="0" y="28785"/>
                        <a:pt x="0" y="64294"/>
                      </a:cubicBez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129" name="Freeform 129"/>
                <p:cNvSpPr/>
                <p:nvPr/>
              </p:nvSpPr>
              <p:spPr>
                <a:xfrm>
                  <a:off x="6312694" y="4967288"/>
                  <a:ext cx="42862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28575">
                      <a:moveTo>
                        <a:pt x="0" y="14288"/>
                      </a:moveTo>
                      <a:lnTo>
                        <a:pt x="14288" y="28575"/>
                      </a:lnTo>
                      <a:lnTo>
                        <a:pt x="42862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</p:grpSp>
          <p:sp>
            <p:nvSpPr>
              <p:cNvPr id="131" name="TextBox 131"/>
              <p:cNvSpPr txBox="1"/>
              <p:nvPr/>
            </p:nvSpPr>
            <p:spPr>
              <a:xfrm>
                <a:off x="6465094" y="4927997"/>
                <a:ext cx="286345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对策</a:t>
                </a:r>
              </a:p>
            </p:txBody>
          </p:sp>
          <p:sp>
            <p:nvSpPr>
              <p:cNvPr id="132" name="TextBox 132"/>
              <p:cNvSpPr txBox="1"/>
              <p:nvPr/>
            </p:nvSpPr>
            <p:spPr>
              <a:xfrm>
                <a:off x="6274594" y="5194697"/>
                <a:ext cx="1186458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免费云 GPU（Colab /</a:t>
                </a: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6274594" y="5404247"/>
                <a:ext cx="1048941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AI Studio），轻量</a:t>
                </a: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6274594" y="5613797"/>
                <a:ext cx="1255216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模型 YOLOv8n 可推理</a:t>
                </a:r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8743950" y="4248150"/>
              <a:ext cx="2495550" cy="1752600"/>
              <a:chOff x="8743950" y="4248150"/>
              <a:chExt cx="2495550" cy="1752600"/>
            </a:xfrm>
          </p:grpSpPr>
          <p:sp>
            <p:nvSpPr>
              <p:cNvPr id="136" name="Rectangle 136"/>
              <p:cNvSpPr/>
              <p:nvPr/>
            </p:nvSpPr>
            <p:spPr>
              <a:xfrm>
                <a:off x="8743950" y="4248150"/>
                <a:ext cx="2495550" cy="17526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7" name="Ellipse 137"/>
              <p:cNvSpPr/>
              <p:nvPr/>
            </p:nvSpPr>
            <p:spPr>
              <a:xfrm>
                <a:off x="8896350" y="4476750"/>
                <a:ext cx="114300" cy="114300"/>
              </a:xfrm>
              <a:prstGeom prst="ellipse">
                <a:avLst/>
              </a:prstGeom>
              <a:solidFill>
                <a:srgbClr val="2E9E5B"/>
              </a:solidFill>
              <a:ln>
                <a:noFill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9073039" y="4464129"/>
                <a:ext cx="636699" cy="220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88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现场故障</a:t>
                </a:r>
              </a:p>
            </p:txBody>
          </p:sp>
          <p:sp>
            <p:nvSpPr>
              <p:cNvPr id="139" name="Rectangle 139"/>
              <p:cNvSpPr/>
              <p:nvPr/>
            </p:nvSpPr>
            <p:spPr>
              <a:xfrm>
                <a:off x="10572750" y="4438650"/>
                <a:ext cx="4572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2E9E5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10617601" y="4492466"/>
                <a:ext cx="36749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1F7A45"/>
                    </a:solidFill>
                    <a:latin typeface="Arial"/>
                    <a:ea typeface="Microsoft YaHei"/>
                    <a:cs typeface="Arial"/>
                  </a:rPr>
                  <a:t>影响低</a:t>
                </a:r>
              </a:p>
            </p:txBody>
          </p:sp>
          <p:sp>
            <p:nvSpPr>
              <p:cNvPr id="141" name="Line 141"/>
              <p:cNvSpPr/>
              <p:nvPr/>
            </p:nvSpPr>
            <p:spPr>
              <a:xfrm>
                <a:off x="8934450" y="4762500"/>
                <a:ext cx="2114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4550" h="9525">
                    <a:moveTo>
                      <a:pt x="0" y="0"/>
                    </a:moveTo>
                    <a:lnTo>
                      <a:pt x="2114550" y="0"/>
                    </a:lnTo>
                  </a:path>
                </a:pathLst>
              </a:custGeom>
              <a:noFill/>
              <a:ln w="9525">
                <a:solidFill>
                  <a:srgbClr val="E2E8E9"/>
                </a:solidFill>
              </a:ln>
            </p:spPr>
          </p:sp>
          <p:grpSp>
            <p:nvGrpSpPr>
              <p:cNvPr id="144" name="Group 144"/>
              <p:cNvGrpSpPr/>
              <p:nvPr/>
            </p:nvGrpSpPr>
            <p:grpSpPr>
              <a:xfrm>
                <a:off x="8917781" y="4917281"/>
                <a:ext cx="128588" cy="128588"/>
                <a:chOff x="8917781" y="4917281"/>
                <a:chExt cx="128588" cy="128588"/>
              </a:xfrm>
            </p:grpSpPr>
            <p:sp>
              <p:nvSpPr>
                <p:cNvPr id="142" name="Freeform 142"/>
                <p:cNvSpPr/>
                <p:nvPr/>
              </p:nvSpPr>
              <p:spPr>
                <a:xfrm>
                  <a:off x="8917781" y="491728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0" y="64294"/>
                      </a:moveTo>
                      <a:cubicBezTo>
                        <a:pt x="0" y="99802"/>
                        <a:pt x="28785" y="128588"/>
                        <a:pt x="64294" y="128588"/>
                      </a:cubicBezTo>
                      <a:cubicBezTo>
                        <a:pt x="99802" y="128588"/>
                        <a:pt x="128588" y="99802"/>
                        <a:pt x="128588" y="64294"/>
                      </a:cubicBezTo>
                      <a:cubicBezTo>
                        <a:pt x="128588" y="28785"/>
                        <a:pt x="99802" y="0"/>
                        <a:pt x="64294" y="0"/>
                      </a:cubicBezTo>
                      <a:cubicBezTo>
                        <a:pt x="28785" y="0"/>
                        <a:pt x="0" y="28785"/>
                        <a:pt x="0" y="64294"/>
                      </a:cubicBez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143" name="Freeform 143"/>
                <p:cNvSpPr/>
                <p:nvPr/>
              </p:nvSpPr>
              <p:spPr>
                <a:xfrm>
                  <a:off x="8960644" y="4967288"/>
                  <a:ext cx="42862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28575">
                      <a:moveTo>
                        <a:pt x="0" y="14288"/>
                      </a:moveTo>
                      <a:lnTo>
                        <a:pt x="14288" y="28575"/>
                      </a:lnTo>
                      <a:lnTo>
                        <a:pt x="42862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</p:grpSp>
          <p:sp>
            <p:nvSpPr>
              <p:cNvPr id="145" name="TextBox 145"/>
              <p:cNvSpPr txBox="1"/>
              <p:nvPr/>
            </p:nvSpPr>
            <p:spPr>
              <a:xfrm>
                <a:off x="9113044" y="4927997"/>
                <a:ext cx="286345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对策</a:t>
                </a:r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8922544" y="5194697"/>
                <a:ext cx="1148953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预录演示视频，现场</a:t>
                </a:r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8922544" y="5404247"/>
                <a:ext cx="1167705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实拍 + 录播双保险，</a:t>
                </a: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8922544" y="5613797"/>
                <a:ext cx="773906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确保万无一失</a:t>
                </a:r>
              </a:p>
            </p:txBody>
          </p:sp>
        </p:grpSp>
      </p:grpSp>
      <p:grpSp>
        <p:nvGrpSpPr>
          <p:cNvPr id="153" name="Group 15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151" name="TextBox 151"/>
            <p:cNvSpPr txBox="1"/>
            <p:nvPr/>
          </p:nvSpPr>
          <p:spPr>
            <a:xfrm>
              <a:off x="560070" y="64750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1267027" y="647509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5" grpId="0"/>
      <p:bldP spid="44" grpId="0"/>
      <p:bldP spid="66" grpId="0"/>
      <p:bldP spid="80" grpId="0"/>
      <p:bldP spid="15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9100"/>
            <a:ext cx="5343524" cy="716756"/>
            <a:chOff x="571500" y="419100"/>
            <a:chExt cx="5343524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70535"/>
              <a:ext cx="39624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预期成果 · 总结 · 答疑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07256"/>
              <a:ext cx="5129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以规范的软件工程过程，交付一个完整、可演示、可追溯的柑橘品质分级系统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90550" y="1436846"/>
            <a:ext cx="2857500" cy="2963704"/>
            <a:chOff x="590550" y="1436846"/>
            <a:chExt cx="2857500" cy="2963704"/>
          </a:xfrm>
        </p:grpSpPr>
        <p:grpSp>
          <p:nvGrpSpPr>
            <p:cNvPr id="12" name="Group 12"/>
            <p:cNvGrpSpPr/>
            <p:nvPr/>
          </p:nvGrpSpPr>
          <p:grpSpPr>
            <a:xfrm>
              <a:off x="609600" y="1438275"/>
              <a:ext cx="152400" cy="171450"/>
              <a:chOff x="609600" y="1438275"/>
              <a:chExt cx="152400" cy="1714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09600" y="1438275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76200" y="0"/>
                    </a:moveTo>
                    <a:lnTo>
                      <a:pt x="152400" y="42862"/>
                    </a:lnTo>
                    <a:lnTo>
                      <a:pt x="152400" y="128588"/>
                    </a:lnTo>
                    <a:lnTo>
                      <a:pt x="76200" y="171450"/>
                    </a:lnTo>
                    <a:lnTo>
                      <a:pt x="0" y="128588"/>
                    </a:lnTo>
                    <a:lnTo>
                      <a:pt x="0" y="42862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85800" y="1481138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0" y="42862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85800" y="152400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09600" y="1481138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428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47700" y="1459706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858202" y="1436846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交付物清单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14362" y="1928812"/>
              <a:ext cx="142875" cy="142875"/>
              <a:chOff x="614362" y="1928812"/>
              <a:chExt cx="142875" cy="1428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14362" y="19288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61988" y="198437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62012" y="1926431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课程设计报告（含任务书）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14362" y="2290762"/>
              <a:ext cx="142875" cy="142875"/>
              <a:chOff x="614362" y="2290762"/>
              <a:chExt cx="142875" cy="1428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14362" y="22907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61988" y="23463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62012" y="2288381"/>
              <a:ext cx="13337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演示视频（</a:t>
              </a:r>
              <a:r>
                <a:rPr lang="zh-CN" sz="112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≤ 50M</a:t>
              </a:r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614362" y="2652712"/>
              <a:ext cx="142875" cy="142875"/>
              <a:chOff x="614362" y="2652712"/>
              <a:chExt cx="142875" cy="1428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14362" y="26527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61988" y="270827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862012" y="265033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源码包（含注释）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14362" y="3014662"/>
              <a:ext cx="142875" cy="142875"/>
              <a:chOff x="614362" y="3014662"/>
              <a:chExt cx="142875" cy="14287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14362" y="30146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1988" y="30702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62012" y="3012281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源代码文档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614362" y="3376612"/>
              <a:ext cx="142875" cy="142875"/>
              <a:chOff x="614362" y="3376612"/>
              <a:chExt cx="142875" cy="1428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14362" y="33766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1988" y="343217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62012" y="3374231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数据库脚本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614362" y="3738562"/>
              <a:ext cx="142875" cy="142875"/>
              <a:chOff x="614362" y="3738562"/>
              <a:chExt cx="142875" cy="14287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14362" y="37385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1988" y="37941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62012" y="3736181"/>
              <a:ext cx="170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测试材料（用例 / 报告）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90550" y="4114800"/>
              <a:ext cx="2857500" cy="285750"/>
            </a:xfrm>
            <a:prstGeom prst="roundRect">
              <a:avLst>
                <a:gd name="adj" fmla="val 50000"/>
              </a:avLst>
            </a:prstGeom>
            <a:solidFill>
              <a:srgbClr val="F2811D">
                <a:alpha val="10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6600" y="4200525"/>
              <a:ext cx="88900" cy="114300"/>
              <a:chOff x="736600" y="4200525"/>
              <a:chExt cx="88900" cy="1143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93750" y="42005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0"/>
                    </a:moveTo>
                    <a:lnTo>
                      <a:pt x="0" y="25400"/>
                    </a:lnTo>
                    <a:cubicBezTo>
                      <a:pt x="0" y="28907"/>
                      <a:pt x="2843" y="31750"/>
                      <a:pt x="6350" y="31750"/>
                    </a:cubicBezTo>
                    <a:lnTo>
                      <a:pt x="31750" y="31750"/>
                    </a:ln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36600" y="4200525"/>
                <a:ext cx="889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14300">
                    <a:moveTo>
                      <a:pt x="76200" y="114300"/>
                    </a:moveTo>
                    <a:lnTo>
                      <a:pt x="12700" y="114300"/>
                    </a:lnTo>
                    <a:cubicBezTo>
                      <a:pt x="5686" y="114300"/>
                      <a:pt x="0" y="108614"/>
                      <a:pt x="0" y="1016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lnTo>
                      <a:pt x="57150" y="0"/>
                    </a:lnTo>
                    <a:lnTo>
                      <a:pt x="88900" y="31750"/>
                    </a:lnTo>
                    <a:lnTo>
                      <a:pt x="88900" y="101600"/>
                    </a:lnTo>
                    <a:cubicBezTo>
                      <a:pt x="88900" y="108614"/>
                      <a:pt x="83214" y="114300"/>
                      <a:pt x="76200" y="114300"/>
                    </a:cubicBez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62000" y="4238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6350" y="0"/>
                    </a:ln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62000" y="426402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62000" y="428942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02494" y="4204097"/>
              <a:ext cx="178278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命名规范：第12组-《题目名》</a:t>
              </a:r>
            </a:p>
          </p:txBody>
        </p:sp>
      </p:grpSp>
      <p:sp>
        <p:nvSpPr>
          <p:cNvPr id="47" name="Line 47"/>
          <p:cNvSpPr/>
          <p:nvPr/>
        </p:nvSpPr>
        <p:spPr>
          <a:xfrm>
            <a:off x="6096000" y="142875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/>
          <a:ln w="9525">
            <a:solidFill>
              <a:srgbClr val="E2E8E9"/>
            </a:solidFill>
          </a:ln>
        </p:spPr>
      </p:sp>
      <p:grpSp>
        <p:nvGrpSpPr>
          <p:cNvPr id="64" name="Group 64"/>
          <p:cNvGrpSpPr/>
          <p:nvPr/>
        </p:nvGrpSpPr>
        <p:grpSpPr>
          <a:xfrm>
            <a:off x="6387941" y="1454944"/>
            <a:ext cx="2827318" cy="1651397"/>
            <a:chOff x="6387941" y="1454944"/>
            <a:chExt cx="2827318" cy="1651397"/>
          </a:xfrm>
        </p:grpSpPr>
        <p:grpSp>
          <p:nvGrpSpPr>
            <p:cNvPr id="53" name="Group 53"/>
            <p:cNvGrpSpPr/>
            <p:nvPr/>
          </p:nvGrpSpPr>
          <p:grpSpPr>
            <a:xfrm>
              <a:off x="6444456" y="1454944"/>
              <a:ext cx="122238" cy="157162"/>
              <a:chOff x="6444456" y="1454944"/>
              <a:chExt cx="122238" cy="15716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523038" y="1454944"/>
                <a:ext cx="43656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43656" h="43656">
                    <a:moveTo>
                      <a:pt x="0" y="0"/>
                    </a:moveTo>
                    <a:lnTo>
                      <a:pt x="0" y="34925"/>
                    </a:lnTo>
                    <a:cubicBezTo>
                      <a:pt x="0" y="39747"/>
                      <a:pt x="3909" y="43656"/>
                      <a:pt x="8731" y="43656"/>
                    </a:cubicBezTo>
                    <a:lnTo>
                      <a:pt x="43656" y="43656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444456" y="1454944"/>
                <a:ext cx="122237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57162">
                    <a:moveTo>
                      <a:pt x="104775" y="157162"/>
                    </a:moveTo>
                    <a:lnTo>
                      <a:pt x="17462" y="157162"/>
                    </a:lnTo>
                    <a:cubicBezTo>
                      <a:pt x="7818" y="157162"/>
                      <a:pt x="0" y="149344"/>
                      <a:pt x="0" y="139700"/>
                    </a:cubicBezTo>
                    <a:lnTo>
                      <a:pt x="0" y="17463"/>
                    </a:lnTo>
                    <a:cubicBezTo>
                      <a:pt x="0" y="7818"/>
                      <a:pt x="7818" y="0"/>
                      <a:pt x="17462" y="0"/>
                    </a:cubicBezTo>
                    <a:lnTo>
                      <a:pt x="78581" y="0"/>
                    </a:lnTo>
                    <a:lnTo>
                      <a:pt x="122237" y="43656"/>
                    </a:lnTo>
                    <a:lnTo>
                      <a:pt x="122237" y="139700"/>
                    </a:lnTo>
                    <a:cubicBezTo>
                      <a:pt x="122237" y="149344"/>
                      <a:pt x="114419" y="157162"/>
                      <a:pt x="104775" y="157162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479381" y="15073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31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79381" y="1542256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479381" y="1577181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671310" y="14706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文档成果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87941" y="1757601"/>
              <a:ext cx="282731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用例图 · DFD · 数据字典 · 软件结构图 · E-R 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87941" y="1967151"/>
              <a:ext cx="280706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 xml:space="preserve">类图 · 时序 · 活动 · 状态图 —— </a:t>
              </a:r>
              <a:r>
                <a:rPr lang="zh-CN" sz="101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九类 UML 齐备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6426994" y="2414588"/>
              <a:ext cx="157163" cy="130968"/>
              <a:chOff x="6426994" y="2414588"/>
              <a:chExt cx="157163" cy="130968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88112" y="2449512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426994" y="2414588"/>
                <a:ext cx="157162" cy="10440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400">
                    <a:moveTo>
                      <a:pt x="70741" y="104400"/>
                    </a:moveTo>
                    <a:cubicBezTo>
                      <a:pt x="42766" y="101719"/>
                      <a:pt x="19191" y="84370"/>
                      <a:pt x="0" y="52388"/>
                    </a:cubicBezTo>
                    <a:cubicBezTo>
                      <a:pt x="20955" y="17463"/>
                      <a:pt x="47149" y="0"/>
                      <a:pt x="78581" y="0"/>
                    </a:cubicBezTo>
                    <a:cubicBezTo>
                      <a:pt x="110014" y="0"/>
                      <a:pt x="136207" y="17463"/>
                      <a:pt x="157162" y="52388"/>
                    </a:cubicBezTo>
                    <a:cubicBezTo>
                      <a:pt x="155328" y="55451"/>
                      <a:pt x="153397" y="58456"/>
                      <a:pt x="151374" y="61398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31769" y="2510631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671310" y="24041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系统成果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87941" y="2691051"/>
              <a:ext cx="184169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可运行的</a:t>
              </a:r>
              <a:r>
                <a:rPr lang="zh-CN" sz="101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四层 Web 系统</a:t>
              </a:r>
              <a:r>
                <a:rPr lang="zh-CN" sz="101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，完成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87941" y="2900601"/>
              <a:ext cx="253703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「上传 → 分级 → 缺陷 → 溯源 → 报表」闭环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400800" y="3276600"/>
            <a:ext cx="5219700" cy="1181100"/>
            <a:chOff x="6400800" y="3276600"/>
            <a:chExt cx="5219700" cy="1181100"/>
          </a:xfrm>
        </p:grpSpPr>
        <p:sp>
          <p:nvSpPr>
            <p:cNvPr id="65" name="Rectangle 65"/>
            <p:cNvSpPr/>
            <p:nvPr/>
          </p:nvSpPr>
          <p:spPr>
            <a:xfrm>
              <a:off x="6400800" y="3276600"/>
              <a:ext cx="5219700" cy="1181100"/>
            </a:xfrm>
            <a:prstGeom prst="roundRect">
              <a:avLst>
                <a:gd name="adj" fmla="val 9677"/>
              </a:avLst>
            </a:prstGeom>
            <a:solidFill>
              <a:srgbClr val="0E7C66">
                <a:alpha val="7000"/>
              </a:srgbClr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00800" y="3276600"/>
              <a:ext cx="57150" cy="118110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636544" y="3474244"/>
              <a:ext cx="157162" cy="157162"/>
              <a:chOff x="6636544" y="3474244"/>
              <a:chExt cx="157162" cy="157162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706394" y="3544094"/>
                <a:ext cx="17462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671469" y="3509169"/>
                <a:ext cx="87313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87312">
                    <a:moveTo>
                      <a:pt x="0" y="43656"/>
                    </a:moveTo>
                    <a:cubicBezTo>
                      <a:pt x="0" y="67767"/>
                      <a:pt x="19546" y="87312"/>
                      <a:pt x="43656" y="87312"/>
                    </a:cubicBezTo>
                    <a:cubicBezTo>
                      <a:pt x="67767" y="87312"/>
                      <a:pt x="87313" y="67767"/>
                      <a:pt x="87313" y="43656"/>
                    </a:cubicBezTo>
                    <a:cubicBezTo>
                      <a:pt x="87313" y="19546"/>
                      <a:pt x="67767" y="0"/>
                      <a:pt x="43656" y="0"/>
                    </a:cubicBezTo>
                    <a:cubicBezTo>
                      <a:pt x="19546" y="0"/>
                      <a:pt x="0" y="19546"/>
                      <a:pt x="0" y="43656"/>
                    </a:cubicBez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636544" y="347424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880860" y="34899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核心策略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97015" y="3810952"/>
              <a:ext cx="33170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文档与系统完整性</a:t>
              </a:r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吃满</a:t>
              </a:r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（分析 24 + 设计 24 = </a:t>
              </a:r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48 分</a:t>
              </a:r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97015" y="407765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 xml:space="preserve">算法做到 </a:t>
              </a:r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能演示、有兜底</a:t>
              </a:r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，不追求 SOTA、稳交付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71500" y="4762500"/>
            <a:ext cx="11049000" cy="1524000"/>
            <a:chOff x="571500" y="4762500"/>
            <a:chExt cx="11049000" cy="1524000"/>
          </a:xfrm>
        </p:grpSpPr>
        <p:sp>
          <p:nvSpPr>
            <p:cNvPr id="75" name="Rectangle 75"/>
            <p:cNvSpPr/>
            <p:nvPr/>
          </p:nvSpPr>
          <p:spPr>
            <a:xfrm>
              <a:off x="571500" y="4762500"/>
              <a:ext cx="11049000" cy="1524000"/>
            </a:xfrm>
            <a:prstGeom prst="roundRect">
              <a:avLst>
                <a:gd name="adj" fmla="val 11250"/>
              </a:avLst>
            </a:prstGeom>
            <a:gradFill>
              <a:gsLst>
                <a:gs pos="0">
                  <a:srgbClr val="0E7C66"/>
                </a:gs>
                <a:gs pos="100000">
                  <a:srgbClr val="0A5A4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71500" y="4762500"/>
              <a:ext cx="11049000" cy="1524000"/>
            </a:xfrm>
            <a:prstGeom prst="roundRect">
              <a:avLst>
                <a:gd name="adj" fmla="val 11250"/>
              </a:avLst>
            </a:prstGeom>
            <a:gradFill>
              <a:gsLst>
                <a:gs pos="0">
                  <a:srgbClr val="F2811D">
                    <a:alpha val="22000"/>
                  </a:srgbClr>
                </a:gs>
                <a:gs pos="100000">
                  <a:srgbClr val="F2811D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1063369" y="5368925"/>
              <a:ext cx="292356" cy="310356"/>
              <a:chOff x="1063369" y="5368925"/>
              <a:chExt cx="292356" cy="31035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1081881" y="5496719"/>
                <a:ext cx="127794" cy="182562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82562">
                    <a:moveTo>
                      <a:pt x="0" y="182562"/>
                    </a:moveTo>
                    <a:cubicBezTo>
                      <a:pt x="9128" y="100409"/>
                      <a:pt x="45641" y="36512"/>
                      <a:pt x="127794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1063369" y="5368925"/>
                <a:ext cx="292356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292356" h="255588">
                    <a:moveTo>
                      <a:pt x="91537" y="255588"/>
                    </a:moveTo>
                    <a:cubicBezTo>
                      <a:pt x="205054" y="255588"/>
                      <a:pt x="283227" y="195561"/>
                      <a:pt x="292356" y="36513"/>
                    </a:cubicBezTo>
                    <a:lnTo>
                      <a:pt x="292356" y="0"/>
                    </a:lnTo>
                    <a:lnTo>
                      <a:pt x="219075" y="0"/>
                    </a:lnTo>
                    <a:cubicBezTo>
                      <a:pt x="54769" y="0"/>
                      <a:pt x="256" y="73025"/>
                      <a:pt x="0" y="164306"/>
                    </a:cubicBezTo>
                    <a:cubicBezTo>
                      <a:pt x="0" y="182563"/>
                      <a:pt x="0" y="219075"/>
                      <a:pt x="36513" y="255588"/>
                    </a:cubicBezTo>
                    <a:lnTo>
                      <a:pt x="91281" y="255588"/>
                    </a:lnTo>
                    <a:lnTo>
                      <a:pt x="91537" y="25558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581150" y="5162550"/>
              <a:ext cx="17564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谢谢聆听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622108" y="57297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欢迎老师与同学提问 · Q&amp;A</a:t>
              </a:r>
            </a:p>
          </p:txBody>
        </p:sp>
        <p:sp>
          <p:nvSpPr>
            <p:cNvPr id="82" name="Line 82"/>
            <p:cNvSpPr/>
            <p:nvPr/>
          </p:nvSpPr>
          <p:spPr>
            <a:xfrm>
              <a:off x="6096000" y="5105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57010" y="5185410"/>
              <a:ext cx="2357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CitrusVision · 第12组 · 题目10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559391" y="5491401"/>
              <a:ext cx="211172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FFFFFF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陈绍杰 · 黄权达 · 张嘉豪 · 黄浩然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559391" y="5720001"/>
              <a:ext cx="156491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FFFFFF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23本科计科1班 · 2026-06</a:t>
              </a:r>
            </a:p>
          </p:txBody>
        </p:sp>
        <p:grpSp>
          <p:nvGrpSpPr>
            <p:cNvPr id="89" name="Group 89"/>
            <p:cNvGrpSpPr/>
            <p:nvPr/>
          </p:nvGrpSpPr>
          <p:grpSpPr>
            <a:xfrm>
              <a:off x="10906125" y="5124450"/>
              <a:ext cx="285750" cy="238125"/>
              <a:chOff x="10906125" y="5124450"/>
              <a:chExt cx="285750" cy="238125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11017250" y="51879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10906125" y="5124450"/>
                <a:ext cx="285750" cy="189817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89817">
                    <a:moveTo>
                      <a:pt x="128619" y="189817"/>
                    </a:moveTo>
                    <a:cubicBezTo>
                      <a:pt x="77756" y="184944"/>
                      <a:pt x="34893" y="153400"/>
                      <a:pt x="0" y="95250"/>
                    </a:cubicBezTo>
                    <a:cubicBezTo>
                      <a:pt x="38100" y="31750"/>
                      <a:pt x="85725" y="0"/>
                      <a:pt x="142875" y="0"/>
                    </a:cubicBezTo>
                    <a:cubicBezTo>
                      <a:pt x="200025" y="0"/>
                      <a:pt x="247650" y="31750"/>
                      <a:pt x="285750" y="95250"/>
                    </a:cubicBezTo>
                    <a:cubicBezTo>
                      <a:pt x="282414" y="100820"/>
                      <a:pt x="278904" y="106284"/>
                      <a:pt x="275225" y="11163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11096625" y="529907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</p:grpSp>
      <p:grpSp>
        <p:nvGrpSpPr>
          <p:cNvPr id="93" name="Group 93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91" name="TextBox 91"/>
            <p:cNvSpPr txBox="1"/>
            <p:nvPr/>
          </p:nvSpPr>
          <p:spPr>
            <a:xfrm>
              <a:off x="560070" y="65703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267027" y="65703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64" grpId="0"/>
      <p:bldP spid="74" grpId="0"/>
      <p:bldP spid="9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